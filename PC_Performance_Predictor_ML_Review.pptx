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3.xml" ContentType="application/vnd.openxmlformats-officedocument.drawingml.chart+xml"/>
  <Override PartName="/ppt/notesSlides/notesSlide21.xml" ContentType="application/vnd.openxmlformats-officedocument.presentationml.notesSlide+xml"/>
  <Override PartName="/ppt/charts/chart4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6BAAE11-44A2-BBC2-370B-4C2AD4852016}">
          <p14:sldIdLst>
            <p14:sldId id="256"/>
          </p14:sldIdLst>
        </p14:section>
        <p14:section name="Problem &amp; Approach" id="{C2337C31-D78F-BE20-B52C-F80D42637596}">
          <p14:sldIdLst>
            <p14:sldId id="257"/>
            <p14:sldId id="258"/>
            <p14:sldId id="259"/>
          </p14:sldIdLst>
        </p14:section>
        <p14:section name="Data &amp; Preprocessing" id="{053D0E70-CF82-3E9C-104A-28EAD05D672D}">
          <p14:sldIdLst>
            <p14:sldId id="260"/>
            <p14:sldId id="261"/>
            <p14:sldId id="262"/>
            <p14:sldId id="263"/>
            <p14:sldId id="264"/>
          </p14:sldIdLst>
        </p14:section>
        <p14:section name="Modelling" id="{7E71879D-5325-C4FA-9091-489B7E2F2E7C}">
          <p14:sldIdLst>
            <p14:sldId id="265"/>
            <p14:sldId id="266"/>
          </p14:sldIdLst>
        </p14:section>
        <p14:section name="Exploration" id="{B521C21B-EBE3-23B8-AF5F-0A20CF2105FD}">
          <p14:sldIdLst>
            <p14:sldId id="267"/>
            <p14:sldId id="268"/>
            <p14:sldId id="269"/>
          </p14:sldIdLst>
        </p14:section>
        <p14:section name="Training &amp; Results" id="{0D4F11EB-4A17-408B-D4F7-51FCB65E318B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Application" id="{52BBADB3-2995-8EB8-F8E7-28719091EEE7}">
          <p14:sldIdLst>
            <p14:sldId id="277"/>
            <p14:sldId id="278"/>
            <p14:sldId id="279"/>
          </p14:sldIdLst>
        </p14:section>
        <p14:section name="Wrap-up" id="{E58874A8-4868-7422-654A-A51CCB03FF61}">
          <p14:sldIdLst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2626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262626"/>
                </a:solidFill>
                <a:latin typeface="+mn-lt"/>
              </a:rPr>
              <a:t>Learned weights (points per +1 std)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67B-45F8-97CF-6029235F989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67B-45F8-97CF-6029235F989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67B-45F8-97CF-6029235F989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67B-45F8-97CF-6029235F989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67B-45F8-97CF-6029235F989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E67B-45F8-97CF-6029235F9891}"/>
              </c:ext>
            </c:extLst>
          </c:dPt>
          <c:dPt>
            <c:idx val="6"/>
            <c:invertIfNegative val="0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67B-45F8-97CF-6029235F9891}"/>
              </c:ext>
            </c:extLst>
          </c:dPt>
          <c:dPt>
            <c:idx val="7"/>
            <c:invertIfNegative val="0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67B-45F8-97CF-6029235F9891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6262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RAM_GB</c:v>
                </c:pt>
                <c:pt idx="1">
                  <c:v>CPU_Cores</c:v>
                </c:pt>
                <c:pt idx="2">
                  <c:v>GPU_Level</c:v>
                </c:pt>
                <c:pt idx="3">
                  <c:v>Clock_GHz</c:v>
                </c:pt>
                <c:pt idx="4">
                  <c:v>Storage_GB</c:v>
                </c:pt>
                <c:pt idx="5">
                  <c:v>OS (Windows)</c:v>
                </c:pt>
                <c:pt idx="6">
                  <c:v>Temperature_C</c:v>
                </c:pt>
                <c:pt idx="7">
                  <c:v>Age_Years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93.11</c:v>
                </c:pt>
                <c:pt idx="1">
                  <c:v>79.16</c:v>
                </c:pt>
                <c:pt idx="2">
                  <c:v>65.19</c:v>
                </c:pt>
                <c:pt idx="3">
                  <c:v>48.52</c:v>
                </c:pt>
                <c:pt idx="4">
                  <c:v>19.32</c:v>
                </c:pt>
                <c:pt idx="5">
                  <c:v>2.78</c:v>
                </c:pt>
                <c:pt idx="6">
                  <c:v>-20.03</c:v>
                </c:pt>
                <c:pt idx="7">
                  <c:v>-42.16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E67B-45F8-97CF-6029235F98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-60"/>
        </c:scaling>
        <c:delete val="0"/>
        <c:axPos val="t"/>
        <c:majorGridlines>
          <c:spPr>
            <a:ln w="635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2626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262626"/>
                </a:solidFill>
                <a:latin typeface="+mn-lt"/>
              </a:rPr>
              <a:t>5-fold CV RMSE (lower is better); cut-off 50.33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RMSE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6262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SVR</c:v>
                </c:pt>
                <c:pt idx="1">
                  <c:v>Linear Reg.</c:v>
                </c:pt>
                <c:pt idx="2">
                  <c:v>Ridge</c:v>
                </c:pt>
                <c:pt idx="3">
                  <c:v>Grad. Boost</c:v>
                </c:pt>
                <c:pt idx="4">
                  <c:v>Bagging</c:v>
                </c:pt>
                <c:pt idx="5">
                  <c:v>Rand. Forest</c:v>
                </c:pt>
                <c:pt idx="6">
                  <c:v>AdaBoost</c:v>
                </c:pt>
                <c:pt idx="7">
                  <c:v>KNN</c:v>
                </c:pt>
                <c:pt idx="8">
                  <c:v>Dec. 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47.32</c:v>
                </c:pt>
                <c:pt idx="1">
                  <c:v>47.88</c:v>
                </c:pt>
                <c:pt idx="2">
                  <c:v>47.88</c:v>
                </c:pt>
                <c:pt idx="3">
                  <c:v>55.67</c:v>
                </c:pt>
                <c:pt idx="4">
                  <c:v>69.12</c:v>
                </c:pt>
                <c:pt idx="5">
                  <c:v>69.22</c:v>
                </c:pt>
                <c:pt idx="6">
                  <c:v>76.08</c:v>
                </c:pt>
                <c:pt idx="7">
                  <c:v>82.71</c:v>
                </c:pt>
                <c:pt idx="8">
                  <c:v>98.43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E5-4909-A338-D0B82B0975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t"/>
        <c:majorGridlines>
          <c:spPr>
            <a:ln w="635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2626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262626"/>
                </a:solidFill>
                <a:latin typeface="+mn-lt"/>
              </a:rPr>
              <a:t>Train vs test R²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R²</c:v>
                </c:pt>
              </c:strCache>
            </c:strRef>
          </c:tx>
          <c:spPr>
            <a:solidFill>
              <a:srgbClr val="1F3A93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SVR</c:v>
                </c:pt>
                <c:pt idx="1">
                  <c:v>Linear</c:v>
                </c:pt>
                <c:pt idx="2">
                  <c:v>Ridge</c:v>
                </c:pt>
                <c:pt idx="3">
                  <c:v>Grad. Boost</c:v>
                </c:pt>
                <c:pt idx="4">
                  <c:v>Bagging</c:v>
                </c:pt>
                <c:pt idx="5">
                  <c:v>Rand. Forest</c:v>
                </c:pt>
                <c:pt idx="6">
                  <c:v>AdaBoost</c:v>
                </c:pt>
                <c:pt idx="7">
                  <c:v>KNN</c:v>
                </c:pt>
                <c:pt idx="8">
                  <c:v>Dec. 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0.91900000000000004</c:v>
                </c:pt>
                <c:pt idx="1">
                  <c:v>0.92</c:v>
                </c:pt>
                <c:pt idx="2">
                  <c:v>0.92</c:v>
                </c:pt>
                <c:pt idx="3">
                  <c:v>0.95799999999999996</c:v>
                </c:pt>
                <c:pt idx="4">
                  <c:v>0.97399999999999998</c:v>
                </c:pt>
                <c:pt idx="5">
                  <c:v>0.97499999999999998</c:v>
                </c:pt>
                <c:pt idx="6">
                  <c:v>0.90400000000000003</c:v>
                </c:pt>
                <c:pt idx="7">
                  <c:v>1</c:v>
                </c:pt>
                <c:pt idx="8">
                  <c:v>0.873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45-4B07-BA2C-AA36C30399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E8742C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SVR</c:v>
                </c:pt>
                <c:pt idx="1">
                  <c:v>Linear</c:v>
                </c:pt>
                <c:pt idx="2">
                  <c:v>Ridge</c:v>
                </c:pt>
                <c:pt idx="3">
                  <c:v>Grad. Boost</c:v>
                </c:pt>
                <c:pt idx="4">
                  <c:v>Bagging</c:v>
                </c:pt>
                <c:pt idx="5">
                  <c:v>Rand. Forest</c:v>
                </c:pt>
                <c:pt idx="6">
                  <c:v>AdaBoost</c:v>
                </c:pt>
                <c:pt idx="7">
                  <c:v>KNN</c:v>
                </c:pt>
                <c:pt idx="8">
                  <c:v>Dec. Tree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0.92900000000000005</c:v>
                </c:pt>
                <c:pt idx="1">
                  <c:v>0.92900000000000005</c:v>
                </c:pt>
                <c:pt idx="2">
                  <c:v>0.92900000000000005</c:v>
                </c:pt>
                <c:pt idx="3">
                  <c:v>0.871</c:v>
                </c:pt>
                <c:pt idx="4">
                  <c:v>0.82199999999999995</c:v>
                </c:pt>
                <c:pt idx="5">
                  <c:v>0.81899999999999995</c:v>
                </c:pt>
                <c:pt idx="6">
                  <c:v>0.76300000000000001</c:v>
                </c:pt>
                <c:pt idx="7">
                  <c:v>0.79800000000000004</c:v>
                </c:pt>
                <c:pt idx="8">
                  <c:v>0.67200000000000004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45-4B07-BA2C-AA36C30399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635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6262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2626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262626"/>
                </a:solidFill>
                <a:latin typeface="+mn-lt"/>
              </a:rPr>
              <a:t>Ridge alpha vs CV RMSE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RMSE</c:v>
                </c:pt>
              </c:strCache>
            </c:strRef>
          </c:tx>
          <c:spPr>
            <a:ln w="38100" cap="flat">
              <a:solidFill>
                <a:srgbClr val="0070C0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0070C0"/>
              </a:solidFill>
              <a:ln w="9525" cap="flat">
                <a:solidFill>
                  <a:srgbClr val="0070C0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62626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0.01</c:v>
                </c:pt>
                <c:pt idx="1">
                  <c:v>0.1</c:v>
                </c:pt>
                <c:pt idx="2">
                  <c:v>1</c:v>
                </c:pt>
                <c:pt idx="3">
                  <c:v>10</c:v>
                </c:pt>
                <c:pt idx="4">
                  <c:v>100</c:v>
                </c:pt>
                <c:pt idx="5">
                  <c:v>1000</c:v>
                </c:pt>
                <c:pt idx="6">
                  <c:v>10000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47.88</c:v>
                </c:pt>
                <c:pt idx="1">
                  <c:v>47.88</c:v>
                </c:pt>
                <c:pt idx="2">
                  <c:v>47.89</c:v>
                </c:pt>
                <c:pt idx="3">
                  <c:v>48.17</c:v>
                </c:pt>
                <c:pt idx="4">
                  <c:v>60.69</c:v>
                </c:pt>
                <c:pt idx="5">
                  <c:v>128.11000000000001</c:v>
                </c:pt>
                <c:pt idx="6">
                  <c:v>160.31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C1-47C7-A1B0-4B90F182E5D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262626"/>
                    </a:solidFill>
                    <a:latin typeface="Arial"/>
                  </a:rPr>
                  <a:t>alpha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01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four name/roll-number placeholders with the team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44" y="356616"/>
            <a:ext cx="7607808" cy="10058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7744" y="-246888"/>
            <a:ext cx="3246120" cy="1801368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marL="0" indent="0" algn="ctr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/>
                </a:solidFill>
              </a:rPr>
              <a:t>Department of Artificial Intelligence and Machine Learning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accent1"/>
                </a:solidFill>
              </a:rPr>
              <a:t>Machine Learning – Project Review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1"/>
                </a:solidFill>
              </a:rPr>
              <a:t>Course Code: 241AI005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accent2"/>
                </a:solidFill>
              </a:rPr>
              <a:t>PC Performance Predictor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60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2"/>
                </a:solidFill>
              </a:rPr>
              <a:t>Supervised Regression · pandas · scikit-learn · Linear Regression · Streamlit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4754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2"/>
                </a:solidFill>
              </a:rPr>
              <a:t>Team No: 7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51206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1"/>
                </a:solidFill>
              </a:rPr>
              <a:t>Done By: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544068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600" dirty="0">
                <a:solidFill>
                  <a:schemeClr val="accent1"/>
                </a:solidFill>
              </a:rPr>
              <a:t>Mohammed Akmal K M   -   24B11AI262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600" dirty="0">
                <a:solidFill>
                  <a:schemeClr val="accent1"/>
                </a:solidFill>
              </a:rPr>
              <a:t>Ch. Vijay Kumar   -   24B11AI062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600" dirty="0">
                <a:solidFill>
                  <a:schemeClr val="accent1"/>
                </a:solidFill>
              </a:rPr>
              <a:t>D. Sri Sashank   -   24B11AI085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600" dirty="0">
                <a:solidFill>
                  <a:schemeClr val="accent1"/>
                </a:solidFill>
              </a:rPr>
              <a:t>G. Sai Sri Pavan   -   24B11AI139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Project Scope &amp; Objectives</a:t>
            </a:r>
            <a:endParaRPr lang="en-US" sz="2800" dirty="0"/>
          </a:p>
        </p:txBody>
      </p:sp>
      <p:sp>
        <p:nvSpPr>
          <p:cNvPr id="3" name="Overview card"/>
          <p:cNvSpPr/>
          <p:nvPr/>
        </p:nvSpPr>
        <p:spPr>
          <a:xfrm>
            <a:off x="841248" y="1554480"/>
            <a:ext cx="5102352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Overview of the Project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Predict the Performance Score (0–1000) of a desktop PC from 8 hardware and condition attributes.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Supervised learning (regression): every training PC has a known score.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Nine algorithms are trained and compared; the best one is chosen.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Only one model, Linear Regression, is deployed in the Streamlit PC-builder app.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Users pick real parts and the score updates live.</a:t>
            </a:r>
            <a:endParaRPr lang="en-US" sz="1900" dirty="0"/>
          </a:p>
        </p:txBody>
      </p:sp>
      <p:sp>
        <p:nvSpPr>
          <p:cNvPr id="4" name="Objectives card"/>
          <p:cNvSpPr/>
          <p:nvPr/>
        </p:nvSpPr>
        <p:spPr>
          <a:xfrm>
            <a:off x="6254496" y="1554480"/>
            <a:ext cx="5102352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Objectives &amp; Academic Scope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Clean raw data: types, duplicates, missing values, invalid rows.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Scale numbers and one-hot encode OS inside a leak-proof pipeline.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Tune with 5-fold CV (GridSearchCV); evaluate with MAE, MSE, RMSE, R².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Choose with the one-standard-error rule.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Diagnose bias–variance and regularisation (Ridge sweep).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3" name="Situation card"/>
          <p:cNvSpPr/>
          <p:nvPr/>
        </p:nvSpPr>
        <p:spPr>
          <a:xfrm>
            <a:off x="841248" y="1554480"/>
            <a:ext cx="5102352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The Situation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Builders cannot easily tell how strong a PC will be before buying the parts.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Spec sheets list many numbers (RAM, cores, GPU tier, clock, age, temperature); their combined effect is not obvious.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 formula is given: the score must be learned from 503 labelled PCs.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good model is accurate on unseen PCs, stable, and simple to explain.</a:t>
            </a:r>
            <a:endParaRPr lang="en-US" sz="1900" dirty="0"/>
          </a:p>
        </p:txBody>
      </p:sp>
      <p:sp>
        <p:nvSpPr>
          <p:cNvPr id="4" name="Questions card"/>
          <p:cNvSpPr/>
          <p:nvPr/>
        </p:nvSpPr>
        <p:spPr>
          <a:xfrm>
            <a:off x="6254496" y="1554480"/>
            <a:ext cx="5102352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Key Questions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Which specs drive the Performance Score most?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How accurately can the score be predicted, in points?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Which of many algorithms generalises best to unseen PCs?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Do we need nine models in the app, or just one?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What action does the result enable for a builder?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Solution Approach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841248" y="1600200"/>
            <a:ext cx="2377440" cy="246888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1. LOAD + CLEAN</a:t>
            </a:r>
            <a:endParaRPr lang="en-US" sz="1600" dirty="0"/>
          </a:p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520 raw rows. Fix types, OS labels, duplicates, invalid and missing values. Keep 503.</a:t>
            </a:r>
            <a:endParaRPr lang="en-US" sz="1600" dirty="0"/>
          </a:p>
        </p:txBody>
      </p:sp>
      <p:sp>
        <p:nvSpPr>
          <p:cNvPr id="4" name="Arrow 1"/>
          <p:cNvSpPr/>
          <p:nvPr/>
        </p:nvSpPr>
        <p:spPr>
          <a:xfrm>
            <a:off x="3236976" y="2834640"/>
            <a:ext cx="28346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tep 2"/>
          <p:cNvSpPr/>
          <p:nvPr/>
        </p:nvSpPr>
        <p:spPr>
          <a:xfrm>
            <a:off x="3538728" y="1600200"/>
            <a:ext cx="2377440" cy="246888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2. ENCODE + SCALE</a:t>
            </a:r>
            <a:endParaRPr lang="en-US" sz="1600" dirty="0"/>
          </a:p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OS one-hot. StandardScaler z = (x − mean) / std, fitted on training data only.</a:t>
            </a:r>
            <a:endParaRPr lang="en-US" sz="1600" dirty="0"/>
          </a:p>
        </p:txBody>
      </p:sp>
      <p:sp>
        <p:nvSpPr>
          <p:cNvPr id="6" name="Arrow 2"/>
          <p:cNvSpPr/>
          <p:nvPr/>
        </p:nvSpPr>
        <p:spPr>
          <a:xfrm>
            <a:off x="5934456" y="2834640"/>
            <a:ext cx="28346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tep 3"/>
          <p:cNvSpPr/>
          <p:nvPr/>
        </p:nvSpPr>
        <p:spPr>
          <a:xfrm>
            <a:off x="6236208" y="1600200"/>
            <a:ext cx="2377440" cy="246888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3. TRAIN + TUNE</a:t>
            </a:r>
            <a:endParaRPr lang="en-US" sz="1600" dirty="0"/>
          </a:p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9 models, GridSearchCV, 5-fold CV, 80/20 split (402 train, 101 test).</a:t>
            </a:r>
            <a:endParaRPr lang="en-US" sz="1600" dirty="0"/>
          </a:p>
        </p:txBody>
      </p:sp>
      <p:sp>
        <p:nvSpPr>
          <p:cNvPr id="8" name="Arrow 3"/>
          <p:cNvSpPr/>
          <p:nvPr/>
        </p:nvSpPr>
        <p:spPr>
          <a:xfrm>
            <a:off x="8631936" y="2834640"/>
            <a:ext cx="28346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tep 4"/>
          <p:cNvSpPr/>
          <p:nvPr/>
        </p:nvSpPr>
        <p:spPr>
          <a:xfrm>
            <a:off x="8933688" y="1600200"/>
            <a:ext cx="2377440" cy="246888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4. SELECT + DEPLOY</a:t>
            </a:r>
            <a:endParaRPr lang="en-US" sz="1600" dirty="0"/>
          </a:p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One-SE rule picks Linear Regression. Refit on all rows and save for the app.</a:t>
            </a:r>
            <a:endParaRPr lang="en-US" sz="1600" dirty="0"/>
          </a:p>
        </p:txBody>
      </p:sp>
      <p:sp>
        <p:nvSpPr>
          <p:cNvPr id="10" name="Why card"/>
          <p:cNvSpPr/>
          <p:nvPr/>
        </p:nvSpPr>
        <p:spPr>
          <a:xfrm>
            <a:off x="841248" y="4343400"/>
            <a:ext cx="105156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Why this design</a:t>
            </a:r>
            <a:endParaRPr lang="en-US" sz="1700" dirty="0"/>
          </a:p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Nine models are compared fairly with the same split and cross-validation, but only the winner is saved and used for predictions. Tools: Python, pandas, scikit-learn, joblib, Streamlit; fixed random_state = 42 for reproducibility.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Dataset Details</a:t>
            </a:r>
            <a:endParaRPr lang="en-US" sz="2800" dirty="0"/>
          </a:p>
        </p:txBody>
      </p:sp>
      <p:graphicFrame>
        <p:nvGraphicFramePr>
          <p:cNvPr id="6" name="Datase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223760" cy="43891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Range / Values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Record_ID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to 503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Key, not a feature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RAM_GB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Integer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4–64 GB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CPU_Cores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Integer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2–16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GPU_Level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Integer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0–12 (0 = integrated)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Storage_GB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Integer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128–2048 GB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Clock_GHz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2.0–5.0 GHz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Age_Years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0–8 years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Temperature_C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40–90 °C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Windows / Linux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Input (one-hot)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Performance_Score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97.65–1000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TARGET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Performance_Class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Low … Very High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Derived, not used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Glance card"/>
          <p:cNvSpPr/>
          <p:nvPr/>
        </p:nvSpPr>
        <p:spPr>
          <a:xfrm>
            <a:off x="8046720" y="1508760"/>
            <a:ext cx="3611880" cy="466344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At a Glance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Benchmark-style PC dataset.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Raw 520 rows, clean 503 rows.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8 inputs, 1 numeric target.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Score mean 509, median 510.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Windows 377, Linux 126.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Record_ID is never a feature.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Data Issues</a:t>
            </a:r>
            <a:endParaRPr lang="en-US" sz="2800" dirty="0"/>
          </a:p>
        </p:txBody>
      </p:sp>
      <p:sp>
        <p:nvSpPr>
          <p:cNvPr id="3" name="Stat shape"/>
          <p:cNvSpPr/>
          <p:nvPr/>
        </p:nvSpPr>
        <p:spPr>
          <a:xfrm>
            <a:off x="841248" y="1554480"/>
            <a:ext cx="24688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</a:rPr>
              <a:t>520 × 11</a:t>
            </a:r>
            <a:endParaRPr lang="en-US" sz="3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raw shape</a:t>
            </a:r>
            <a:endParaRPr lang="en-US" sz="3400" dirty="0"/>
          </a:p>
        </p:txBody>
      </p:sp>
      <p:sp>
        <p:nvSpPr>
          <p:cNvPr id="4" name="Stat missing"/>
          <p:cNvSpPr/>
          <p:nvPr/>
        </p:nvSpPr>
        <p:spPr>
          <a:xfrm>
            <a:off x="3456432" y="1554480"/>
            <a:ext cx="24688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</a:rPr>
              <a:t>156</a:t>
            </a:r>
            <a:endParaRPr lang="en-US" sz="3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missing cells</a:t>
            </a:r>
            <a:endParaRPr lang="en-US" sz="3400" dirty="0"/>
          </a:p>
        </p:txBody>
      </p:sp>
      <p:sp>
        <p:nvSpPr>
          <p:cNvPr id="5" name="Stat dups"/>
          <p:cNvSpPr/>
          <p:nvPr/>
        </p:nvSpPr>
        <p:spPr>
          <a:xfrm>
            <a:off x="6071616" y="1554480"/>
            <a:ext cx="24688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</a:rPr>
              <a:t>6</a:t>
            </a:r>
            <a:endParaRPr lang="en-US" sz="3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duplicate rows</a:t>
            </a:r>
            <a:endParaRPr lang="en-US" sz="3400" dirty="0"/>
          </a:p>
        </p:txBody>
      </p:sp>
      <p:sp>
        <p:nvSpPr>
          <p:cNvPr id="6" name="Stat invalid"/>
          <p:cNvSpPr/>
          <p:nvPr/>
        </p:nvSpPr>
        <p:spPr>
          <a:xfrm>
            <a:off x="8686800" y="1554480"/>
            <a:ext cx="267004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</a:rPr>
              <a:t>8</a:t>
            </a:r>
            <a:endParaRPr lang="en-US" sz="3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impossible rows</a:t>
            </a:r>
            <a:endParaRPr lang="en-US" sz="3400" dirty="0"/>
          </a:p>
        </p:txBody>
      </p:sp>
      <p:sp>
        <p:nvSpPr>
          <p:cNvPr id="7" name="Format card"/>
          <p:cNvSpPr/>
          <p:nvPr/>
        </p:nvSpPr>
        <p:spPr>
          <a:xfrm>
            <a:off x="841248" y="3108960"/>
            <a:ext cx="5102352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wrong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Missing: </a:t>
            </a:r>
            <a:r>
              <a:rPr lang="en-US" sz="1500" dirty="0">
                <a:solidFill>
                  <a:schemeClr val="tx1"/>
                </a:solidFill>
              </a:rPr>
              <a:t>26 cells in each of RAM, cores, storage, clock, temperature and OS.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Text numbers: </a:t>
            </a:r>
            <a:r>
              <a:rPr lang="en-US" sz="1500" dirty="0">
                <a:solidFill>
                  <a:schemeClr val="tx1"/>
                </a:solidFill>
              </a:rPr>
              <a:t>9 RAM values stored as “32GB”.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OS spellings: </a:t>
            </a:r>
            <a:r>
              <a:rPr lang="en-US" sz="1500" dirty="0">
                <a:solidFill>
                  <a:schemeClr val="tx1"/>
                </a:solidFill>
              </a:rPr>
              <a:t>11 variants (win10, Ubuntu, “ Windows”, LINUX …).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Impossible values: </a:t>
            </a:r>
            <a:r>
              <a:rPr lang="en-US" sz="1500" dirty="0">
                <a:solidFill>
                  <a:schemeClr val="tx1"/>
                </a:solidFill>
              </a:rPr>
              <a:t>RAM 999, temperature 145, age −1.5, score 1450.</a:t>
            </a:r>
            <a:endParaRPr lang="en-US" sz="1800" dirty="0"/>
          </a:p>
        </p:txBody>
      </p:sp>
      <p:sp>
        <p:nvSpPr>
          <p:cNvPr id="8" name="Why card"/>
          <p:cNvSpPr/>
          <p:nvPr/>
        </p:nvSpPr>
        <p:spPr>
          <a:xfrm>
            <a:off x="6254496" y="3108960"/>
            <a:ext cx="5102352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Why it matters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Models cannot learn from text such as “32GB” or from missing cells.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Duplicates leak between the train and test split and inflate the scores.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Impossible rows pull the fitted line away from real PCs.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Fix: coerce types, standardise OS, dedupe, range-filter, median/mode fill.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Preprocessing Output</a:t>
            </a:r>
            <a:endParaRPr lang="en-US" sz="2800" dirty="0"/>
          </a:p>
        </p:txBody>
      </p:sp>
      <p:sp>
        <p:nvSpPr>
          <p:cNvPr id="3" name="Read card"/>
          <p:cNvSpPr/>
          <p:nvPr/>
        </p:nvSpPr>
        <p:spPr>
          <a:xfrm>
            <a:off x="841248" y="1554480"/>
            <a:ext cx="3840480" cy="46634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to read here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Raw 520 rows to 503 clean rows.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Missing values after cleaning: 0.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OS categories: Linux, Windows.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Score range 97.65–1000.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Output saved to pc_performance_cleaned.csv.</a:t>
            </a:r>
            <a:endParaRPr lang="en-US" sz="1800" dirty="0"/>
          </a:p>
        </p:txBody>
      </p:sp>
      <p:pic>
        <p:nvPicPr>
          <p:cNvPr id="4" name="Screenshot preprocessing" descr="Terminal output of python src/preprocess.p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676525"/>
            <a:ext cx="6400800" cy="2053590"/>
          </a:xfrm>
          <a:prstGeom prst="rect">
            <a:avLst/>
          </a:prstGeom>
        </p:spPr>
      </p:pic>
      <p:sp>
        <p:nvSpPr>
          <p:cNvPr id="5" name="Screenshot preprocessing frame"/>
          <p:cNvSpPr/>
          <p:nvPr/>
        </p:nvSpPr>
        <p:spPr>
          <a:xfrm>
            <a:off x="4937760" y="2676525"/>
            <a:ext cx="6400800" cy="2053590"/>
          </a:xfrm>
          <a:prstGeom prst="rect">
            <a:avLst/>
          </a:prstGeom>
          <a:ln w="9525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creenshot preprocessing caption"/>
          <p:cNvSpPr txBox="1"/>
          <p:nvPr/>
        </p:nvSpPr>
        <p:spPr>
          <a:xfrm>
            <a:off x="4937760" y="58978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F7F7F"/>
                </a:solidFill>
              </a:rPr>
              <a:t>Preprocessing run: row counts, missing values and OS categories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Cleaning Steps</a:t>
            </a:r>
            <a:endParaRPr lang="en-US" sz="2800" dirty="0"/>
          </a:p>
        </p:txBody>
      </p:sp>
      <p:sp>
        <p:nvSpPr>
          <p:cNvPr id="3" name="Stat raw"/>
          <p:cNvSpPr/>
          <p:nvPr/>
        </p:nvSpPr>
        <p:spPr>
          <a:xfrm>
            <a:off x="841248" y="1508760"/>
            <a:ext cx="24688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</a:rPr>
              <a:t>520</a:t>
            </a:r>
            <a:endParaRPr lang="en-US" sz="3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raw rows</a:t>
            </a:r>
            <a:endParaRPr lang="en-US" sz="3400" dirty="0"/>
          </a:p>
        </p:txBody>
      </p:sp>
      <p:sp>
        <p:nvSpPr>
          <p:cNvPr id="4" name="Stat dedup"/>
          <p:cNvSpPr/>
          <p:nvPr/>
        </p:nvSpPr>
        <p:spPr>
          <a:xfrm>
            <a:off x="3456432" y="1508760"/>
            <a:ext cx="24688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</a:rPr>
              <a:t>514</a:t>
            </a:r>
            <a:endParaRPr lang="en-US" sz="3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after 6 duplicates</a:t>
            </a:r>
            <a:endParaRPr lang="en-US" sz="3400" dirty="0"/>
          </a:p>
        </p:txBody>
      </p:sp>
      <p:sp>
        <p:nvSpPr>
          <p:cNvPr id="5" name="Stat range"/>
          <p:cNvSpPr/>
          <p:nvPr/>
        </p:nvSpPr>
        <p:spPr>
          <a:xfrm>
            <a:off x="6071616" y="1508760"/>
            <a:ext cx="24688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</a:rPr>
              <a:t>506</a:t>
            </a:r>
            <a:endParaRPr lang="en-US" sz="3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after 8 invalid rows</a:t>
            </a:r>
            <a:endParaRPr lang="en-US" sz="3400" dirty="0"/>
          </a:p>
        </p:txBody>
      </p:sp>
      <p:sp>
        <p:nvSpPr>
          <p:cNvPr id="6" name="Stat final"/>
          <p:cNvSpPr/>
          <p:nvPr/>
        </p:nvSpPr>
        <p:spPr>
          <a:xfrm>
            <a:off x="8686800" y="1508760"/>
            <a:ext cx="267004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</a:rPr>
              <a:t>503</a:t>
            </a:r>
            <a:endParaRPr lang="en-US" sz="3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final clean rows</a:t>
            </a:r>
            <a:endParaRPr lang="en-US" sz="3400" dirty="0"/>
          </a:p>
        </p:txBody>
      </p:sp>
      <p:sp>
        <p:nvSpPr>
          <p:cNvPr id="7" name="Pipeline card"/>
          <p:cNvSpPr/>
          <p:nvPr/>
        </p:nvSpPr>
        <p:spPr>
          <a:xfrm>
            <a:off x="841248" y="2926080"/>
            <a:ext cx="5852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Cleaning pipeline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Coerce types: strip “GB” and spaces.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Standardise OS to Windows / Linux.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Drop exact duplicate rows.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Drop rows outside valid ranges.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Fill gaps: median (numbers), mode (OS).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Recompute class, round integers, dedupe again.</a:t>
            </a:r>
            <a:endParaRPr lang="en-US" sz="1800" dirty="0"/>
          </a:p>
        </p:txBody>
      </p:sp>
      <p:sp>
        <p:nvSpPr>
          <p:cNvPr id="8" name="Choices card"/>
          <p:cNvSpPr/>
          <p:nvPr/>
        </p:nvSpPr>
        <p:spPr>
          <a:xfrm>
            <a:off x="6912864" y="2926080"/>
            <a:ext cx="4443984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Deliberate choices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Median is robust to extreme builds.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Valid outliers are kept: they are real PCs.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Imputation uses the full file; scaling later uses training data only.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Scaling &amp; Encoding</a:t>
            </a:r>
            <a:endParaRPr lang="en-US" sz="2800" dirty="0"/>
          </a:p>
        </p:txBody>
      </p:sp>
      <p:sp>
        <p:nvSpPr>
          <p:cNvPr id="3" name="Scaling card"/>
          <p:cNvSpPr/>
          <p:nvPr/>
        </p:nvSpPr>
        <p:spPr>
          <a:xfrm>
            <a:off x="841248" y="1554480"/>
            <a:ext cx="576072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Before and after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Raw ranges differ widely: Storage 128–2048, Clock 2–5, GPU 0–12.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StandardScaler: z = (x − mean) / std, so every numeric column gets mean 0 and std 1.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OneHotEncoder turns OS into Linux / Windows columns.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Both steps sit in a ColumnTransformer inside the Pipeline.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They are fitted on training folds only, so no test information leaks.</a:t>
            </a:r>
            <a:endParaRPr lang="en-US" sz="1900" dirty="0"/>
          </a:p>
        </p:txBody>
      </p:sp>
      <p:pic>
        <p:nvPicPr>
          <p:cNvPr id="4" name="Screenshot scaling" descr="Before / after scaling (describe() output or notebook cell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631" y="1554480"/>
            <a:ext cx="3605587" cy="3931920"/>
          </a:xfrm>
          <a:prstGeom prst="rect">
            <a:avLst/>
          </a:prstGeom>
        </p:spPr>
      </p:pic>
      <p:sp>
        <p:nvSpPr>
          <p:cNvPr id="5" name="Screenshot scaling frame"/>
          <p:cNvSpPr/>
          <p:nvPr/>
        </p:nvSpPr>
        <p:spPr>
          <a:xfrm>
            <a:off x="7304631" y="1554480"/>
            <a:ext cx="3605587" cy="3931920"/>
          </a:xfrm>
          <a:prstGeom prst="rect">
            <a:avLst/>
          </a:prstGeom>
          <a:ln w="9525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creenshot scaling caption"/>
          <p:cNvSpPr txBox="1"/>
          <p:nvPr/>
        </p:nvSpPr>
        <p:spPr>
          <a:xfrm>
            <a:off x="6858000" y="5532120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F7F7F"/>
                </a:solidFill>
              </a:rPr>
              <a:t>Numeric columns before and after StandardScaler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Candidate Models</a:t>
            </a:r>
            <a:endParaRPr lang="en-US" sz="2800" dirty="0"/>
          </a:p>
        </p:txBody>
      </p:sp>
      <p:graphicFrame>
        <p:nvGraphicFramePr>
          <p:cNvPr id="11" name="Mode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554480"/>
          <a:ext cx="10515600" cy="42976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Family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Hyperparameters searched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Linear Regression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Linear model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none (closed form)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Ridge Regression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Linear + L2 penalty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alpha: 0.1, 1, 10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KNN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Instance-based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k, weights, distance metric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SVR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Support vector machine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kernel, C, epsilon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Decision Tree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Tree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max_depth, min_samples_leaf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Ensemble: bagging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trees, depth, min leaf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Gradient Boosting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Ensemble: boosting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trees, learning rate, depth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Bagging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Ensemble: bagging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max_samples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AdaBoost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Ensemble: boosting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trees, learning rate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Models note"/>
          <p:cNvSpPr txBox="1"/>
          <p:nvPr/>
        </p:nvSpPr>
        <p:spPr>
          <a:xfrm>
            <a:off x="841248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All nine share the same preprocessing pipeline, the same 80/20 split and the same 5-fold cross-validation.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The Selected Model</a:t>
            </a:r>
            <a:endParaRPr lang="en-US" sz="2800" dirty="0"/>
          </a:p>
        </p:txBody>
      </p:sp>
      <p:sp>
        <p:nvSpPr>
          <p:cNvPr id="3" name="Equation card"/>
          <p:cNvSpPr/>
          <p:nvPr/>
        </p:nvSpPr>
        <p:spPr>
          <a:xfrm>
            <a:off x="841248" y="1554480"/>
            <a:ext cx="49377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Linear Regression (OLS)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Score = intercept + Σ (weight × scaled feature).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Weights minimise the sum of squared errors, in closed form.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hyperparameters to tune.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Intercept 507.6: the score of an average PC.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weight is points per +1 std of a feature.</a:t>
            </a:r>
            <a:endParaRPr lang="en-US" sz="1900" dirty="0"/>
          </a:p>
        </p:txBody>
      </p:sp>
      <p:graphicFrame>
        <p:nvGraphicFramePr>
          <p:cNvPr id="4" name="Coefficient chart"/>
          <p:cNvGraphicFramePr/>
          <p:nvPr/>
        </p:nvGraphicFramePr>
        <p:xfrm>
          <a:off x="6035040" y="1554480"/>
          <a:ext cx="539496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EDA: Distributions</a:t>
            </a:r>
            <a:endParaRPr lang="en-US" sz="2800" dirty="0"/>
          </a:p>
        </p:txBody>
      </p:sp>
      <p:sp>
        <p:nvSpPr>
          <p:cNvPr id="3" name="Obs card"/>
          <p:cNvSpPr/>
          <p:nvPr/>
        </p:nvSpPr>
        <p:spPr>
          <a:xfrm>
            <a:off x="841248" y="1554480"/>
            <a:ext cx="3931920" cy="466344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Key observations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Score is bell-shaped, centred near 510 (range 98–1000).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RAM, cores, storage take a few discrete values.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Temperature, clock and age are spread fairly evenly.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Windows is about 3× more common than Linux.</a:t>
            </a:r>
            <a:endParaRPr lang="en-US" sz="1800" dirty="0"/>
          </a:p>
        </p:txBody>
      </p:sp>
      <p:pic>
        <p:nvPicPr>
          <p:cNvPr id="4" name="Screenshot distributions" descr="Histograms of the 8 features and the sco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155" y="1554480"/>
            <a:ext cx="6267450" cy="4297680"/>
          </a:xfrm>
          <a:prstGeom prst="rect">
            <a:avLst/>
          </a:prstGeom>
        </p:spPr>
      </p:pic>
      <p:sp>
        <p:nvSpPr>
          <p:cNvPr id="5" name="Screenshot distributions frame"/>
          <p:cNvSpPr/>
          <p:nvPr/>
        </p:nvSpPr>
        <p:spPr>
          <a:xfrm>
            <a:off x="5050155" y="1554480"/>
            <a:ext cx="6267450" cy="4297680"/>
          </a:xfrm>
          <a:prstGeom prst="rect">
            <a:avLst/>
          </a:prstGeom>
          <a:ln w="9525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creenshot distributions caption"/>
          <p:cNvSpPr txBox="1"/>
          <p:nvPr/>
        </p:nvSpPr>
        <p:spPr>
          <a:xfrm>
            <a:off x="5029200" y="589788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F7F7F"/>
                </a:solidFill>
              </a:rPr>
              <a:t>Distributions of inputs and Performance_Score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EDA: Score vs Specs</a:t>
            </a:r>
            <a:endParaRPr lang="en-US" sz="2800" dirty="0"/>
          </a:p>
        </p:txBody>
      </p:sp>
      <p:sp>
        <p:nvSpPr>
          <p:cNvPr id="3" name="Obs card"/>
          <p:cNvSpPr/>
          <p:nvPr/>
        </p:nvSpPr>
        <p:spPr>
          <a:xfrm>
            <a:off x="841248" y="1554480"/>
            <a:ext cx="3931920" cy="466344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Key observations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Score rises with RAM, cores and GPU level.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Older and hotter PCs score lower.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Positive trends for RAM, cores and GPU; negative for age and temperature.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Moderate, steady trends suggest a simple model may be enough.</a:t>
            </a:r>
            <a:endParaRPr lang="en-US" sz="1800" dirty="0"/>
          </a:p>
        </p:txBody>
      </p:sp>
      <p:pic>
        <p:nvPicPr>
          <p:cNvPr id="4" name="Screenshot scatter" descr="Scatter plots of Performance_Score against each fea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097301"/>
            <a:ext cx="6309360" cy="3212038"/>
          </a:xfrm>
          <a:prstGeom prst="rect">
            <a:avLst/>
          </a:prstGeom>
        </p:spPr>
      </p:pic>
      <p:sp>
        <p:nvSpPr>
          <p:cNvPr id="5" name="Screenshot scatter frame"/>
          <p:cNvSpPr/>
          <p:nvPr/>
        </p:nvSpPr>
        <p:spPr>
          <a:xfrm>
            <a:off x="5029200" y="2097301"/>
            <a:ext cx="6309360" cy="3212038"/>
          </a:xfrm>
          <a:prstGeom prst="rect">
            <a:avLst/>
          </a:prstGeom>
          <a:ln w="9525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creenshot scatter caption"/>
          <p:cNvSpPr txBox="1"/>
          <p:nvPr/>
        </p:nvSpPr>
        <p:spPr>
          <a:xfrm>
            <a:off x="5029200" y="589788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F7F7F"/>
                </a:solidFill>
              </a:rPr>
              <a:t>Performance_Score against each input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Correlation Heatmap</a:t>
            </a:r>
            <a:endParaRPr lang="en-US" sz="2800" dirty="0"/>
          </a:p>
        </p:txBody>
      </p:sp>
      <p:sp>
        <p:nvSpPr>
          <p:cNvPr id="3" name="Obs card"/>
          <p:cNvSpPr/>
          <p:nvPr/>
        </p:nvSpPr>
        <p:spPr>
          <a:xfrm>
            <a:off x="841248" y="1554480"/>
            <a:ext cx="3931920" cy="466344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Key observations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Correlation with score: RAM 0.54, cores 0.49, GPU 0.44, clock 0.33.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Age −0.29 and temperature −0.14 pull it down.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Storage is weak at 0.13.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strongest links are RAM, cores and GPU, the three largest weights.</a:t>
            </a:r>
            <a:endParaRPr lang="en-US" sz="1800" dirty="0"/>
          </a:p>
        </p:txBody>
      </p:sp>
      <p:pic>
        <p:nvPicPr>
          <p:cNvPr id="4" name="Screenshot heatmap" descr="Correlation heatmap of numeric features and the sco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679" y="1554480"/>
            <a:ext cx="5506403" cy="4297680"/>
          </a:xfrm>
          <a:prstGeom prst="rect">
            <a:avLst/>
          </a:prstGeom>
        </p:spPr>
      </p:pic>
      <p:sp>
        <p:nvSpPr>
          <p:cNvPr id="5" name="Screenshot heatmap frame"/>
          <p:cNvSpPr/>
          <p:nvPr/>
        </p:nvSpPr>
        <p:spPr>
          <a:xfrm>
            <a:off x="5430679" y="1554480"/>
            <a:ext cx="5506403" cy="4297680"/>
          </a:xfrm>
          <a:prstGeom prst="rect">
            <a:avLst/>
          </a:prstGeom>
          <a:ln w="9525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creenshot heatmap caption"/>
          <p:cNvSpPr txBox="1"/>
          <p:nvPr/>
        </p:nvSpPr>
        <p:spPr>
          <a:xfrm>
            <a:off x="5029200" y="589788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F7F7F"/>
                </a:solidFill>
              </a:rPr>
              <a:t>Pearson correlation matrix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Training &amp; Tuning</a:t>
            </a:r>
            <a:endParaRPr lang="en-US" sz="2800" dirty="0"/>
          </a:p>
        </p:txBody>
      </p:sp>
      <p:sp>
        <p:nvSpPr>
          <p:cNvPr id="3" name="Stat train"/>
          <p:cNvSpPr/>
          <p:nvPr/>
        </p:nvSpPr>
        <p:spPr>
          <a:xfrm>
            <a:off x="841248" y="1554480"/>
            <a:ext cx="24688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</a:rPr>
              <a:t>402</a:t>
            </a:r>
            <a:endParaRPr lang="en-US" sz="3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training rows (80%)</a:t>
            </a:r>
            <a:endParaRPr lang="en-US" sz="3400" dirty="0"/>
          </a:p>
        </p:txBody>
      </p:sp>
      <p:sp>
        <p:nvSpPr>
          <p:cNvPr id="4" name="Stat test"/>
          <p:cNvSpPr/>
          <p:nvPr/>
        </p:nvSpPr>
        <p:spPr>
          <a:xfrm>
            <a:off x="3456432" y="1554480"/>
            <a:ext cx="24688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101</a:t>
            </a:r>
            <a:endParaRPr lang="en-US" sz="3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test rows (20%)</a:t>
            </a:r>
            <a:endParaRPr lang="en-US" sz="3400" dirty="0"/>
          </a:p>
        </p:txBody>
      </p:sp>
      <p:sp>
        <p:nvSpPr>
          <p:cNvPr id="5" name="Stat folds"/>
          <p:cNvSpPr/>
          <p:nvPr/>
        </p:nvSpPr>
        <p:spPr>
          <a:xfrm>
            <a:off x="6071616" y="1554480"/>
            <a:ext cx="24688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</a:rPr>
              <a:t>5</a:t>
            </a:r>
            <a:endParaRPr lang="en-US" sz="3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CV folds, shuffled</a:t>
            </a:r>
            <a:endParaRPr lang="en-US" sz="3400" dirty="0"/>
          </a:p>
        </p:txBody>
      </p:sp>
      <p:sp>
        <p:nvSpPr>
          <p:cNvPr id="6" name="Stat models"/>
          <p:cNvSpPr/>
          <p:nvPr/>
        </p:nvSpPr>
        <p:spPr>
          <a:xfrm>
            <a:off x="8686800" y="1554480"/>
            <a:ext cx="2670048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</a:rPr>
              <a:t>9</a:t>
            </a:r>
            <a:endParaRPr lang="en-US" sz="3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models tuned</a:t>
            </a:r>
            <a:endParaRPr lang="en-US" sz="3400" dirty="0"/>
          </a:p>
        </p:txBody>
      </p:sp>
      <p:sp>
        <p:nvSpPr>
          <p:cNvPr id="7" name="Tune card"/>
          <p:cNvSpPr/>
          <p:nvPr/>
        </p:nvSpPr>
        <p:spPr>
          <a:xfrm>
            <a:off x="841248" y="3063240"/>
            <a:ext cx="4572000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How tuning works</a:t>
            </a:r>
            <a:endParaRPr lang="en-US" sz="17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GridSearchCV tries every setting for a model.</a:t>
            </a:r>
            <a:endParaRPr lang="en-US" sz="17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is scored by 5-fold CV RMSE.</a:t>
            </a:r>
            <a:endParaRPr lang="en-US" sz="17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best setting is then tested once on the 101 held-out PCs.</a:t>
            </a:r>
            <a:endParaRPr lang="en-US" sz="1700" dirty="0"/>
          </a:p>
        </p:txBody>
      </p:sp>
      <p:pic>
        <p:nvPicPr>
          <p:cNvPr id="8" name="Screenshot training console" descr="Terminal output of python src/train.py (training section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223" y="3063240"/>
            <a:ext cx="4659682" cy="2834640"/>
          </a:xfrm>
          <a:prstGeom prst="rect">
            <a:avLst/>
          </a:prstGeom>
        </p:spPr>
      </p:pic>
      <p:sp>
        <p:nvSpPr>
          <p:cNvPr id="9" name="Screenshot training console frame"/>
          <p:cNvSpPr/>
          <p:nvPr/>
        </p:nvSpPr>
        <p:spPr>
          <a:xfrm>
            <a:off x="6183223" y="3063240"/>
            <a:ext cx="4659682" cy="2834640"/>
          </a:xfrm>
          <a:prstGeom prst="rect">
            <a:avLst/>
          </a:prstGeom>
          <a:ln w="9525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creenshot training console caption"/>
          <p:cNvSpPr txBox="1"/>
          <p:nvPr/>
        </p:nvSpPr>
        <p:spPr>
          <a:xfrm>
            <a:off x="5669280" y="5943600"/>
            <a:ext cx="5687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F7F7F"/>
                </a:solidFill>
              </a:rPr>
              <a:t>Training run: CV RMSE and test R² for each model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Model Comparison</a:t>
            </a:r>
            <a:endParaRPr lang="en-US" sz="2800" dirty="0"/>
          </a:p>
        </p:txBody>
      </p:sp>
      <p:graphicFrame>
        <p:nvGraphicFramePr>
          <p:cNvPr id="17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554480"/>
          <a:ext cx="10515600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CV RMSE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Train R²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R²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RMSE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MAE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SVR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47.32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0.919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0.929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44.12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33.33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Linear Regression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47.88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0.920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0.929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44.12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33.84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Ridge Regression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47.88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0.920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0.929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44.12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33.85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Gradient Boosting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55.67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0.958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0.871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59.27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45.29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Bagging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69.12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0.974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0.822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69.69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53.29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69.22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0.975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0.819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70.26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53.55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AdaBoost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76.08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0.904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0.763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80.42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62.48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KNN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82.71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1.000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0.798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74.22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57.31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Decision Tree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98.43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0.873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0.672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94.68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77.86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able note"/>
          <p:cNvSpPr txBox="1"/>
          <p:nvPr/>
        </p:nvSpPr>
        <p:spPr>
          <a:xfrm>
            <a:off x="841248" y="5897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7F7F"/>
                </a:solidFill>
              </a:rPr>
              <a:t>Sorted by CV RMSE. Highlighted row = the deployed model.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Choosing the Final Model</a:t>
            </a:r>
            <a:endParaRPr lang="en-US" sz="2800" dirty="0"/>
          </a:p>
        </p:txBody>
      </p:sp>
      <p:sp>
        <p:nvSpPr>
          <p:cNvPr id="3" name="Rule card"/>
          <p:cNvSpPr/>
          <p:nvPr/>
        </p:nvSpPr>
        <p:spPr>
          <a:xfrm>
            <a:off x="841248" y="1554480"/>
            <a:ext cx="49377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One-standard-error rule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Best CV RMSE: SVR, 47.32.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Standard error: 6.73 / √5 = 3.01.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Threshold: 47.32 + 3.01 = 50.33.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Within it: SVR, Linear, Ridge.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They are statistically tied, so the simplest wins: Linear Regression.</a:t>
            </a:r>
            <a:endParaRPr lang="en-US" sz="1900" dirty="0"/>
          </a:p>
        </p:txBody>
      </p:sp>
      <p:graphicFrame>
        <p:nvGraphicFramePr>
          <p:cNvPr id="4" name="CV RMSE chart"/>
          <p:cNvGraphicFramePr/>
          <p:nvPr/>
        </p:nvGraphicFramePr>
        <p:xfrm>
          <a:off x="6035040" y="1554480"/>
          <a:ext cx="539496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Final Model Performance</a:t>
            </a:r>
            <a:endParaRPr lang="en-US" sz="2800" dirty="0"/>
          </a:p>
        </p:txBody>
      </p:sp>
      <p:sp>
        <p:nvSpPr>
          <p:cNvPr id="3" name="Stat r2"/>
          <p:cNvSpPr/>
          <p:nvPr/>
        </p:nvSpPr>
        <p:spPr>
          <a:xfrm>
            <a:off x="841248" y="1554480"/>
            <a:ext cx="24688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</a:rPr>
              <a:t>0.929</a:t>
            </a:r>
            <a:endParaRPr lang="en-US" sz="3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Test R²</a:t>
            </a:r>
            <a:endParaRPr lang="en-US" sz="3400" dirty="0"/>
          </a:p>
        </p:txBody>
      </p:sp>
      <p:sp>
        <p:nvSpPr>
          <p:cNvPr id="4" name="Stat mae"/>
          <p:cNvSpPr/>
          <p:nvPr/>
        </p:nvSpPr>
        <p:spPr>
          <a:xfrm>
            <a:off x="3456432" y="1554480"/>
            <a:ext cx="24688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</a:rPr>
              <a:t>33.84</a:t>
            </a:r>
            <a:endParaRPr lang="en-US" sz="3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Test MAE</a:t>
            </a:r>
            <a:endParaRPr lang="en-US" sz="3400" dirty="0"/>
          </a:p>
        </p:txBody>
      </p:sp>
      <p:sp>
        <p:nvSpPr>
          <p:cNvPr id="5" name="Stat rmse"/>
          <p:cNvSpPr/>
          <p:nvPr/>
        </p:nvSpPr>
        <p:spPr>
          <a:xfrm>
            <a:off x="6071616" y="1554480"/>
            <a:ext cx="24688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</a:rPr>
              <a:t>44.12</a:t>
            </a:r>
            <a:endParaRPr lang="en-US" sz="3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Test RMSE</a:t>
            </a:r>
            <a:endParaRPr lang="en-US" sz="3400" dirty="0"/>
          </a:p>
        </p:txBody>
      </p:sp>
      <p:sp>
        <p:nvSpPr>
          <p:cNvPr id="6" name="Stat mse"/>
          <p:cNvSpPr/>
          <p:nvPr/>
        </p:nvSpPr>
        <p:spPr>
          <a:xfrm>
            <a:off x="8686800" y="1554480"/>
            <a:ext cx="2670048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</a:rPr>
              <a:t>1946.5</a:t>
            </a:r>
            <a:endParaRPr lang="en-US" sz="3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Test MSE</a:t>
            </a:r>
            <a:endParaRPr lang="en-US" sz="3400" dirty="0"/>
          </a:p>
        </p:txBody>
      </p:sp>
      <p:sp>
        <p:nvSpPr>
          <p:cNvPr id="7" name="Meaning card"/>
          <p:cNvSpPr/>
          <p:nvPr/>
        </p:nvSpPr>
        <p:spPr>
          <a:xfrm>
            <a:off x="841248" y="3017520"/>
            <a:ext cx="49377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What it means</a:t>
            </a:r>
            <a:endParaRPr lang="en-US" sz="17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93% of score variation explained on unseen PCs.</a:t>
            </a:r>
            <a:endParaRPr lang="en-US" sz="17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Typical error is about 34 points on a 1000-point scale.</a:t>
            </a:r>
            <a:endParaRPr lang="en-US" sz="17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Train R² 0.920 vs test 0.929: no overfitting.</a:t>
            </a:r>
            <a:endParaRPr lang="en-US" sz="1700" dirty="0"/>
          </a:p>
        </p:txBody>
      </p:sp>
      <p:pic>
        <p:nvPicPr>
          <p:cNvPr id="8" name="Screenshot actual vs predicted" descr="Actual vs predicted scatter on the test set (actual_vs_predicted.png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764" y="3017520"/>
            <a:ext cx="2880360" cy="2880360"/>
          </a:xfrm>
          <a:prstGeom prst="rect">
            <a:avLst/>
          </a:prstGeom>
        </p:spPr>
      </p:pic>
      <p:sp>
        <p:nvSpPr>
          <p:cNvPr id="9" name="Screenshot actual vs predicted frame"/>
          <p:cNvSpPr/>
          <p:nvPr/>
        </p:nvSpPr>
        <p:spPr>
          <a:xfrm>
            <a:off x="7255764" y="3017520"/>
            <a:ext cx="2880360" cy="2880360"/>
          </a:xfrm>
          <a:prstGeom prst="rect">
            <a:avLst/>
          </a:prstGeom>
          <a:ln w="9525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creenshot actual vs predicted caption"/>
          <p:cNvSpPr txBox="1"/>
          <p:nvPr/>
        </p:nvSpPr>
        <p:spPr>
          <a:xfrm>
            <a:off x="6035040" y="5943600"/>
            <a:ext cx="5321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F7F7F"/>
                </a:solidFill>
              </a:rPr>
              <a:t>Linear Regression: actual vs predicted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Feature Importance</a:t>
            </a:r>
            <a:endParaRPr lang="en-US" sz="2800" dirty="0"/>
          </a:p>
        </p:txBody>
      </p:sp>
      <p:sp>
        <p:nvSpPr>
          <p:cNvPr id="3" name="Obs card"/>
          <p:cNvSpPr/>
          <p:nvPr/>
        </p:nvSpPr>
        <p:spPr>
          <a:xfrm>
            <a:off x="841248" y="1554480"/>
            <a:ext cx="4389120" cy="466344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ctr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Permutation importance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RAM_GB 0.53 and CPU_Cores 0.51 matter most.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GPU_Level 0.37, Clock_GHz 0.17, Age 0.12.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Temperature 0.03 and Storage 0.02 are minor.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OS is about 0.001: effectively irrelevant.</a:t>
            </a:r>
            <a:endParaRPr lang="en-US" sz="1800" dirty="0"/>
          </a:p>
        </p:txBody>
      </p:sp>
      <p:pic>
        <p:nvPicPr>
          <p:cNvPr id="4" name="Screenshot importance" descr="Permutation importance bar chart (feature_importance.png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822269"/>
            <a:ext cx="5852160" cy="3762103"/>
          </a:xfrm>
          <a:prstGeom prst="rect">
            <a:avLst/>
          </a:prstGeom>
        </p:spPr>
      </p:pic>
      <p:sp>
        <p:nvSpPr>
          <p:cNvPr id="5" name="Screenshot importance frame"/>
          <p:cNvSpPr/>
          <p:nvPr/>
        </p:nvSpPr>
        <p:spPr>
          <a:xfrm>
            <a:off x="5486400" y="1822269"/>
            <a:ext cx="5852160" cy="3762103"/>
          </a:xfrm>
          <a:prstGeom prst="rect">
            <a:avLst/>
          </a:prstGeom>
          <a:ln w="9525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creenshot importance caption"/>
          <p:cNvSpPr txBox="1"/>
          <p:nvPr/>
        </p:nvSpPr>
        <p:spPr>
          <a:xfrm>
            <a:off x="5486400" y="58978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F7F7F"/>
                </a:solidFill>
              </a:rPr>
              <a:t>Drop in R² when each feature is shuffled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Bias–Variance Check</a:t>
            </a:r>
            <a:endParaRPr lang="en-US" sz="2800" dirty="0"/>
          </a:p>
        </p:txBody>
      </p:sp>
      <p:graphicFrame>
        <p:nvGraphicFramePr>
          <p:cNvPr id="3" name="Train vs test chart"/>
          <p:cNvGraphicFramePr/>
          <p:nvPr/>
        </p:nvGraphicFramePr>
        <p:xfrm>
          <a:off x="841248" y="1554480"/>
          <a:ext cx="658368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Gap card"/>
          <p:cNvSpPr/>
          <p:nvPr/>
        </p:nvSpPr>
        <p:spPr>
          <a:xfrm>
            <a:off x="7680960" y="1554480"/>
            <a:ext cx="3675888" cy="466344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Reading the gap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Linear, Ridge, SVR: test ≥ train, so no overfitting.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Bagging, Forest, AdaBoost, KNN, Tree: gap above 0.14, so they overfit.</a:t>
            </a:r>
            <a:endParaRPr lang="en-US" sz="1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KNN memorises training data (train R² 1.000).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Regularisation: Ridge Sweep</a:t>
            </a:r>
            <a:endParaRPr lang="en-US" sz="2800" dirty="0"/>
          </a:p>
        </p:txBody>
      </p:sp>
      <p:graphicFrame>
        <p:nvGraphicFramePr>
          <p:cNvPr id="3" name="Ridge sweep chart"/>
          <p:cNvGraphicFramePr/>
          <p:nvPr/>
        </p:nvGraphicFramePr>
        <p:xfrm>
          <a:off x="841248" y="1554480"/>
          <a:ext cx="640080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idge card"/>
          <p:cNvSpPr/>
          <p:nvPr/>
        </p:nvSpPr>
        <p:spPr>
          <a:xfrm>
            <a:off x="7498080" y="1554480"/>
            <a:ext cx="3858768" cy="4663440"/>
          </a:xfrm>
          <a:prstGeom prst="roundRect">
            <a:avLst>
              <a:gd name="adj" fmla="val 284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Why Ridge adds nothing</a:t>
            </a:r>
            <a:endParaRPr lang="en-US" sz="17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Alpha 0.01–1: error stays at 47.88.</a:t>
            </a:r>
            <a:endParaRPr lang="en-US" sz="17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Alpha 100+: coefficients shrink too much, so it underfits.</a:t>
            </a:r>
            <a:endParaRPr lang="en-US" sz="17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Best alpha is tiny, so Ridge equals plain Linear Regression.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Deployed Application</a:t>
            </a:r>
            <a:endParaRPr lang="en-US" sz="2800" dirty="0"/>
          </a:p>
        </p:txBody>
      </p:sp>
      <p:sp>
        <p:nvSpPr>
          <p:cNvPr id="3" name="Flow 1"/>
          <p:cNvSpPr/>
          <p:nvPr/>
        </p:nvSpPr>
        <p:spPr>
          <a:xfrm>
            <a:off x="841248" y="141732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PC parts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CPU, GPU, RAM, storage, cooler, OS</a:t>
            </a:r>
            <a:endParaRPr lang="en-US" sz="1600" dirty="0"/>
          </a:p>
        </p:txBody>
      </p:sp>
      <p:sp>
        <p:nvSpPr>
          <p:cNvPr id="4" name="Flow arrow 1"/>
          <p:cNvSpPr/>
          <p:nvPr/>
        </p:nvSpPr>
        <p:spPr>
          <a:xfrm>
            <a:off x="3236976" y="1874520"/>
            <a:ext cx="28346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Flow 2"/>
          <p:cNvSpPr/>
          <p:nvPr/>
        </p:nvSpPr>
        <p:spPr>
          <a:xfrm>
            <a:off x="3538728" y="141732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8 features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Derived from the chosen parts</a:t>
            </a:r>
            <a:endParaRPr lang="en-US" sz="1600" dirty="0"/>
          </a:p>
        </p:txBody>
      </p:sp>
      <p:sp>
        <p:nvSpPr>
          <p:cNvPr id="6" name="Flow arrow 2"/>
          <p:cNvSpPr/>
          <p:nvPr/>
        </p:nvSpPr>
        <p:spPr>
          <a:xfrm>
            <a:off x="5934456" y="1874520"/>
            <a:ext cx="28346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Flow 3"/>
          <p:cNvSpPr/>
          <p:nvPr/>
        </p:nvSpPr>
        <p:spPr>
          <a:xfrm>
            <a:off x="6236208" y="141732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Saved pipeline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Scaler + encoder + Linear Regression</a:t>
            </a:r>
            <a:endParaRPr lang="en-US" sz="1600" dirty="0"/>
          </a:p>
        </p:txBody>
      </p:sp>
      <p:sp>
        <p:nvSpPr>
          <p:cNvPr id="8" name="Flow arrow 3"/>
          <p:cNvSpPr/>
          <p:nvPr/>
        </p:nvSpPr>
        <p:spPr>
          <a:xfrm>
            <a:off x="8631936" y="1874520"/>
            <a:ext cx="28346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Flow 4"/>
          <p:cNvSpPr/>
          <p:nvPr/>
        </p:nvSpPr>
        <p:spPr>
          <a:xfrm>
            <a:off x="8933688" y="141732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Score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0–1000 with tier label</a:t>
            </a:r>
            <a:endParaRPr lang="en-US" sz="1600" dirty="0"/>
          </a:p>
        </p:txBody>
      </p:sp>
      <p:sp>
        <p:nvSpPr>
          <p:cNvPr id="10" name="App note"/>
          <p:cNvSpPr txBox="1"/>
          <p:nvPr/>
        </p:nvSpPr>
        <p:spPr>
          <a:xfrm>
            <a:off x="841248" y="2468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One model is used for every prediction: Linear Regression, loaded from performance_model.joblib.</a:t>
            </a:r>
            <a:endParaRPr lang="en-US" sz="1400" dirty="0"/>
          </a:p>
        </p:txBody>
      </p:sp>
      <p:pic>
        <p:nvPicPr>
          <p:cNvPr id="11" name="Screenshot app builder" descr="Streamlit PC builder with parts selec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778" y="2926080"/>
            <a:ext cx="3497580" cy="3291840"/>
          </a:xfrm>
          <a:prstGeom prst="rect">
            <a:avLst/>
          </a:prstGeom>
        </p:spPr>
      </p:pic>
      <p:sp>
        <p:nvSpPr>
          <p:cNvPr id="12" name="Screenshot app builder frame"/>
          <p:cNvSpPr/>
          <p:nvPr/>
        </p:nvSpPr>
        <p:spPr>
          <a:xfrm>
            <a:off x="1652778" y="2926080"/>
            <a:ext cx="3497580" cy="3291840"/>
          </a:xfrm>
          <a:prstGeom prst="rect">
            <a:avLst/>
          </a:prstGeom>
          <a:ln w="9525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creenshot app builder caption"/>
          <p:cNvSpPr txBox="1"/>
          <p:nvPr/>
        </p:nvSpPr>
        <p:spPr>
          <a:xfrm>
            <a:off x="841248" y="6263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F7F7F"/>
                </a:solidFill>
              </a:rPr>
              <a:t>Part-by-part builder</a:t>
            </a:r>
            <a:endParaRPr lang="en-US" sz="1300" dirty="0"/>
          </a:p>
        </p:txBody>
      </p:sp>
      <p:pic>
        <p:nvPicPr>
          <p:cNvPr id="14" name="Screenshot app score" descr="Performance Score panel and sidebar metrics (R², MAE, RMS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565" y="2926080"/>
            <a:ext cx="4347925" cy="3291840"/>
          </a:xfrm>
          <a:prstGeom prst="rect">
            <a:avLst/>
          </a:prstGeom>
        </p:spPr>
      </p:pic>
      <p:sp>
        <p:nvSpPr>
          <p:cNvPr id="15" name="Screenshot app score frame"/>
          <p:cNvSpPr/>
          <p:nvPr/>
        </p:nvSpPr>
        <p:spPr>
          <a:xfrm>
            <a:off x="6622565" y="2926080"/>
            <a:ext cx="4347925" cy="3291840"/>
          </a:xfrm>
          <a:prstGeom prst="rect">
            <a:avLst/>
          </a:prstGeom>
          <a:ln w="9525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creenshot app score caption"/>
          <p:cNvSpPr txBox="1"/>
          <p:nvPr/>
        </p:nvSpPr>
        <p:spPr>
          <a:xfrm>
            <a:off x="6236208" y="6263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F7F7F"/>
                </a:solidFill>
              </a:rPr>
              <a:t>Live score and model metrics in the sidebar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What the Model Sees</a:t>
            </a:r>
            <a:endParaRPr lang="en-US" sz="2800" dirty="0"/>
          </a:p>
        </p:txBody>
      </p:sp>
      <p:pic>
        <p:nvPicPr>
          <p:cNvPr id="3" name="Screenshot app inputs" descr="“What the model sees” ta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570322"/>
            <a:ext cx="10515600" cy="3717357"/>
          </a:xfrm>
          <a:prstGeom prst="rect">
            <a:avLst/>
          </a:prstGeom>
        </p:spPr>
      </p:pic>
      <p:sp>
        <p:nvSpPr>
          <p:cNvPr id="4" name="Screenshot app inputs frame"/>
          <p:cNvSpPr/>
          <p:nvPr/>
        </p:nvSpPr>
        <p:spPr>
          <a:xfrm>
            <a:off x="841248" y="1570322"/>
            <a:ext cx="10515600" cy="3717357"/>
          </a:xfrm>
          <a:prstGeom prst="rect">
            <a:avLst/>
          </a:prstGeom>
          <a:ln w="9525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creenshot app inputs caption"/>
          <p:cNvSpPr txBox="1"/>
          <p:nvPr/>
        </p:nvSpPr>
        <p:spPr>
          <a:xfrm>
            <a:off x="841248" y="53492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F7F7F"/>
                </a:solidFill>
              </a:rPr>
              <a:t>The 8 model inputs, each derived from the chosen parts</a:t>
            </a:r>
            <a:endParaRPr lang="en-US" sz="1300" dirty="0"/>
          </a:p>
        </p:txBody>
      </p:sp>
      <p:sp>
        <p:nvSpPr>
          <p:cNvPr id="6" name="Inputs note"/>
          <p:cNvSpPr/>
          <p:nvPr/>
        </p:nvSpPr>
        <p:spPr>
          <a:xfrm>
            <a:off x="841248" y="5623560"/>
            <a:ext cx="10515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The pipeline scales the 7 numeric inputs, one-hot encodes OS, and Linear Regression returns the score.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Application Extras</a:t>
            </a:r>
            <a:endParaRPr lang="en-US" sz="2800" dirty="0"/>
          </a:p>
        </p:txBody>
      </p:sp>
      <p:pic>
        <p:nvPicPr>
          <p:cNvPr id="3" name="Screenshot compatibility" descr="Build check: compatibility errors / warnings, power and tempera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708030"/>
            <a:ext cx="2560320" cy="3441940"/>
          </a:xfrm>
          <a:prstGeom prst="rect">
            <a:avLst/>
          </a:prstGeom>
        </p:spPr>
      </p:pic>
      <p:sp>
        <p:nvSpPr>
          <p:cNvPr id="4" name="Screenshot compatibility frame"/>
          <p:cNvSpPr/>
          <p:nvPr/>
        </p:nvSpPr>
        <p:spPr>
          <a:xfrm>
            <a:off x="841248" y="1708030"/>
            <a:ext cx="2560320" cy="3441940"/>
          </a:xfrm>
          <a:prstGeom prst="rect">
            <a:avLst/>
          </a:prstGeom>
          <a:ln w="9525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creenshot compatibility caption"/>
          <p:cNvSpPr txBox="1"/>
          <p:nvPr/>
        </p:nvSpPr>
        <p:spPr>
          <a:xfrm>
            <a:off x="841248" y="5349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F7F7F"/>
                </a:solidFill>
              </a:rPr>
              <a:t>Build check (example: PSU headroom warning)</a:t>
            </a:r>
            <a:endParaRPr lang="en-US" sz="1300" dirty="0"/>
          </a:p>
        </p:txBody>
      </p:sp>
      <p:pic>
        <p:nvPicPr>
          <p:cNvPr id="6" name="Screenshot fps" descr="Game FPS ta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2048416"/>
            <a:ext cx="4754880" cy="2761167"/>
          </a:xfrm>
          <a:prstGeom prst="rect">
            <a:avLst/>
          </a:prstGeom>
        </p:spPr>
      </p:pic>
      <p:sp>
        <p:nvSpPr>
          <p:cNvPr id="7" name="Screenshot fps frame"/>
          <p:cNvSpPr/>
          <p:nvPr/>
        </p:nvSpPr>
        <p:spPr>
          <a:xfrm>
            <a:off x="3630168" y="2048416"/>
            <a:ext cx="4754880" cy="2761167"/>
          </a:xfrm>
          <a:prstGeom prst="rect">
            <a:avLst/>
          </a:prstGeom>
          <a:ln w="9525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creenshot fps caption"/>
          <p:cNvSpPr txBox="1"/>
          <p:nvPr/>
        </p:nvSpPr>
        <p:spPr>
          <a:xfrm>
            <a:off x="3630168" y="53492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F7F7F"/>
                </a:solidFill>
              </a:rPr>
              <a:t>Estimated game FPS</a:t>
            </a:r>
            <a:endParaRPr lang="en-US" sz="1300" dirty="0"/>
          </a:p>
        </p:txBody>
      </p:sp>
      <p:pic>
        <p:nvPicPr>
          <p:cNvPr id="9" name="Screenshot excel" descr="Downloaded Excel build repo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2544631"/>
            <a:ext cx="2743200" cy="1768739"/>
          </a:xfrm>
          <a:prstGeom prst="rect">
            <a:avLst/>
          </a:prstGeom>
        </p:spPr>
      </p:pic>
      <p:sp>
        <p:nvSpPr>
          <p:cNvPr id="10" name="Screenshot excel frame"/>
          <p:cNvSpPr/>
          <p:nvPr/>
        </p:nvSpPr>
        <p:spPr>
          <a:xfrm>
            <a:off x="8613648" y="2544631"/>
            <a:ext cx="2743200" cy="1768739"/>
          </a:xfrm>
          <a:prstGeom prst="rect">
            <a:avLst/>
          </a:prstGeom>
          <a:ln w="9525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creenshot excel caption"/>
          <p:cNvSpPr txBox="1"/>
          <p:nvPr/>
        </p:nvSpPr>
        <p:spPr>
          <a:xfrm>
            <a:off x="8613648" y="5349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F7F7F"/>
                </a:solidFill>
              </a:rPr>
              <a:t>Excel report export</a:t>
            </a:r>
            <a:endParaRPr lang="en-US" sz="1300" dirty="0"/>
          </a:p>
        </p:txBody>
      </p:sp>
      <p:sp>
        <p:nvSpPr>
          <p:cNvPr id="12" name="Extras note"/>
          <p:cNvSpPr/>
          <p:nvPr/>
        </p:nvSpPr>
        <p:spPr>
          <a:xfrm>
            <a:off x="841248" y="5792885"/>
            <a:ext cx="10515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Only the Performance Score comes from the ML model. Compatibility, power, temperature and FPS use rule-based formulas.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2194560" y="393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Summary card"/>
          <p:cNvSpPr/>
          <p:nvPr/>
        </p:nvSpPr>
        <p:spPr>
          <a:xfrm>
            <a:off x="841248" y="1554480"/>
            <a:ext cx="5102352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Summary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520 raw rows cleaned to 503 and fed to one leak-proof pipeline.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Nine models compared with 5-fold CV and a held-out test set.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Linear Regression chosen: Test R² 0.929, RMSE 44.1, MAE 33.8.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Deployed in the Streamlit app as the only model.</a:t>
            </a:r>
            <a:endParaRPr lang="en-US" sz="1900" dirty="0"/>
          </a:p>
        </p:txBody>
      </p:sp>
      <p:sp>
        <p:nvSpPr>
          <p:cNvPr id="4" name="Limits card"/>
          <p:cNvSpPr/>
          <p:nvPr/>
        </p:nvSpPr>
        <p:spPr>
          <a:xfrm>
            <a:off x="6254496" y="1554480"/>
            <a:ext cx="5102352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  <p:txBody>
          <a:bodyPr wrap="square" lIns="101600" tIns="152400" rIns="152400" bIns="7620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Limits &amp; Next Steps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Only 503 benchmark-style rows; real benchmarks would help.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Linear fit may miss interactions between parts.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Scores cap at 1000; inputs beyond the training ranges are clipped.</a:t>
            </a:r>
            <a:endParaRPr lang="en-US" sz="19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Next: more data, interaction features, drift monitoring.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2"/>
                </a:solidFill>
              </a:rPr>
              <a:t>One clean pipeline. Nine models compared. One model deployed.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480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1"/>
                </a:solidFill>
              </a:rPr>
              <a:t>Questions &amp; Discussion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1"/>
                </a:solidFill>
              </a:rPr>
              <a:t>Team No: 7  ·  Course Code: 241AI005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 Review Theme">
  <a:themeElements>
    <a:clrScheme name="AU Review Theme">
      <a:dk1>
        <a:srgbClr val="262626"/>
      </a:dk1>
      <a:lt1>
        <a:srgbClr val="FFFFFF"/>
      </a:lt1>
      <a:dk2>
        <a:srgbClr val="44546A"/>
      </a:dk2>
      <a:lt2>
        <a:srgbClr val="EAF3FB"/>
      </a:lt2>
      <a:accent1>
        <a:srgbClr val="0070C0"/>
      </a:accent1>
      <a:accent2>
        <a:srgbClr val="C00000"/>
      </a:accent2>
      <a:accent3>
        <a:srgbClr val="E8742C"/>
      </a:accent3>
      <a:accent4>
        <a:srgbClr val="2E8B57"/>
      </a:accent4>
      <a:accent5>
        <a:srgbClr val="7F7F7F"/>
      </a:accent5>
      <a:accent6>
        <a:srgbClr val="1F3A93"/>
      </a:accent6>
      <a:hlink>
        <a:srgbClr val="0070C0"/>
      </a:hlink>
      <a:folHlink>
        <a:srgbClr val="1F3A93"/>
      </a:folHlink>
    </a:clrScheme>
    <a:fontScheme name="AU Review Theme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ookman Old Sty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2054</Words>
  <Application>Microsoft Office PowerPoint</Application>
  <PresentationFormat>Widescreen</PresentationFormat>
  <Paragraphs>399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Arial</vt:lpstr>
      <vt:lpstr>AU Review Theme</vt:lpstr>
      <vt:lpstr>PowerPoint Presentation</vt:lpstr>
      <vt:lpstr>Project Scope &amp; Objectives</vt:lpstr>
      <vt:lpstr>Problem Statement</vt:lpstr>
      <vt:lpstr>Solution Approach</vt:lpstr>
      <vt:lpstr>Dataset Details</vt:lpstr>
      <vt:lpstr>Data Issues</vt:lpstr>
      <vt:lpstr>Preprocessing Output</vt:lpstr>
      <vt:lpstr>Cleaning Steps</vt:lpstr>
      <vt:lpstr>Scaling &amp; Encoding</vt:lpstr>
      <vt:lpstr>Candidate Models</vt:lpstr>
      <vt:lpstr>The Selected Model</vt:lpstr>
      <vt:lpstr>EDA: Distributions</vt:lpstr>
      <vt:lpstr>EDA: Score vs Specs</vt:lpstr>
      <vt:lpstr>Correlation Heatmap</vt:lpstr>
      <vt:lpstr>Training &amp; Tuning</vt:lpstr>
      <vt:lpstr>Model Comparison</vt:lpstr>
      <vt:lpstr>Choosing the Final Model</vt:lpstr>
      <vt:lpstr>Final Model Performance</vt:lpstr>
      <vt:lpstr>Feature Importance</vt:lpstr>
      <vt:lpstr>Bias–Variance Check</vt:lpstr>
      <vt:lpstr>Regularisation: Ridge Sweep</vt:lpstr>
      <vt:lpstr>Deployed Application</vt:lpstr>
      <vt:lpstr>What the Model Sees</vt:lpstr>
      <vt:lpstr>Application Extras</vt:lpstr>
      <vt:lpstr>Conclusion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 Performance Predictor - ML Project Review</dc:title>
  <dc:subject>PptxGenJS Presentation</dc:subject>
  <dc:creator>PptxGenJS</dc:creator>
  <cp:lastModifiedBy>Vijay Chikkala</cp:lastModifiedBy>
  <cp:revision>3</cp:revision>
  <dcterms:created xsi:type="dcterms:W3CDTF">2026-10-10T12:47:48Z</dcterms:created>
  <dcterms:modified xsi:type="dcterms:W3CDTF">2026-10-10T13:36:23Z</dcterms:modified>
</cp:coreProperties>
</file>