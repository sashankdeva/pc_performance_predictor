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eee79b-d4c4-cc06-c69c-f5008e31c16f}">
          <p14:sldIdLst>
            <p14:sldId id="256"/>
            <p14:sldId id="257"/>
          </p14:sldIdLst>
        </p14:section>
        <p14:section name="Problem &amp; Objectives" id="{0d2620cd-aef1-5f51-c0fb-21b285184803}">
          <p14:sldIdLst>
            <p14:sldId id="258"/>
            <p14:sldId id="259"/>
            <p14:sldId id="260"/>
            <p14:sldId id="261"/>
          </p14:sldIdLst>
        </p14:section>
        <p14:section name="Dataset &amp; Preprocessing" id="{64af0914-c918-f6df-801e-05bc28b85e74}">
          <p14:sldIdLst>
            <p14:sldId id="262"/>
            <p14:sldId id="263"/>
            <p14:sldId id="264"/>
            <p14:sldId id="265"/>
          </p14:sldIdLst>
        </p14:section>
        <p14:section name="Exploratory Analysis" id="{1440800a-20c2-40ef-2139-40719a0d4c3a}">
          <p14:sldIdLst>
            <p14:sldId id="266"/>
            <p14:sldId id="267"/>
            <p14:sldId id="268"/>
          </p14:sldIdLst>
        </p14:section>
        <p14:section name="Model Training &amp; Results" id="{57deaf82-ebea-ec6b-90cc-1efce17b7989}">
          <p14:sldIdLst>
            <p14:sldId id="269"/>
            <p14:sldId id="270"/>
            <p14:sldId id="271"/>
            <p14:sldId id="272"/>
            <p14:sldId id="273"/>
            <p14:sldId id="274"/>
            <p14:sldId id="275"/>
            <p14:sldId id="276"/>
          </p14:sldIdLst>
        </p14:section>
        <p14:section name="The PC Builder App" id="{7ca5dbae-8991-ddef-c852-65815fe8c0e2}">
          <p14:sldIdLst>
            <p14:sldId id="277"/>
            <p14:sldId id="278"/>
            <p14:sldId id="279"/>
            <p14:sldId id="280"/>
            <p14:sldId id="281"/>
            <p14:sldId id="282"/>
            <p14:sldId id="283"/>
            <p14:sldId id="284"/>
            <p14:sldId id="285"/>
            <p14:sldId id="286"/>
          </p14:sldIdLst>
        </p14:section>
        <p14:section name="Syllabus Mapping" id="{b108f8c6-f81e-f671-7ee8-56967c3fff7d}">
          <p14:sldIdLst>
            <p14:sldId id="287"/>
            <p14:sldId id="288"/>
            <p14:sldId id="289"/>
            <p14:sldId id="290"/>
          </p14:sldIdLst>
        </p14:section>
        <p14:section name="Limitations &amp; Future Scope" id="{666ff057-e3d4-49b5-d7e3-b0f1ba7aa424}">
          <p14:sldIdLst>
            <p14:sldId id="291"/>
            <p14:sldId id="292"/>
            <p14:sldId id="293"/>
          </p14:sldIdLst>
        </p14:section>
        <p14:section name="Conclusion" id="{00454ac3-d191-22a4-b8e3-605d10dbcceb}">
          <p14:sldIdLst>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Number of PCs per performance class</a:t>
            </a:r>
          </a:p>
        </c:rich>
      </c:tx>
      <c:layout/>
      <c:overlay val="0"/>
    </c:title>
    <c:autoTitleDeleted val="0"/>
    <c:plotArea>
      <c:layout/>
      <c:barChart>
        <c:barDir val="col"/>
        <c:grouping val="clustered"/>
        <c:varyColors val="0"/>
        <c:ser>
          <c:idx val="0"/>
          <c:order val="0"/>
          <c:tx>
            <c:strRef>
              <c:f>Sheet1!$B$1</c:f>
              <c:strCache>
                <c:ptCount val="1"/>
                <c:pt idx="0">
                  <c:v>PCs</c:v>
                </c:pt>
              </c:strCache>
            </c:strRef>
          </c:tx>
          <c:spPr>
            <a:solidFill>
              <a:srgbClr val="7C8796"/>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7C8796"/>
              </a:solidFill>
              <a:effectLst/>
            </c:spPr>
          </c:dPt>
          <c:dPt>
            <c:idx val="1"/>
            <c:invertIfNegative val="0"/>
            <c:bubble3D val="0"/>
            <c:spPr>
              <a:solidFill>
                <a:srgbClr val="FF5A36"/>
              </a:solidFill>
              <a:effectLst/>
            </c:spPr>
          </c:dPt>
          <c:dPt>
            <c:idx val="2"/>
            <c:invertIfNegative val="0"/>
            <c:bubble3D val="0"/>
            <c:spPr>
              <a:solidFill>
                <a:srgbClr val="14B8A6"/>
              </a:solidFill>
              <a:effectLst/>
            </c:spPr>
          </c:dPt>
          <c:dPt>
            <c:idx val="3"/>
            <c:invertIfNegative val="0"/>
            <c:bubble3D val="0"/>
            <c:spPr>
              <a:solidFill>
                <a:srgbClr val="6366F1"/>
              </a:solidFill>
              <a:effectLst/>
            </c:spPr>
          </c:dPt>
          <c:cat>
            <c:multiLvlStrRef>
              <c:f>Sheet1!$A$2:$A$5</c:f>
              <c:multiLvlStrCache>
                <c:ptCount val="4"/>
                <c:lvl>
                  <c:pt idx="0">
                    <c:v>Low</c:v>
                  </c:pt>
                  <c:pt idx="1">
                    <c:v>Medium</c:v>
                  </c:pt>
                  <c:pt idx="2">
                    <c:v>High</c:v>
                  </c:pt>
                  <c:pt idx="3">
                    <c:v>Very High</c:v>
                  </c:pt>
                </c:lvl>
              </c:multiLvlStrCache>
            </c:multiLvlStrRef>
          </c:cat>
          <c:val>
            <c:numRef>
              <c:f>Sheet1!$B$2:$B$5</c:f>
              <c:numCache>
                <c:formatCode>General</c:formatCode>
                <c:ptCount val="4"/>
                <c:pt idx="0">
                  <c:v>136</c:v>
                </c:pt>
                <c:pt idx="1">
                  <c:v>267</c:v>
                </c:pt>
                <c:pt idx="2">
                  <c:v>89</c:v>
                </c:pt>
                <c:pt idx="3">
                  <c:v>11</c:v>
                </c:pt>
              </c:numCache>
            </c:numRef>
          </c:val>
        </c:ser>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Correlation with Performance_Score</a:t>
            </a:r>
          </a:p>
        </c:rich>
      </c:tx>
      <c:layout/>
      <c:overlay val="0"/>
    </c:title>
    <c:autoTitleDeleted val="0"/>
    <c:plotArea>
      <c:layout/>
      <c:barChart>
        <c:barDir val="bar"/>
        <c:grouping val="clustered"/>
        <c:varyColors val="0"/>
        <c:ser>
          <c:idx val="0"/>
          <c:order val="0"/>
          <c:tx>
            <c:strRef>
              <c:f>Sheet1!$B$1</c:f>
              <c:strCache>
                <c:ptCount val="1"/>
                <c:pt idx="0">
                  <c:v>Correlation</c:v>
                </c:pt>
              </c:strCache>
            </c:strRef>
          </c:tx>
          <c:spPr>
            <a:solidFill>
              <a:srgbClr val="7C8796"/>
            </a:solidFill>
            <a:effectLst/>
          </c:spPr>
          <c:invertIfNegative val="0"/>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7C8796"/>
              </a:solidFill>
              <a:effectLst/>
            </c:spPr>
          </c:dPt>
          <c:dPt>
            <c:idx val="1"/>
            <c:invertIfNegative val="0"/>
            <c:bubble3D val="0"/>
            <c:spPr>
              <a:solidFill>
                <a:srgbClr val="7C8796"/>
              </a:solidFill>
              <a:effectLst/>
            </c:spPr>
          </c:dPt>
          <c:dPt>
            <c:idx val="2"/>
            <c:invertIfNegative val="0"/>
            <c:bubble3D val="0"/>
            <c:spPr>
              <a:solidFill>
                <a:srgbClr val="FF5A36"/>
              </a:solidFill>
              <a:effectLst/>
            </c:spPr>
          </c:dPt>
          <c:dPt>
            <c:idx val="3"/>
            <c:invertIfNegative val="0"/>
            <c:bubble3D val="0"/>
            <c:spPr>
              <a:solidFill>
                <a:srgbClr val="FF5A36"/>
              </a:solidFill>
              <a:effectLst/>
            </c:spPr>
          </c:dPt>
          <c:dPt>
            <c:idx val="4"/>
            <c:invertIfNegative val="0"/>
            <c:bubble3D val="0"/>
            <c:spPr>
              <a:solidFill>
                <a:srgbClr val="FF5A36"/>
              </a:solidFill>
              <a:effectLst/>
            </c:spPr>
          </c:dPt>
          <c:dPt>
            <c:idx val="5"/>
            <c:invertIfNegative val="0"/>
            <c:bubble3D val="0"/>
            <c:spPr>
              <a:solidFill>
                <a:srgbClr val="FF5A36"/>
              </a:solidFill>
              <a:effectLst/>
            </c:spPr>
          </c:dPt>
          <c:dPt>
            <c:idx val="6"/>
            <c:invertIfNegative val="0"/>
            <c:bubble3D val="0"/>
            <c:spPr>
              <a:solidFill>
                <a:srgbClr val="FF5A36"/>
              </a:solidFill>
              <a:effectLst/>
            </c:spPr>
          </c:dPt>
          <c:cat>
            <c:multiLvlStrRef>
              <c:f>Sheet1!$A$2:$A$8</c:f>
              <c:multiLvlStrCache>
                <c:ptCount val="7"/>
                <c:lvl>
                  <c:pt idx="0">
                    <c:v>Age_Years</c:v>
                  </c:pt>
                  <c:pt idx="1">
                    <c:v>Temperature_C</c:v>
                  </c:pt>
                  <c:pt idx="2">
                    <c:v>Storage_GB</c:v>
                  </c:pt>
                  <c:pt idx="3">
                    <c:v>Clock_GHz</c:v>
                  </c:pt>
                  <c:pt idx="4">
                    <c:v>GPU_Level</c:v>
                  </c:pt>
                  <c:pt idx="5">
                    <c:v>CPU_Cores</c:v>
                  </c:pt>
                  <c:pt idx="6">
                    <c:v>RAM_GB</c:v>
                  </c:pt>
                </c:lvl>
              </c:multiLvlStrCache>
            </c:multiLvlStrRef>
          </c:cat>
          <c:val>
            <c:numRef>
              <c:f>Sheet1!$B$2:$B$8</c:f>
              <c:numCache>
                <c:formatCode>General</c:formatCode>
                <c:ptCount val="7"/>
                <c:pt idx="0">
                  <c:v>-0.293</c:v>
                </c:pt>
                <c:pt idx="1">
                  <c:v>-0.136</c:v>
                </c:pt>
                <c:pt idx="2">
                  <c:v>0.134</c:v>
                </c:pt>
                <c:pt idx="3">
                  <c:v>0.334</c:v>
                </c:pt>
                <c:pt idx="4">
                  <c:v>0.443</c:v>
                </c:pt>
                <c:pt idx="5">
                  <c:v>0.491</c:v>
                </c:pt>
                <c:pt idx="6">
                  <c:v>0.543</c:v>
                </c:pt>
              </c:numCache>
            </c:numRef>
          </c:val>
        </c:ser>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0.7"/>
          <c:min val="-0.4"/>
        </c:scaling>
        <c:delete val="0"/>
        <c:axPos val="b"/>
        <c:majorGridlines>
          <c:spPr>
            <a:ln w="6350" cap="flat">
              <a:solidFill>
                <a:srgbClr val="E3E6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R² on training data vs unseen test data</a:t>
            </a:r>
          </a:p>
        </c:rich>
      </c:tx>
      <c:layout/>
      <c:overlay val="0"/>
    </c:title>
    <c:autoTitleDeleted val="0"/>
    <c:plotArea>
      <c:layout/>
      <c:barChart>
        <c:barDir val="col"/>
        <c:grouping val="clustered"/>
        <c:varyColors val="0"/>
        <c:ser>
          <c:idx val="0"/>
          <c:order val="0"/>
          <c:tx>
            <c:strRef>
              <c:f>Sheet1!$B$1</c:f>
              <c:strCache>
                <c:ptCount val="1"/>
                <c:pt idx="0">
                  <c:v>Training R²</c:v>
                </c:pt>
              </c:strCache>
            </c:strRef>
          </c:tx>
          <c:spPr>
            <a:solidFill>
              <a:schemeClr val="accent4"/>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cat>
            <c:multiLvlStrRef>
              <c:f>Sheet1!$A$2:$A$10</c:f>
              <c:multiLvlStrCache>
                <c:ptCount val="9"/>
                <c:lvl>
                  <c:pt idx="0">
                    <c:v>Linear Regression</c:v>
                  </c:pt>
                  <c:pt idx="1">
                    <c:v>Ridge</c:v>
                  </c:pt>
                  <c:pt idx="2">
                    <c:v>SVR</c:v>
                  </c:pt>
                  <c:pt idx="3">
                    <c:v>Gradient Boosting</c:v>
                  </c:pt>
                  <c:pt idx="4">
                    <c:v>Bagging</c:v>
                  </c:pt>
                  <c:pt idx="5">
                    <c:v>Random Forest</c:v>
                  </c:pt>
                  <c:pt idx="6">
                    <c:v>KNN</c:v>
                  </c:pt>
                  <c:pt idx="7">
                    <c:v>AdaBoost</c:v>
                  </c:pt>
                  <c:pt idx="8">
                    <c:v>Decision Tree</c:v>
                  </c:pt>
                </c:lvl>
              </c:multiLvlStrCache>
            </c:multiLvlStrRef>
          </c:cat>
          <c:val>
            <c:numRef>
              <c:f>Sheet1!$B$2:$B$10</c:f>
              <c:numCache>
                <c:formatCode>General</c:formatCode>
                <c:ptCount val="9"/>
                <c:pt idx="0">
                  <c:v>0.92</c:v>
                </c:pt>
                <c:pt idx="1">
                  <c:v>0.92</c:v>
                </c:pt>
                <c:pt idx="2">
                  <c:v>0.919</c:v>
                </c:pt>
                <c:pt idx="3">
                  <c:v>0.958</c:v>
                </c:pt>
                <c:pt idx="4">
                  <c:v>0.974</c:v>
                </c:pt>
                <c:pt idx="5">
                  <c:v>0.975</c:v>
                </c:pt>
                <c:pt idx="6">
                  <c:v>1</c:v>
                </c:pt>
                <c:pt idx="7">
                  <c:v>0.904</c:v>
                </c:pt>
                <c:pt idx="8">
                  <c:v>0.873</c:v>
                </c:pt>
              </c:numCache>
            </c:numRef>
          </c:val>
        </c:ser>
        <c:ser>
          <c:idx val="1"/>
          <c:order val="1"/>
          <c:tx>
            <c:strRef>
              <c:f>Sheet1!$C$1</c:f>
              <c:strCache>
                <c:ptCount val="1"/>
                <c:pt idx="0">
                  <c:v>Test R²</c:v>
                </c:pt>
              </c:strCache>
            </c:strRef>
          </c:tx>
          <c:spPr>
            <a:solidFill>
              <a:schemeClr val="accent1"/>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cat>
            <c:multiLvlStrRef>
              <c:f>Sheet1!$A$2:$A$10</c:f>
              <c:multiLvlStrCache>
                <c:ptCount val="9"/>
                <c:lvl>
                  <c:pt idx="0">
                    <c:v>Linear Regression</c:v>
                  </c:pt>
                  <c:pt idx="1">
                    <c:v>Ridge</c:v>
                  </c:pt>
                  <c:pt idx="2">
                    <c:v>SVR</c:v>
                  </c:pt>
                  <c:pt idx="3">
                    <c:v>Gradient Boosting</c:v>
                  </c:pt>
                  <c:pt idx="4">
                    <c:v>Bagging</c:v>
                  </c:pt>
                  <c:pt idx="5">
                    <c:v>Random Forest</c:v>
                  </c:pt>
                  <c:pt idx="6">
                    <c:v>KNN</c:v>
                  </c:pt>
                  <c:pt idx="7">
                    <c:v>AdaBoost</c:v>
                  </c:pt>
                  <c:pt idx="8">
                    <c:v>Decision Tree</c:v>
                  </c:pt>
                </c:lvl>
              </c:multiLvlStrCache>
            </c:multiLvlStrRef>
          </c:cat>
          <c:val>
            <c:numRef>
              <c:f>Sheet1!$C$2:$C$10</c:f>
              <c:numCache>
                <c:formatCode>General</c:formatCode>
                <c:ptCount val="9"/>
                <c:pt idx="0">
                  <c:v>0.929</c:v>
                </c:pt>
                <c:pt idx="1">
                  <c:v>0.929</c:v>
                </c:pt>
                <c:pt idx="2">
                  <c:v>0.929</c:v>
                </c:pt>
                <c:pt idx="3">
                  <c:v>0.871</c:v>
                </c:pt>
                <c:pt idx="4">
                  <c:v>0.822</c:v>
                </c:pt>
                <c:pt idx="5">
                  <c:v>0.819</c:v>
                </c:pt>
                <c:pt idx="6">
                  <c:v>0.798</c:v>
                </c:pt>
                <c:pt idx="7">
                  <c:v>0.763</c:v>
                </c:pt>
                <c:pt idx="8">
                  <c:v>0.672</c:v>
                </c:pt>
              </c:numCache>
            </c:numRef>
          </c:val>
        </c:ser>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6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Ridge: cross-validation RMSE vs penalty strength (alpha)</a:t>
            </a:r>
          </a:p>
        </c:rich>
      </c:tx>
      <c:layout/>
      <c:overlay val="0"/>
    </c:title>
    <c:autoTitleDeleted val="0"/>
    <c:plotArea>
      <c:layout/>
      <c:lineChart>
        <c:varyColors val="0"/>
        <c:ser>
          <c:idx val="0"/>
          <c:order val="0"/>
          <c:tx>
            <c:strRef>
              <c:f>Sheet1!$B$1</c:f>
              <c:strCache>
                <c:ptCount val="1"/>
                <c:pt idx="0">
                  <c:v>CV RMSE</c:v>
                </c:pt>
              </c:strCache>
            </c:strRef>
          </c:tx>
          <c:spPr>
            <a:solidFill>
              <a:schemeClr val="accent1"/>
            </a:solidFill>
            <a:ln w="38100" cap="flat">
              <a:solidFill>
                <a:schemeClr val="accent1"/>
              </a:solidFill>
              <a:prstDash val="solid"/>
              <a:round/>
            </a:ln>
            <a:effectLst/>
          </c:spPr>
          <c:invertIfNegative val="0"/>
          <c:dLbls>
            <c:numFmt formatCode="0" sourceLinked="0"/>
            <c:txPr>
              <a:bodyPr/>
              <a:lstStyle/>
              <a:p>
                <a:pPr>
                  <a:defRPr b="0" i="0" strike="noStrike" sz="1100" u="none">
                    <a:solidFill>
                      <a:schemeClr val="tx1"/>
                    </a:solidFill>
                    <a:latin typeface="+mn-lt"/>
                  </a:defRPr>
                </a:pPr>
              </a:p>
            </c:txPr>
            <c:dLblPos val="t"/>
            <c:showLegendKey val="0"/>
            <c:showVal val="1"/>
            <c:showCatName val="0"/>
            <c:showSerName val="0"/>
            <c:showPercent val="0"/>
            <c:showBubbleSize val="0"/>
            <c:showLeaderLines val="0"/>
          </c:dLbls>
          <c:marker>
            <c:symbol val="circle"/>
            <c:size val="8"/>
            <c:spPr>
              <a:solidFill>
                <a:schemeClr val="accent1"/>
              </a:solidFill>
              <a:ln w="9525" cap="flat">
                <a:solidFill>
                  <a:schemeClr val="accent1"/>
                </a:solidFill>
                <a:prstDash val="solid"/>
                <a:round/>
              </a:ln>
              <a:effectLst/>
            </c:spPr>
          </c:marker>
          <c:cat>
            <c:multiLvlStrRef>
              <c:f>Sheet1!$A$2:$A$8</c:f>
              <c:multiLvlStrCache>
                <c:ptCount val="7"/>
                <c:lvl>
                  <c:pt idx="0">
                    <c:v>0.01</c:v>
                  </c:pt>
                  <c:pt idx="1">
                    <c:v>0.1</c:v>
                  </c:pt>
                  <c:pt idx="2">
                    <c:v>1</c:v>
                  </c:pt>
                  <c:pt idx="3">
                    <c:v>10</c:v>
                  </c:pt>
                  <c:pt idx="4">
                    <c:v>100</c:v>
                  </c:pt>
                  <c:pt idx="5">
                    <c:v>1000</c:v>
                  </c:pt>
                  <c:pt idx="6">
                    <c:v>10000</c:v>
                  </c:pt>
                </c:lvl>
              </c:multiLvlStrCache>
            </c:multiLvlStrRef>
          </c:cat>
          <c:val>
            <c:numRef>
              <c:f>Sheet1!$B$2:$B$8</c:f>
              <c:numCache>
                <c:formatCode>General</c:formatCode>
                <c:ptCount val="7"/>
                <c:pt idx="0">
                  <c:v>47.88</c:v>
                </c:pt>
                <c:pt idx="1">
                  <c:v>47.88</c:v>
                </c:pt>
                <c:pt idx="2">
                  <c:v>47.89</c:v>
                </c:pt>
                <c:pt idx="3">
                  <c:v>48.17</c:v>
                </c:pt>
                <c:pt idx="4">
                  <c:v>60.69</c:v>
                </c:pt>
                <c:pt idx="5">
                  <c:v>128.11</c:v>
                </c:pt>
                <c:pt idx="6">
                  <c:v>160.31</c:v>
                </c:pt>
              </c:numCache>
            </c:numRef>
          </c:val>
          <c:smooth val="0"/>
        </c:ser>
        <c:dLbls>
          <c:numFmt formatCode="0" sourceLinked="0"/>
          <c:txPr>
            <a:bodyPr/>
            <a:lstStyle/>
            <a:p>
              <a:pPr>
                <a:defRPr b="0" i="0" strike="noStrike" sz="1100" u="none">
                  <a:solidFill>
                    <a:schemeClr val="tx1"/>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chemeClr val="tx2"/>
                    </a:solidFill>
                    <a:latin typeface="+mn-lt"/>
                  </a:defRPr>
                </a:pPr>
                <a:r>
                  <a:rPr sz="1200" b="0" i="0" u="none" strike="noStrike">
                    <a:solidFill>
                      <a:schemeClr val="tx2"/>
                    </a:solidFill>
                    <a:latin typeface="+mn-lt"/>
                  </a:rPr>
                  <a:t>alpha (L2 penalty)</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180"/>
          <c:min val="0"/>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Actual vs predicted score (101 test PCs)</a:t>
            </a:r>
          </a:p>
        </c:rich>
      </c:tx>
      <c:layout/>
      <c:overlay val="0"/>
    </c:title>
    <c:autoTitleDeleted val="0"/>
    <c:plotArea>
      <c:layout/>
      <c:scatterChart>
        <c:scatterStyle val="lineMarker"/>
        <c:varyColors val="0"/>
        <c:ser>
          <c:idx val="0"/>
          <c:order val="0"/>
          <c:tx>
            <c:strRef>
              <c:f>Sheet1!$B$1</c:f>
              <c:strCache>
                <c:ptCount val="1"/>
                <c:pt idx="0">
                  <c:v>Perfect prediction</c:v>
                </c:pt>
              </c:strCache>
            </c:strRef>
          </c:tx>
          <c:spPr>
            <a:solidFill>
              <a:srgbClr val="7C8796"/>
            </a:solidFill>
            <a:ln>
              <a:noFill/>
            </a:ln>
            <a:effectLst/>
          </c:spPr>
          <c:marker>
            <c:symbol val="circle"/>
            <c:size val="7"/>
            <c:spPr>
              <a:solidFill>
                <a:srgbClr val="7C8796"/>
              </a:solidFill>
              <a:ln w="9525" cap="flat">
                <a:solidFill>
                  <a:srgbClr val="7C8796"/>
                </a:solidFill>
                <a:prstDash val="solid"/>
                <a:round/>
              </a:ln>
              <a:effectLst/>
            </c:spPr>
          </c:marker>
          <c:xVal>
            <c:numRef>
              <c:f>Sheet1!$A$2:$A$102</c:f>
              <c:numCache>
                <c:formatCode>General</c:formatCode>
                <c:ptCount val="101"/>
                <c:pt idx="0">
                  <c:v>377.1</c:v>
                </c:pt>
                <c:pt idx="1">
                  <c:v>768.7</c:v>
                </c:pt>
                <c:pt idx="2">
                  <c:v>491.7</c:v>
                </c:pt>
                <c:pt idx="3">
                  <c:v>536</c:v>
                </c:pt>
                <c:pt idx="4">
                  <c:v>502.8</c:v>
                </c:pt>
                <c:pt idx="5">
                  <c:v>525.2</c:v>
                </c:pt>
                <c:pt idx="6">
                  <c:v>446.1</c:v>
                </c:pt>
                <c:pt idx="7">
                  <c:v>578.3</c:v>
                </c:pt>
                <c:pt idx="8">
                  <c:v>361.9</c:v>
                </c:pt>
                <c:pt idx="9">
                  <c:v>414.7</c:v>
                </c:pt>
                <c:pt idx="10">
                  <c:v>288.2</c:v>
                </c:pt>
                <c:pt idx="11">
                  <c:v>362.4</c:v>
                </c:pt>
                <c:pt idx="12">
                  <c:v>618.2</c:v>
                </c:pt>
                <c:pt idx="13">
                  <c:v>406.2</c:v>
                </c:pt>
                <c:pt idx="14">
                  <c:v>889</c:v>
                </c:pt>
                <c:pt idx="15">
                  <c:v>683.5</c:v>
                </c:pt>
                <c:pt idx="16">
                  <c:v>247.1</c:v>
                </c:pt>
                <c:pt idx="17">
                  <c:v>602</c:v>
                </c:pt>
                <c:pt idx="18">
                  <c:v>538.2</c:v>
                </c:pt>
                <c:pt idx="19">
                  <c:v>216.2</c:v>
                </c:pt>
                <c:pt idx="20">
                  <c:v>597.2</c:v>
                </c:pt>
                <c:pt idx="21">
                  <c:v>653.1</c:v>
                </c:pt>
                <c:pt idx="22">
                  <c:v>620.8</c:v>
                </c:pt>
                <c:pt idx="23">
                  <c:v>590.7</c:v>
                </c:pt>
                <c:pt idx="24">
                  <c:v>649.9</c:v>
                </c:pt>
                <c:pt idx="25">
                  <c:v>509.5</c:v>
                </c:pt>
                <c:pt idx="26">
                  <c:v>628.8</c:v>
                </c:pt>
                <c:pt idx="27">
                  <c:v>425.9</c:v>
                </c:pt>
                <c:pt idx="28">
                  <c:v>420.5</c:v>
                </c:pt>
                <c:pt idx="29">
                  <c:v>462.4</c:v>
                </c:pt>
                <c:pt idx="30">
                  <c:v>535.4</c:v>
                </c:pt>
                <c:pt idx="31">
                  <c:v>593.6</c:v>
                </c:pt>
                <c:pt idx="32">
                  <c:v>521</c:v>
                </c:pt>
                <c:pt idx="33">
                  <c:v>547.3</c:v>
                </c:pt>
                <c:pt idx="34">
                  <c:v>343.9</c:v>
                </c:pt>
                <c:pt idx="35">
                  <c:v>264</c:v>
                </c:pt>
                <c:pt idx="36">
                  <c:v>278.9</c:v>
                </c:pt>
                <c:pt idx="37">
                  <c:v>434.2</c:v>
                </c:pt>
                <c:pt idx="38">
                  <c:v>527.2</c:v>
                </c:pt>
                <c:pt idx="39">
                  <c:v>781.8</c:v>
                </c:pt>
                <c:pt idx="40">
                  <c:v>548.3</c:v>
                </c:pt>
                <c:pt idx="41">
                  <c:v>359.3</c:v>
                </c:pt>
                <c:pt idx="42">
                  <c:v>385.2</c:v>
                </c:pt>
                <c:pt idx="43">
                  <c:v>612.2</c:v>
                </c:pt>
                <c:pt idx="44">
                  <c:v>611</c:v>
                </c:pt>
                <c:pt idx="45">
                  <c:v>421.1</c:v>
                </c:pt>
                <c:pt idx="46">
                  <c:v>232.2</c:v>
                </c:pt>
                <c:pt idx="47">
                  <c:v>582.9</c:v>
                </c:pt>
                <c:pt idx="48">
                  <c:v>480.4</c:v>
                </c:pt>
                <c:pt idx="49">
                  <c:v>308.6</c:v>
                </c:pt>
                <c:pt idx="50">
                  <c:v>249.9</c:v>
                </c:pt>
                <c:pt idx="51">
                  <c:v>446.6</c:v>
                </c:pt>
                <c:pt idx="52">
                  <c:v>235.1</c:v>
                </c:pt>
                <c:pt idx="53">
                  <c:v>763.9</c:v>
                </c:pt>
                <c:pt idx="54">
                  <c:v>684.7</c:v>
                </c:pt>
                <c:pt idx="55">
                  <c:v>584.6</c:v>
                </c:pt>
                <c:pt idx="56">
                  <c:v>661.4</c:v>
                </c:pt>
                <c:pt idx="57">
                  <c:v>468.7</c:v>
                </c:pt>
                <c:pt idx="58">
                  <c:v>470.2</c:v>
                </c:pt>
                <c:pt idx="59">
                  <c:v>907.2</c:v>
                </c:pt>
                <c:pt idx="60">
                  <c:v>448.4</c:v>
                </c:pt>
                <c:pt idx="61">
                  <c:v>578.6</c:v>
                </c:pt>
                <c:pt idx="62">
                  <c:v>567.8</c:v>
                </c:pt>
                <c:pt idx="63">
                  <c:v>501.4</c:v>
                </c:pt>
                <c:pt idx="64">
                  <c:v>476.1</c:v>
                </c:pt>
                <c:pt idx="65">
                  <c:v>808.4</c:v>
                </c:pt>
                <c:pt idx="66">
                  <c:v>478.8</c:v>
                </c:pt>
                <c:pt idx="67">
                  <c:v>374.6</c:v>
                </c:pt>
                <c:pt idx="68">
                  <c:v>156.5</c:v>
                </c:pt>
                <c:pt idx="69">
                  <c:v>647.8</c:v>
                </c:pt>
                <c:pt idx="70">
                  <c:v>606.9</c:v>
                </c:pt>
                <c:pt idx="71">
                  <c:v>621.1</c:v>
                </c:pt>
                <c:pt idx="72">
                  <c:v>380.2</c:v>
                </c:pt>
                <c:pt idx="73">
                  <c:v>740.9</c:v>
                </c:pt>
                <c:pt idx="74">
                  <c:v>770</c:v>
                </c:pt>
                <c:pt idx="75">
                  <c:v>650.8</c:v>
                </c:pt>
                <c:pt idx="76">
                  <c:v>184</c:v>
                </c:pt>
                <c:pt idx="77">
                  <c:v>359.4</c:v>
                </c:pt>
                <c:pt idx="78">
                  <c:v>307.8</c:v>
                </c:pt>
                <c:pt idx="79">
                  <c:v>704.8</c:v>
                </c:pt>
                <c:pt idx="80">
                  <c:v>319.2</c:v>
                </c:pt>
                <c:pt idx="81">
                  <c:v>767.2</c:v>
                </c:pt>
                <c:pt idx="82">
                  <c:v>740.8</c:v>
                </c:pt>
                <c:pt idx="83">
                  <c:v>207.8</c:v>
                </c:pt>
                <c:pt idx="84">
                  <c:v>515.3</c:v>
                </c:pt>
                <c:pt idx="85">
                  <c:v>727.6</c:v>
                </c:pt>
                <c:pt idx="86">
                  <c:v>616.2</c:v>
                </c:pt>
                <c:pt idx="87">
                  <c:v>412.4</c:v>
                </c:pt>
                <c:pt idx="88">
                  <c:v>425</c:v>
                </c:pt>
                <c:pt idx="89">
                  <c:v>550.3</c:v>
                </c:pt>
                <c:pt idx="90">
                  <c:v>477.6</c:v>
                </c:pt>
                <c:pt idx="91">
                  <c:v>554.7</c:v>
                </c:pt>
                <c:pt idx="92">
                  <c:v>475.6</c:v>
                </c:pt>
                <c:pt idx="93">
                  <c:v>353.7</c:v>
                </c:pt>
                <c:pt idx="94">
                  <c:v>270.2</c:v>
                </c:pt>
                <c:pt idx="95">
                  <c:v>614.6</c:v>
                </c:pt>
                <c:pt idx="96">
                  <c:v>878.9</c:v>
                </c:pt>
                <c:pt idx="97">
                  <c:v>520.2</c:v>
                </c:pt>
                <c:pt idx="98">
                  <c:v>358.5</c:v>
                </c:pt>
                <c:pt idx="99">
                  <c:v>631.6</c:v>
                </c:pt>
                <c:pt idx="100">
                  <c:v>479.5</c:v>
                </c:pt>
              </c:numCache>
            </c:numRef>
          </c:xVal>
          <c:yVal>
            <c:numRef>
              <c:f>Sheet1!$B$2:$B$102</c:f>
              <c:numCache>
                <c:formatCode>General</c:formatCode>
                <c:ptCount val="101"/>
                <c:pt idx="0">
                  <c:v>377.1</c:v>
                </c:pt>
                <c:pt idx="1">
                  <c:v>768.7</c:v>
                </c:pt>
                <c:pt idx="2">
                  <c:v>491.7</c:v>
                </c:pt>
                <c:pt idx="3">
                  <c:v>536</c:v>
                </c:pt>
                <c:pt idx="4">
                  <c:v>502.8</c:v>
                </c:pt>
                <c:pt idx="5">
                  <c:v>525.2</c:v>
                </c:pt>
                <c:pt idx="6">
                  <c:v>446.1</c:v>
                </c:pt>
                <c:pt idx="7">
                  <c:v>578.3</c:v>
                </c:pt>
                <c:pt idx="8">
                  <c:v>361.9</c:v>
                </c:pt>
                <c:pt idx="9">
                  <c:v>414.7</c:v>
                </c:pt>
                <c:pt idx="10">
                  <c:v>288.2</c:v>
                </c:pt>
                <c:pt idx="11">
                  <c:v>362.4</c:v>
                </c:pt>
                <c:pt idx="12">
                  <c:v>618.2</c:v>
                </c:pt>
                <c:pt idx="13">
                  <c:v>406.2</c:v>
                </c:pt>
                <c:pt idx="14">
                  <c:v>889</c:v>
                </c:pt>
                <c:pt idx="15">
                  <c:v>683.5</c:v>
                </c:pt>
                <c:pt idx="16">
                  <c:v>247.1</c:v>
                </c:pt>
                <c:pt idx="17">
                  <c:v>602</c:v>
                </c:pt>
                <c:pt idx="18">
                  <c:v>538.2</c:v>
                </c:pt>
                <c:pt idx="19">
                  <c:v>216.2</c:v>
                </c:pt>
                <c:pt idx="20">
                  <c:v>597.2</c:v>
                </c:pt>
                <c:pt idx="21">
                  <c:v>653.1</c:v>
                </c:pt>
                <c:pt idx="22">
                  <c:v>620.8</c:v>
                </c:pt>
                <c:pt idx="23">
                  <c:v>590.7</c:v>
                </c:pt>
                <c:pt idx="24">
                  <c:v>649.9</c:v>
                </c:pt>
                <c:pt idx="25">
                  <c:v>509.5</c:v>
                </c:pt>
                <c:pt idx="26">
                  <c:v>628.8</c:v>
                </c:pt>
                <c:pt idx="27">
                  <c:v>425.9</c:v>
                </c:pt>
                <c:pt idx="28">
                  <c:v>420.5</c:v>
                </c:pt>
                <c:pt idx="29">
                  <c:v>462.4</c:v>
                </c:pt>
                <c:pt idx="30">
                  <c:v>535.4</c:v>
                </c:pt>
                <c:pt idx="31">
                  <c:v>593.6</c:v>
                </c:pt>
                <c:pt idx="32">
                  <c:v>521</c:v>
                </c:pt>
                <c:pt idx="33">
                  <c:v>547.3</c:v>
                </c:pt>
                <c:pt idx="34">
                  <c:v>343.9</c:v>
                </c:pt>
                <c:pt idx="35">
                  <c:v>264</c:v>
                </c:pt>
                <c:pt idx="36">
                  <c:v>278.9</c:v>
                </c:pt>
                <c:pt idx="37">
                  <c:v>434.2</c:v>
                </c:pt>
                <c:pt idx="38">
                  <c:v>527.2</c:v>
                </c:pt>
                <c:pt idx="39">
                  <c:v>781.8</c:v>
                </c:pt>
                <c:pt idx="40">
                  <c:v>548.3</c:v>
                </c:pt>
                <c:pt idx="41">
                  <c:v>359.3</c:v>
                </c:pt>
                <c:pt idx="42">
                  <c:v>385.2</c:v>
                </c:pt>
                <c:pt idx="43">
                  <c:v>612.2</c:v>
                </c:pt>
                <c:pt idx="44">
                  <c:v>611</c:v>
                </c:pt>
                <c:pt idx="45">
                  <c:v>421.1</c:v>
                </c:pt>
                <c:pt idx="46">
                  <c:v>232.2</c:v>
                </c:pt>
                <c:pt idx="47">
                  <c:v>582.9</c:v>
                </c:pt>
                <c:pt idx="48">
                  <c:v>480.4</c:v>
                </c:pt>
                <c:pt idx="49">
                  <c:v>308.6</c:v>
                </c:pt>
                <c:pt idx="50">
                  <c:v>249.9</c:v>
                </c:pt>
                <c:pt idx="51">
                  <c:v>446.6</c:v>
                </c:pt>
                <c:pt idx="52">
                  <c:v>235.1</c:v>
                </c:pt>
                <c:pt idx="53">
                  <c:v>763.9</c:v>
                </c:pt>
                <c:pt idx="54">
                  <c:v>684.7</c:v>
                </c:pt>
                <c:pt idx="55">
                  <c:v>584.6</c:v>
                </c:pt>
                <c:pt idx="56">
                  <c:v>661.4</c:v>
                </c:pt>
                <c:pt idx="57">
                  <c:v>468.7</c:v>
                </c:pt>
                <c:pt idx="58">
                  <c:v>470.2</c:v>
                </c:pt>
                <c:pt idx="59">
                  <c:v>907.2</c:v>
                </c:pt>
                <c:pt idx="60">
                  <c:v>448.4</c:v>
                </c:pt>
                <c:pt idx="61">
                  <c:v>578.6</c:v>
                </c:pt>
                <c:pt idx="62">
                  <c:v>567.8</c:v>
                </c:pt>
                <c:pt idx="63">
                  <c:v>501.4</c:v>
                </c:pt>
                <c:pt idx="64">
                  <c:v>476.1</c:v>
                </c:pt>
                <c:pt idx="65">
                  <c:v>808.4</c:v>
                </c:pt>
                <c:pt idx="66">
                  <c:v>478.8</c:v>
                </c:pt>
                <c:pt idx="67">
                  <c:v>374.6</c:v>
                </c:pt>
                <c:pt idx="68">
                  <c:v>156.5</c:v>
                </c:pt>
                <c:pt idx="69">
                  <c:v>647.8</c:v>
                </c:pt>
                <c:pt idx="70">
                  <c:v>606.9</c:v>
                </c:pt>
                <c:pt idx="71">
                  <c:v>621.1</c:v>
                </c:pt>
                <c:pt idx="72">
                  <c:v>380.2</c:v>
                </c:pt>
                <c:pt idx="73">
                  <c:v>740.9</c:v>
                </c:pt>
                <c:pt idx="74">
                  <c:v>770</c:v>
                </c:pt>
                <c:pt idx="75">
                  <c:v>650.8</c:v>
                </c:pt>
                <c:pt idx="76">
                  <c:v>184</c:v>
                </c:pt>
                <c:pt idx="77">
                  <c:v>359.4</c:v>
                </c:pt>
                <c:pt idx="78">
                  <c:v>307.8</c:v>
                </c:pt>
                <c:pt idx="79">
                  <c:v>704.8</c:v>
                </c:pt>
                <c:pt idx="80">
                  <c:v>319.2</c:v>
                </c:pt>
                <c:pt idx="81">
                  <c:v>767.2</c:v>
                </c:pt>
                <c:pt idx="82">
                  <c:v>740.8</c:v>
                </c:pt>
                <c:pt idx="83">
                  <c:v>207.8</c:v>
                </c:pt>
                <c:pt idx="84">
                  <c:v>515.3</c:v>
                </c:pt>
                <c:pt idx="85">
                  <c:v>727.6</c:v>
                </c:pt>
                <c:pt idx="86">
                  <c:v>616.2</c:v>
                </c:pt>
                <c:pt idx="87">
                  <c:v>412.4</c:v>
                </c:pt>
                <c:pt idx="88">
                  <c:v>425</c:v>
                </c:pt>
                <c:pt idx="89">
                  <c:v>550.3</c:v>
                </c:pt>
                <c:pt idx="90">
                  <c:v>477.6</c:v>
                </c:pt>
                <c:pt idx="91">
                  <c:v>554.7</c:v>
                </c:pt>
                <c:pt idx="92">
                  <c:v>475.6</c:v>
                </c:pt>
                <c:pt idx="93">
                  <c:v>353.7</c:v>
                </c:pt>
                <c:pt idx="94">
                  <c:v>270.2</c:v>
                </c:pt>
                <c:pt idx="95">
                  <c:v>614.6</c:v>
                </c:pt>
                <c:pt idx="96">
                  <c:v>878.9</c:v>
                </c:pt>
                <c:pt idx="97">
                  <c:v>520.2</c:v>
                </c:pt>
                <c:pt idx="98">
                  <c:v>358.5</c:v>
                </c:pt>
                <c:pt idx="99">
                  <c:v>631.6</c:v>
                </c:pt>
                <c:pt idx="100">
                  <c:v>479.5</c:v>
                </c:pt>
              </c:numCache>
            </c:numRef>
          </c:yVal>
          <c:smooth val="0"/>
        </c:ser>
        <c:ser>
          <c:idx val="1"/>
          <c:order val="1"/>
          <c:tx>
            <c:strRef>
              <c:f>Sheet1!$C$1</c:f>
              <c:strCache>
                <c:ptCount val="1"/>
                <c:pt idx="0">
                  <c:v>Predicted score</c:v>
                </c:pt>
              </c:strCache>
            </c:strRef>
          </c:tx>
          <c:spPr>
            <a:solidFill>
              <a:srgbClr val="FF5A36"/>
            </a:solidFill>
            <a:ln>
              <a:noFill/>
            </a:ln>
            <a:effectLst/>
          </c:spPr>
          <c:marker>
            <c:symbol val="circle"/>
            <c:size val="7"/>
            <c:spPr>
              <a:solidFill>
                <a:srgbClr val="FF5A36"/>
              </a:solidFill>
              <a:ln w="9525" cap="flat">
                <a:solidFill>
                  <a:srgbClr val="FF5A36"/>
                </a:solidFill>
                <a:prstDash val="solid"/>
                <a:round/>
              </a:ln>
              <a:effectLst/>
            </c:spPr>
          </c:marker>
          <c:xVal>
            <c:numRef>
              <c:f>Sheet1!$A$2:$A$102</c:f>
              <c:numCache>
                <c:formatCode>General</c:formatCode>
                <c:ptCount val="101"/>
                <c:pt idx="0">
                  <c:v>377.1</c:v>
                </c:pt>
                <c:pt idx="1">
                  <c:v>768.7</c:v>
                </c:pt>
                <c:pt idx="2">
                  <c:v>491.7</c:v>
                </c:pt>
                <c:pt idx="3">
                  <c:v>536</c:v>
                </c:pt>
                <c:pt idx="4">
                  <c:v>502.8</c:v>
                </c:pt>
                <c:pt idx="5">
                  <c:v>525.2</c:v>
                </c:pt>
                <c:pt idx="6">
                  <c:v>446.1</c:v>
                </c:pt>
                <c:pt idx="7">
                  <c:v>578.3</c:v>
                </c:pt>
                <c:pt idx="8">
                  <c:v>361.9</c:v>
                </c:pt>
                <c:pt idx="9">
                  <c:v>414.7</c:v>
                </c:pt>
                <c:pt idx="10">
                  <c:v>288.2</c:v>
                </c:pt>
                <c:pt idx="11">
                  <c:v>362.4</c:v>
                </c:pt>
                <c:pt idx="12">
                  <c:v>618.2</c:v>
                </c:pt>
                <c:pt idx="13">
                  <c:v>406.2</c:v>
                </c:pt>
                <c:pt idx="14">
                  <c:v>889</c:v>
                </c:pt>
                <c:pt idx="15">
                  <c:v>683.5</c:v>
                </c:pt>
                <c:pt idx="16">
                  <c:v>247.1</c:v>
                </c:pt>
                <c:pt idx="17">
                  <c:v>602</c:v>
                </c:pt>
                <c:pt idx="18">
                  <c:v>538.2</c:v>
                </c:pt>
                <c:pt idx="19">
                  <c:v>216.2</c:v>
                </c:pt>
                <c:pt idx="20">
                  <c:v>597.2</c:v>
                </c:pt>
                <c:pt idx="21">
                  <c:v>653.1</c:v>
                </c:pt>
                <c:pt idx="22">
                  <c:v>620.8</c:v>
                </c:pt>
                <c:pt idx="23">
                  <c:v>590.7</c:v>
                </c:pt>
                <c:pt idx="24">
                  <c:v>649.9</c:v>
                </c:pt>
                <c:pt idx="25">
                  <c:v>509.5</c:v>
                </c:pt>
                <c:pt idx="26">
                  <c:v>628.8</c:v>
                </c:pt>
                <c:pt idx="27">
                  <c:v>425.9</c:v>
                </c:pt>
                <c:pt idx="28">
                  <c:v>420.5</c:v>
                </c:pt>
                <c:pt idx="29">
                  <c:v>462.4</c:v>
                </c:pt>
                <c:pt idx="30">
                  <c:v>535.4</c:v>
                </c:pt>
                <c:pt idx="31">
                  <c:v>593.6</c:v>
                </c:pt>
                <c:pt idx="32">
                  <c:v>521</c:v>
                </c:pt>
                <c:pt idx="33">
                  <c:v>547.3</c:v>
                </c:pt>
                <c:pt idx="34">
                  <c:v>343.9</c:v>
                </c:pt>
                <c:pt idx="35">
                  <c:v>264</c:v>
                </c:pt>
                <c:pt idx="36">
                  <c:v>278.9</c:v>
                </c:pt>
                <c:pt idx="37">
                  <c:v>434.2</c:v>
                </c:pt>
                <c:pt idx="38">
                  <c:v>527.2</c:v>
                </c:pt>
                <c:pt idx="39">
                  <c:v>781.8</c:v>
                </c:pt>
                <c:pt idx="40">
                  <c:v>548.3</c:v>
                </c:pt>
                <c:pt idx="41">
                  <c:v>359.3</c:v>
                </c:pt>
                <c:pt idx="42">
                  <c:v>385.2</c:v>
                </c:pt>
                <c:pt idx="43">
                  <c:v>612.2</c:v>
                </c:pt>
                <c:pt idx="44">
                  <c:v>611</c:v>
                </c:pt>
                <c:pt idx="45">
                  <c:v>421.1</c:v>
                </c:pt>
                <c:pt idx="46">
                  <c:v>232.2</c:v>
                </c:pt>
                <c:pt idx="47">
                  <c:v>582.9</c:v>
                </c:pt>
                <c:pt idx="48">
                  <c:v>480.4</c:v>
                </c:pt>
                <c:pt idx="49">
                  <c:v>308.6</c:v>
                </c:pt>
                <c:pt idx="50">
                  <c:v>249.9</c:v>
                </c:pt>
                <c:pt idx="51">
                  <c:v>446.6</c:v>
                </c:pt>
                <c:pt idx="52">
                  <c:v>235.1</c:v>
                </c:pt>
                <c:pt idx="53">
                  <c:v>763.9</c:v>
                </c:pt>
                <c:pt idx="54">
                  <c:v>684.7</c:v>
                </c:pt>
                <c:pt idx="55">
                  <c:v>584.6</c:v>
                </c:pt>
                <c:pt idx="56">
                  <c:v>661.4</c:v>
                </c:pt>
                <c:pt idx="57">
                  <c:v>468.7</c:v>
                </c:pt>
                <c:pt idx="58">
                  <c:v>470.2</c:v>
                </c:pt>
                <c:pt idx="59">
                  <c:v>907.2</c:v>
                </c:pt>
                <c:pt idx="60">
                  <c:v>448.4</c:v>
                </c:pt>
                <c:pt idx="61">
                  <c:v>578.6</c:v>
                </c:pt>
                <c:pt idx="62">
                  <c:v>567.8</c:v>
                </c:pt>
                <c:pt idx="63">
                  <c:v>501.4</c:v>
                </c:pt>
                <c:pt idx="64">
                  <c:v>476.1</c:v>
                </c:pt>
                <c:pt idx="65">
                  <c:v>808.4</c:v>
                </c:pt>
                <c:pt idx="66">
                  <c:v>478.8</c:v>
                </c:pt>
                <c:pt idx="67">
                  <c:v>374.6</c:v>
                </c:pt>
                <c:pt idx="68">
                  <c:v>156.5</c:v>
                </c:pt>
                <c:pt idx="69">
                  <c:v>647.8</c:v>
                </c:pt>
                <c:pt idx="70">
                  <c:v>606.9</c:v>
                </c:pt>
                <c:pt idx="71">
                  <c:v>621.1</c:v>
                </c:pt>
                <c:pt idx="72">
                  <c:v>380.2</c:v>
                </c:pt>
                <c:pt idx="73">
                  <c:v>740.9</c:v>
                </c:pt>
                <c:pt idx="74">
                  <c:v>770</c:v>
                </c:pt>
                <c:pt idx="75">
                  <c:v>650.8</c:v>
                </c:pt>
                <c:pt idx="76">
                  <c:v>184</c:v>
                </c:pt>
                <c:pt idx="77">
                  <c:v>359.4</c:v>
                </c:pt>
                <c:pt idx="78">
                  <c:v>307.8</c:v>
                </c:pt>
                <c:pt idx="79">
                  <c:v>704.8</c:v>
                </c:pt>
                <c:pt idx="80">
                  <c:v>319.2</c:v>
                </c:pt>
                <c:pt idx="81">
                  <c:v>767.2</c:v>
                </c:pt>
                <c:pt idx="82">
                  <c:v>740.8</c:v>
                </c:pt>
                <c:pt idx="83">
                  <c:v>207.8</c:v>
                </c:pt>
                <c:pt idx="84">
                  <c:v>515.3</c:v>
                </c:pt>
                <c:pt idx="85">
                  <c:v>727.6</c:v>
                </c:pt>
                <c:pt idx="86">
                  <c:v>616.2</c:v>
                </c:pt>
                <c:pt idx="87">
                  <c:v>412.4</c:v>
                </c:pt>
                <c:pt idx="88">
                  <c:v>425</c:v>
                </c:pt>
                <c:pt idx="89">
                  <c:v>550.3</c:v>
                </c:pt>
                <c:pt idx="90">
                  <c:v>477.6</c:v>
                </c:pt>
                <c:pt idx="91">
                  <c:v>554.7</c:v>
                </c:pt>
                <c:pt idx="92">
                  <c:v>475.6</c:v>
                </c:pt>
                <c:pt idx="93">
                  <c:v>353.7</c:v>
                </c:pt>
                <c:pt idx="94">
                  <c:v>270.2</c:v>
                </c:pt>
                <c:pt idx="95">
                  <c:v>614.6</c:v>
                </c:pt>
                <c:pt idx="96">
                  <c:v>878.9</c:v>
                </c:pt>
                <c:pt idx="97">
                  <c:v>520.2</c:v>
                </c:pt>
                <c:pt idx="98">
                  <c:v>358.5</c:v>
                </c:pt>
                <c:pt idx="99">
                  <c:v>631.6</c:v>
                </c:pt>
                <c:pt idx="100">
                  <c:v>479.5</c:v>
                </c:pt>
              </c:numCache>
            </c:numRef>
          </c:xVal>
          <c:yVal>
            <c:numRef>
              <c:f>Sheet1!$C$2:$C$102</c:f>
              <c:numCache>
                <c:formatCode>General</c:formatCode>
                <c:ptCount val="101"/>
                <c:pt idx="0">
                  <c:v>488.8</c:v>
                </c:pt>
                <c:pt idx="1">
                  <c:v>757.3</c:v>
                </c:pt>
                <c:pt idx="2">
                  <c:v>508.9</c:v>
                </c:pt>
                <c:pt idx="3">
                  <c:v>496.8</c:v>
                </c:pt>
                <c:pt idx="4">
                  <c:v>536.9</c:v>
                </c:pt>
                <c:pt idx="5">
                  <c:v>422</c:v>
                </c:pt>
                <c:pt idx="6">
                  <c:v>492.3</c:v>
                </c:pt>
                <c:pt idx="7">
                  <c:v>537.5</c:v>
                </c:pt>
                <c:pt idx="8">
                  <c:v>370.8</c:v>
                </c:pt>
                <c:pt idx="9">
                  <c:v>382</c:v>
                </c:pt>
                <c:pt idx="10">
                  <c:v>250.7</c:v>
                </c:pt>
                <c:pt idx="11">
                  <c:v>391.5</c:v>
                </c:pt>
                <c:pt idx="12">
                  <c:v>611</c:v>
                </c:pt>
                <c:pt idx="13">
                  <c:v>464.2</c:v>
                </c:pt>
                <c:pt idx="14">
                  <c:v>860.8</c:v>
                </c:pt>
                <c:pt idx="15">
                  <c:v>692.6</c:v>
                </c:pt>
                <c:pt idx="16">
                  <c:v>235.7</c:v>
                </c:pt>
                <c:pt idx="17">
                  <c:v>648.2</c:v>
                </c:pt>
                <c:pt idx="18">
                  <c:v>568.5</c:v>
                </c:pt>
                <c:pt idx="19">
                  <c:v>243.3</c:v>
                </c:pt>
                <c:pt idx="20">
                  <c:v>598.3</c:v>
                </c:pt>
                <c:pt idx="21">
                  <c:v>654.5</c:v>
                </c:pt>
                <c:pt idx="22">
                  <c:v>609.9</c:v>
                </c:pt>
                <c:pt idx="23">
                  <c:v>590.3</c:v>
                </c:pt>
                <c:pt idx="24">
                  <c:v>624.8</c:v>
                </c:pt>
                <c:pt idx="25">
                  <c:v>541.3</c:v>
                </c:pt>
                <c:pt idx="26">
                  <c:v>617.4</c:v>
                </c:pt>
                <c:pt idx="27">
                  <c:v>412.2</c:v>
                </c:pt>
                <c:pt idx="28">
                  <c:v>513</c:v>
                </c:pt>
                <c:pt idx="29">
                  <c:v>477.8</c:v>
                </c:pt>
                <c:pt idx="30">
                  <c:v>488</c:v>
                </c:pt>
                <c:pt idx="31">
                  <c:v>603.9</c:v>
                </c:pt>
                <c:pt idx="32">
                  <c:v>474.4</c:v>
                </c:pt>
                <c:pt idx="33">
                  <c:v>541.2</c:v>
                </c:pt>
                <c:pt idx="34">
                  <c:v>327.8</c:v>
                </c:pt>
                <c:pt idx="35">
                  <c:v>310.2</c:v>
                </c:pt>
                <c:pt idx="36">
                  <c:v>318.1</c:v>
                </c:pt>
                <c:pt idx="37">
                  <c:v>320.2</c:v>
                </c:pt>
                <c:pt idx="38">
                  <c:v>490.4</c:v>
                </c:pt>
                <c:pt idx="39">
                  <c:v>824.1</c:v>
                </c:pt>
                <c:pt idx="40">
                  <c:v>438.5</c:v>
                </c:pt>
                <c:pt idx="41">
                  <c:v>346.8</c:v>
                </c:pt>
                <c:pt idx="42">
                  <c:v>370.8</c:v>
                </c:pt>
                <c:pt idx="43">
                  <c:v>561.5</c:v>
                </c:pt>
                <c:pt idx="44">
                  <c:v>646</c:v>
                </c:pt>
                <c:pt idx="45">
                  <c:v>445.1</c:v>
                </c:pt>
                <c:pt idx="46">
                  <c:v>338.2</c:v>
                </c:pt>
                <c:pt idx="47">
                  <c:v>558.8</c:v>
                </c:pt>
                <c:pt idx="48">
                  <c:v>511.4</c:v>
                </c:pt>
                <c:pt idx="49">
                  <c:v>340.8</c:v>
                </c:pt>
                <c:pt idx="50">
                  <c:v>240.7</c:v>
                </c:pt>
                <c:pt idx="51">
                  <c:v>494.8</c:v>
                </c:pt>
                <c:pt idx="52">
                  <c:v>321.3</c:v>
                </c:pt>
                <c:pt idx="53">
                  <c:v>745.5</c:v>
                </c:pt>
                <c:pt idx="54">
                  <c:v>628.9</c:v>
                </c:pt>
                <c:pt idx="55">
                  <c:v>534.2</c:v>
                </c:pt>
                <c:pt idx="56">
                  <c:v>600.3</c:v>
                </c:pt>
                <c:pt idx="57">
                  <c:v>518.2</c:v>
                </c:pt>
                <c:pt idx="58">
                  <c:v>506.5</c:v>
                </c:pt>
                <c:pt idx="59">
                  <c:v>879.1</c:v>
                </c:pt>
                <c:pt idx="60">
                  <c:v>409.9</c:v>
                </c:pt>
                <c:pt idx="61">
                  <c:v>563.1</c:v>
                </c:pt>
                <c:pt idx="62">
                  <c:v>631.6</c:v>
                </c:pt>
                <c:pt idx="63">
                  <c:v>520.1</c:v>
                </c:pt>
                <c:pt idx="64">
                  <c:v>436.3</c:v>
                </c:pt>
                <c:pt idx="65">
                  <c:v>721.9</c:v>
                </c:pt>
                <c:pt idx="66">
                  <c:v>464.6</c:v>
                </c:pt>
                <c:pt idx="67">
                  <c:v>421.4</c:v>
                </c:pt>
                <c:pt idx="68">
                  <c:v>185.5</c:v>
                </c:pt>
                <c:pt idx="69">
                  <c:v>654.2</c:v>
                </c:pt>
                <c:pt idx="70">
                  <c:v>573.4</c:v>
                </c:pt>
                <c:pt idx="71">
                  <c:v>603.5</c:v>
                </c:pt>
                <c:pt idx="72">
                  <c:v>406.9</c:v>
                </c:pt>
                <c:pt idx="73">
                  <c:v>772.3</c:v>
                </c:pt>
                <c:pt idx="74">
                  <c:v>839.7</c:v>
                </c:pt>
                <c:pt idx="75">
                  <c:v>648.6</c:v>
                </c:pt>
                <c:pt idx="76">
                  <c:v>179.1</c:v>
                </c:pt>
                <c:pt idx="77">
                  <c:v>358.4</c:v>
                </c:pt>
                <c:pt idx="78">
                  <c:v>371.8</c:v>
                </c:pt>
                <c:pt idx="79">
                  <c:v>563.4</c:v>
                </c:pt>
                <c:pt idx="80">
                  <c:v>370.5</c:v>
                </c:pt>
                <c:pt idx="81">
                  <c:v>763.7</c:v>
                </c:pt>
                <c:pt idx="82">
                  <c:v>722.5</c:v>
                </c:pt>
                <c:pt idx="83">
                  <c:v>211.5</c:v>
                </c:pt>
                <c:pt idx="84">
                  <c:v>502.7</c:v>
                </c:pt>
                <c:pt idx="85">
                  <c:v>752.9</c:v>
                </c:pt>
                <c:pt idx="86">
                  <c:v>647.8</c:v>
                </c:pt>
                <c:pt idx="87">
                  <c:v>472</c:v>
                </c:pt>
                <c:pt idx="88">
                  <c:v>400</c:v>
                </c:pt>
                <c:pt idx="89">
                  <c:v>594</c:v>
                </c:pt>
                <c:pt idx="90">
                  <c:v>472.2</c:v>
                </c:pt>
                <c:pt idx="91">
                  <c:v>566.6</c:v>
                </c:pt>
                <c:pt idx="92">
                  <c:v>491.9</c:v>
                </c:pt>
                <c:pt idx="93">
                  <c:v>363.2</c:v>
                </c:pt>
                <c:pt idx="94">
                  <c:v>294</c:v>
                </c:pt>
                <c:pt idx="95">
                  <c:v>605.1</c:v>
                </c:pt>
                <c:pt idx="96">
                  <c:v>864.4</c:v>
                </c:pt>
                <c:pt idx="97">
                  <c:v>549.6</c:v>
                </c:pt>
                <c:pt idx="98">
                  <c:v>367.3</c:v>
                </c:pt>
                <c:pt idx="99">
                  <c:v>647.4</c:v>
                </c:pt>
                <c:pt idx="100">
                  <c:v>505.5</c:v>
                </c:pt>
              </c:numCache>
            </c:numRef>
          </c:yVal>
          <c:smooth val="0"/>
        </c:ser>
        <c:dLbls>
          <c:numFmt formatCode="General"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000"/>
          <c:min val="0"/>
        </c:scaling>
        <c:delete val="0"/>
        <c:axPos val="b"/>
        <c:majorGridlines>
          <c:spPr>
            <a:ln w="6350" cap="flat">
              <a:solidFill>
                <a:srgbClr val="E3E6EB"/>
              </a:solidFill>
              <a:prstDash val="solid"/>
              <a:round/>
            </a:ln>
          </c:spPr>
        </c:majorGridlines>
        <c:title>
          <c:tx>
            <c:rich>
              <a:bodyPr/>
              <a:lstStyle/>
              <a:p>
                <a:pPr>
                  <a:defRPr sz="1200" b="0" i="0" u="none" strike="noStrike">
                    <a:solidFill>
                      <a:schemeClr val="tx2"/>
                    </a:solidFill>
                    <a:latin typeface="+mn-lt"/>
                  </a:defRPr>
                </a:pPr>
                <a:r>
                  <a:rPr sz="1200" b="0" i="0" u="none" strike="noStrike">
                    <a:solidFill>
                      <a:schemeClr val="tx2"/>
                    </a:solidFill>
                    <a:latin typeface="+mn-lt"/>
                  </a:rPr>
                  <a:t>Actual</a:t>
                </a:r>
              </a:p>
            </c:rich>
          </c:tx>
          <c:layout/>
          <c:overlay val="0"/>
        </c:title>
        <c:numFmt formatCode="General" sourceLinked="1"/>
        <c:majorTickMark val="none"/>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valAx>
      <c:valAx>
        <c:axId val="2094734552"/>
        <c:scaling>
          <c:orientation val="minMax"/>
          <c:max val="1000"/>
          <c:min val="0"/>
        </c:scaling>
        <c:delete val="0"/>
        <c:axPos val="l"/>
        <c:majorGridlines>
          <c:spPr>
            <a:ln w="6350" cap="flat">
              <a:solidFill>
                <a:srgbClr val="E3E6EB"/>
              </a:solidFill>
              <a:prstDash val="solid"/>
              <a:round/>
            </a:ln>
          </c:spPr>
        </c:majorGridlines>
        <c:title>
          <c:tx>
            <c:rich>
              <a:bodyPr/>
              <a:lstStyle/>
              <a:p>
                <a:pPr>
                  <a:defRPr sz="1200" b="0" i="0" u="none" strike="noStrike">
                    <a:solidFill>
                      <a:schemeClr val="tx2"/>
                    </a:solidFill>
                    <a:latin typeface="+mn-lt"/>
                  </a:defRPr>
                </a:pPr>
                <a:r>
                  <a:rPr sz="1200" b="0" i="0" u="none" strike="noStrike">
                    <a:solidFill>
                      <a:schemeClr val="tx2"/>
                    </a:solidFill>
                    <a:latin typeface="+mn-lt"/>
                  </a:rPr>
                  <a:t>Predicted</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Score change per +1 standard deviation</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7C8796"/>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7C8796"/>
              </a:solidFill>
              <a:effectLst/>
            </c:spPr>
          </c:dPt>
          <c:dPt>
            <c:idx val="1"/>
            <c:invertIfNegative val="0"/>
            <c:bubble3D val="0"/>
            <c:spPr>
              <a:solidFill>
                <a:srgbClr val="7C8796"/>
              </a:solidFill>
              <a:effectLst/>
            </c:spPr>
          </c:dPt>
          <c:dPt>
            <c:idx val="2"/>
            <c:invertIfNegative val="0"/>
            <c:bubble3D val="0"/>
            <c:spPr>
              <a:solidFill>
                <a:srgbClr val="7C8796"/>
              </a:solidFill>
              <a:effectLst/>
            </c:spPr>
          </c:dPt>
          <c:dPt>
            <c:idx val="3"/>
            <c:invertIfNegative val="0"/>
            <c:bubble3D val="0"/>
            <c:spPr>
              <a:solidFill>
                <a:srgbClr val="FF5A36"/>
              </a:solidFill>
              <a:effectLst/>
            </c:spPr>
          </c:dPt>
          <c:dPt>
            <c:idx val="4"/>
            <c:invertIfNegative val="0"/>
            <c:bubble3D val="0"/>
            <c:spPr>
              <a:solidFill>
                <a:srgbClr val="FF5A36"/>
              </a:solidFill>
              <a:effectLst/>
            </c:spPr>
          </c:dPt>
          <c:dPt>
            <c:idx val="5"/>
            <c:invertIfNegative val="0"/>
            <c:bubble3D val="0"/>
            <c:spPr>
              <a:solidFill>
                <a:srgbClr val="FF5A36"/>
              </a:solidFill>
              <a:effectLst/>
            </c:spPr>
          </c:dPt>
          <c:dPt>
            <c:idx val="6"/>
            <c:invertIfNegative val="0"/>
            <c:bubble3D val="0"/>
            <c:spPr>
              <a:solidFill>
                <a:srgbClr val="FF5A36"/>
              </a:solidFill>
              <a:effectLst/>
            </c:spPr>
          </c:dPt>
          <c:dPt>
            <c:idx val="7"/>
            <c:invertIfNegative val="0"/>
            <c:bubble3D val="0"/>
            <c:spPr>
              <a:solidFill>
                <a:srgbClr val="FF5A36"/>
              </a:solidFill>
              <a:effectLst/>
            </c:spPr>
          </c:dPt>
          <c:cat>
            <c:multiLvlStrRef>
              <c:f>Sheet1!$A$2:$A$9</c:f>
              <c:multiLvlStrCache>
                <c:ptCount val="8"/>
                <c:lvl>
                  <c:pt idx="0">
                    <c:v>Age_Years</c:v>
                  </c:pt>
                  <c:pt idx="1">
                    <c:v>Temperature_C</c:v>
                  </c:pt>
                  <c:pt idx="2">
                    <c:v>OS: Linux vs Windows</c:v>
                  </c:pt>
                  <c:pt idx="3">
                    <c:v>Storage_GB</c:v>
                  </c:pt>
                  <c:pt idx="4">
                    <c:v>Clock_GHz</c:v>
                  </c:pt>
                  <c:pt idx="5">
                    <c:v>GPU_Level</c:v>
                  </c:pt>
                  <c:pt idx="6">
                    <c:v>CPU_Cores</c:v>
                  </c:pt>
                  <c:pt idx="7">
                    <c:v>RAM_GB</c:v>
                  </c:pt>
                </c:lvl>
              </c:multiLvlStrCache>
            </c:multiLvlStrRef>
          </c:cat>
          <c:val>
            <c:numRef>
              <c:f>Sheet1!$B$2:$B$9</c:f>
              <c:numCache>
                <c:formatCode>General</c:formatCode>
                <c:ptCount val="8"/>
                <c:pt idx="0">
                  <c:v>-43.2</c:v>
                </c:pt>
                <c:pt idx="1">
                  <c:v>-19.9</c:v>
                </c:pt>
                <c:pt idx="2">
                  <c:v>-5.4</c:v>
                </c:pt>
                <c:pt idx="3">
                  <c:v>20.5</c:v>
                </c:pt>
                <c:pt idx="4">
                  <c:v>48.8</c:v>
                </c:pt>
                <c:pt idx="5">
                  <c:v>62.6</c:v>
                </c:pt>
                <c:pt idx="6">
                  <c:v>78.4</c:v>
                </c:pt>
                <c:pt idx="7">
                  <c:v>94.5</c:v>
                </c:pt>
              </c:numCache>
            </c:numRef>
          </c:val>
        </c:ser>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120"/>
          <c:min val="-60"/>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Estimated FPS at 1440p, High settings</a:t>
            </a:r>
          </a:p>
        </c:rich>
      </c:tx>
      <c:layout/>
      <c:overlay val="0"/>
    </c:title>
    <c:autoTitleDeleted val="0"/>
    <c:plotArea>
      <c:layout/>
      <c:barChart>
        <c:barDir val="col"/>
        <c:grouping val="clustered"/>
        <c:varyColors val="0"/>
        <c:ser>
          <c:idx val="0"/>
          <c:order val="0"/>
          <c:tx>
            <c:strRef>
              <c:f>Sheet1!$B$1</c:f>
              <c:strCache>
                <c:ptCount val="1"/>
                <c:pt idx="0">
                  <c:v>GTX 1650 + Ryzen 5 5600</c:v>
                </c:pt>
              </c:strCache>
            </c:strRef>
          </c:tx>
          <c:spPr>
            <a:solidFill>
              <a:schemeClr val="accent4"/>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cat>
            <c:multiLvlStrRef>
              <c:f>Sheet1!$A$2:$A$6</c:f>
              <c:multiLvlStrCache>
                <c:ptCount val="5"/>
                <c:lvl>
                  <c:pt idx="0">
                    <c:v>Cyberpunk 2077</c:v>
                  </c:pt>
                  <c:pt idx="1">
                    <c:v>Red Dead Redemption 2</c:v>
                  </c:pt>
                  <c:pt idx="2">
                    <c:v>Warzone</c:v>
                  </c:pt>
                  <c:pt idx="3">
                    <c:v>Fortnite</c:v>
                  </c:pt>
                  <c:pt idx="4">
                    <c:v>Apex Legends</c:v>
                  </c:pt>
                </c:lvl>
              </c:multiLvlStrCache>
            </c:multiLvlStrRef>
          </c:cat>
          <c:val>
            <c:numRef>
              <c:f>Sheet1!$B$2:$B$6</c:f>
              <c:numCache>
                <c:formatCode>General</c:formatCode>
                <c:ptCount val="5"/>
                <c:pt idx="0">
                  <c:v>16</c:v>
                </c:pt>
                <c:pt idx="1">
                  <c:v>19</c:v>
                </c:pt>
                <c:pt idx="2">
                  <c:v>24</c:v>
                </c:pt>
                <c:pt idx="3">
                  <c:v>27</c:v>
                </c:pt>
                <c:pt idx="4">
                  <c:v>44</c:v>
                </c:pt>
              </c:numCache>
            </c:numRef>
          </c:val>
        </c:ser>
        <c:ser>
          <c:idx val="1"/>
          <c:order val="1"/>
          <c:tx>
            <c:strRef>
              <c:f>Sheet1!$C$1</c:f>
              <c:strCache>
                <c:ptCount val="1"/>
                <c:pt idx="0">
                  <c:v>RTX 4060 + Ryzen 5 7600</c:v>
                </c:pt>
              </c:strCache>
            </c:strRef>
          </c:tx>
          <c:spPr>
            <a:solidFill>
              <a:schemeClr val="accent2"/>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cat>
            <c:multiLvlStrRef>
              <c:f>Sheet1!$A$2:$A$6</c:f>
              <c:multiLvlStrCache>
                <c:ptCount val="5"/>
                <c:lvl>
                  <c:pt idx="0">
                    <c:v>Cyberpunk 2077</c:v>
                  </c:pt>
                  <c:pt idx="1">
                    <c:v>Red Dead Redemption 2</c:v>
                  </c:pt>
                  <c:pt idx="2">
                    <c:v>Warzone</c:v>
                  </c:pt>
                  <c:pt idx="3">
                    <c:v>Fortnite</c:v>
                  </c:pt>
                  <c:pt idx="4">
                    <c:v>Apex Legends</c:v>
                  </c:pt>
                </c:lvl>
              </c:multiLvlStrCache>
            </c:multiLvlStrRef>
          </c:cat>
          <c:val>
            <c:numRef>
              <c:f>Sheet1!$C$2:$C$6</c:f>
              <c:numCache>
                <c:formatCode>General</c:formatCode>
                <c:ptCount val="5"/>
                <c:pt idx="0">
                  <c:v>45</c:v>
                </c:pt>
                <c:pt idx="1">
                  <c:v>52</c:v>
                </c:pt>
                <c:pt idx="2">
                  <c:v>68</c:v>
                </c:pt>
                <c:pt idx="3">
                  <c:v>77</c:v>
                </c:pt>
                <c:pt idx="4">
                  <c:v>122</c:v>
                </c:pt>
              </c:numCache>
            </c:numRef>
          </c:val>
        </c:ser>
        <c:ser>
          <c:idx val="2"/>
          <c:order val="2"/>
          <c:tx>
            <c:strRef>
              <c:f>Sheet1!$D$1</c:f>
              <c:strCache>
                <c:ptCount val="1"/>
                <c:pt idx="0">
                  <c:v>RTX 4070 SUPER + 7800X3D</c:v>
                </c:pt>
              </c:strCache>
            </c:strRef>
          </c:tx>
          <c:spPr>
            <a:solidFill>
              <a:schemeClr val="accent1"/>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cat>
            <c:multiLvlStrRef>
              <c:f>Sheet1!$A$2:$A$6</c:f>
              <c:multiLvlStrCache>
                <c:ptCount val="5"/>
                <c:lvl>
                  <c:pt idx="0">
                    <c:v>Cyberpunk 2077</c:v>
                  </c:pt>
                  <c:pt idx="1">
                    <c:v>Red Dead Redemption 2</c:v>
                  </c:pt>
                  <c:pt idx="2">
                    <c:v>Warzone</c:v>
                  </c:pt>
                  <c:pt idx="3">
                    <c:v>Fortnite</c:v>
                  </c:pt>
                  <c:pt idx="4">
                    <c:v>Apex Legends</c:v>
                  </c:pt>
                </c:lvl>
              </c:multiLvlStrCache>
            </c:multiLvlStrRef>
          </c:cat>
          <c:val>
            <c:numRef>
              <c:f>Sheet1!$D$2:$D$6</c:f>
              <c:numCache>
                <c:formatCode>General</c:formatCode>
                <c:ptCount val="5"/>
                <c:pt idx="0">
                  <c:v>83</c:v>
                </c:pt>
                <c:pt idx="1">
                  <c:v>95</c:v>
                </c:pt>
                <c:pt idx="2">
                  <c:v>125</c:v>
                </c:pt>
                <c:pt idx="3">
                  <c:v>143</c:v>
                </c:pt>
                <c:pt idx="4">
                  <c:v>214</c:v>
                </c:pt>
              </c:numCache>
            </c:numRef>
          </c:val>
        </c:ser>
        <c:ser>
          <c:idx val="3"/>
          <c:order val="3"/>
          <c:tx>
            <c:strRef>
              <c:f>Sheet1!$E$1</c:f>
              <c:strCache>
                <c:ptCount val="1"/>
                <c:pt idx="0">
                  <c:v>RTX 5090 + 9800X3D</c:v>
                </c:pt>
              </c:strCache>
            </c:strRef>
          </c:tx>
          <c:spPr>
            <a:solidFill>
              <a:schemeClr val="tx1"/>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cat>
            <c:multiLvlStrRef>
              <c:f>Sheet1!$A$2:$A$6</c:f>
              <c:multiLvlStrCache>
                <c:ptCount val="5"/>
                <c:lvl>
                  <c:pt idx="0">
                    <c:v>Cyberpunk 2077</c:v>
                  </c:pt>
                  <c:pt idx="1">
                    <c:v>Red Dead Redemption 2</c:v>
                  </c:pt>
                  <c:pt idx="2">
                    <c:v>Warzone</c:v>
                  </c:pt>
                  <c:pt idx="3">
                    <c:v>Fortnite</c:v>
                  </c:pt>
                  <c:pt idx="4">
                    <c:v>Apex Legends</c:v>
                  </c:pt>
                </c:lvl>
              </c:multiLvlStrCache>
            </c:multiLvlStrRef>
          </c:cat>
          <c:val>
            <c:numRef>
              <c:f>Sheet1!$E$2:$E$6</c:f>
              <c:numCache>
                <c:formatCode>General</c:formatCode>
                <c:ptCount val="5"/>
                <c:pt idx="0">
                  <c:v>158</c:v>
                </c:pt>
                <c:pt idx="1">
                  <c:v>164</c:v>
                </c:pt>
                <c:pt idx="2">
                  <c:v>227</c:v>
                </c:pt>
                <c:pt idx="3">
                  <c:v>269</c:v>
                </c:pt>
                <c:pt idx="4">
                  <c:v>300</c:v>
                </c:pt>
              </c:numCache>
            </c:numRef>
          </c:val>
        </c:ser>
        <c:dLbls>
          <c:numFmt formatCode="#,##0"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320"/>
          <c:min val="0"/>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The system predicts a numeric Performance Score for any PC from its hardware and condition, and wraps the model in a real-time PC builder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parts of the talk: the problem, the data and how we cleaned it, what the data shows, the models we trained, the app we built, how the project maps to the course syllabus,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thousands of possible part combinations and no simple way to tell how fast a build will be without benchmarking it. On top of that, real-world PC records are messy, which makes any analysis unreliable until the data is cleaned.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clean the data, train and compare models, predict the score, and make it usable through an app that anyone can use to build a PC and see its predicted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supervised learning problem. Every training example is a PC whose Performance Score is already known, so the model learns from labelled data. The output is a number from 0 to 1000, which makes it regression rather than classification. We do not use unsupervised learning such as clustering, because there is no need to discover groups: the target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record describes one PC: seven numeric hardware and condition attributes, the operating system, the measured Performance Score and its class. Cleaning reduced 520 records to 503.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profiled the raw file before cleaning. Six columns each had 26 missing values, the OS column had 11 different spellings plus blanks, some RAM values were stored as text, there were duplicate rows, and 8 records contained values that cannot physically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src/preprocess.py runs these seven steps in order. The output exactly matches the team's cleaned CSV from Review-1: 503 rows, no missing values, no duplicates and two OS categories. Encoding and scaling are deliberately left to the model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half of the PCs are Medium. Very High has only 11 records, about 2 percent, which is a class imbalance to keep in mind for any classification work. Scores average about 509 and range from 97.6 to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of each attribute with the Performance Score on the clean data. RAM, CPU cores and GPU level have the strongest positive relationship, age and temperature pull the score down, and storage capacity barely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src/train.py. We split 80/20, wrap each algorithm in a scikit-learn pipeline that scales the seven numeric features and one-hot encodes OS, and tune hyperparameters with 5-fold GridSearchCV. The best model is picked on cross-validation RMSE only, so the test set stays unbiased.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nine models, sorted by cross-validation RMSE, with the syllabus unit each one comes from. SVR (which chose a linear kernel), Linear Regression and Ridge are effectively tied at the top. Ensembles come next, and kNN and a single decision tree do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the score on training data with the score on unseen test data shows bias and variance. The linear models score the same on both, so they generalize. kNN scores a perfect 1.00 on training data but 0.80 on new data: it memorizes the training PCs, which is high variance. The tree ensembles also drop noticeably.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Ridge regression adds an L2 penalty of strength alpha. Small penalties change nothing, but large ones force the weights toward zero and the model underfits: error rises from 48 to 160. Right: SVR, Linear and Ridge are within one standard error of each other, so they are statistically tied. Following Occam's razor we keep the simplest, Linear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predicts the score as a weighted sum of the attributes plus an intercept. Training finds the weights that minimize the sum of squared errors on the training PCs (ordinary least squares). Under Gaussian noise this is exactly the maximum-likelihood estimate from Unit II. It is fast and every weight is directly interpretable.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101 test PCs the model explains about 93 percent of the variation in score. A typical error is about 34 points (MAE) and RMSE is 44 points on a 0-1000 scale. Points close to the diagonal line mean the prediction matches the real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Standardized coefficients of the final model: how many score points change for a one-standard-deviation increase in each attribute. Every attribute adds or subtracts roughly independently, so a straight-line model fits the data better than tree models that split it into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picks parts in a Streamlit web app. The catalog and compatibility rules only offer parts that fit together. The build is converted into the 8 attributes the model knows, the saved Linear Regression pipeline predicts the score, and two side modules estimate game FPS and produce the Excel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PCPartPicker, each choice narrows the options for the next one. Pick AMD and a Ryzen 7 7800X3D, and the app shows only the 9 AM5 motherboards, then only DDR5 memory. Incompatible parts never appear, and the score updates the moment anything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run on every change. Red ones are errors that hide the prediction until fixed; amber ones are warnings. With the filters on, most errors cannot happen, but the checks act as a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only knows the dataset's 8 attributes, so each build is converted. Temperature is not a part you buy, so we estimate it from the cooling setup. Values beyond what the model saw in training are capped to the training range, and the app tells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building a Ryzen 7 7800X3D + RTX 4070 SUPER PC. The motherboard list shows only AM5 boards and the memory only DDR5. The score is 820 (High) and the build check passes. Right: the Game FPS tab for the same build at 1440p.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no FPS data, so FPS is a separate rule-based estimate, not the ML model. Each GPU has a performance rating (RTX 4090 = 100) and each CPU a gaming rating (Ryzen 7 9800X3D = 100). The lower of the GPU-limited and CPU-limited FPS wins, adjusted for low RAM, heat and engine caps.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download button under the score creates an .xlsx file with four formatted sheets, so a build and its predictions can be saved, shared or compared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in src/catalog.py covers current and recent parts from Intel, AMD and NVIDIA, with the specs needed for compatibility checks and model inputs. It is plain Python data, so adding parts is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written in Python. pandas and NumPy for data handling, scikit-learn for the models, Matplotlib and Seaborn for figures, Streamlit for the web app, joblib to save the model and openpyxl for the Excel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each topic from Units I to III appears in the project. The final model itself, Linear Regression, is a Unit III topic, and SVM and kNN were trained and compared as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IV covers how we evaluated the models and the encoding practice; Unit V covers the ensembles, overfitting, regularization and the generalization reasoning behind our model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what we did not use: clustering is unsupervised and our data is labelled; classification methods and metrics do not apply because we predict a number; and concept learning algorithms like Find-S are for boolean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The dataset is small and nearly linear, modern high-end parts exceed its ranges, several app inputs are estimates, and FPS is rule-based because the data has no FPS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roughly in order of impact: real benchmark data, a learned FPS model, prices and budget optimization, upgrade suggestions, public deployment and live hardware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clean data, an accurate and simple model, and a practical app on top of it.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337560"/>
            <a:ext cx="768096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rtlCol="0"/>
          <a:lstStyle>
            <a:lvl1pPr indent="0" marL="0">
              <a:buNone/>
              <a:defRPr lang="en-US" sz="6600" b="1" dirty="0">
                <a:solidFill>
                  <a:schemeClr val="accent1"/>
                </a:solidFill>
              </a:defRPr>
            </a:lvl1pPr>
          </a:lstStyle>
          <a:p>
            <a:pPr indent="0" marL="0">
              <a:buNone/>
            </a:pP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PC Performance Predictor  |  Team 7</a:t>
            </a:r>
            <a:endParaRPr lang="en-US" sz="10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4.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4.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4.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4" Type="http://schemas.openxmlformats.org/officeDocument/2006/relationships/chart" Target="/ppt/charts/chart7.xml"/><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4.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4.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5.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1371600"/>
          </a:xfrm>
          <a:prstGeom prst="rect">
            <a:avLst/>
          </a:prstGeom>
          <a:noFill/>
          <a:ln/>
        </p:spPr>
        <p:txBody>
          <a:bodyPr wrap="square" lIns="0" tIns="0" rIns="0" bIns="0" rtlCol="0" anchor="b"/>
          <a:lstStyle/>
          <a:p>
            <a:pPr algn="l" indent="0" marL="0">
              <a:buNone/>
            </a:pPr>
            <a:r>
              <a:rPr lang="en-US" sz="4800" b="1" dirty="0">
                <a:solidFill>
                  <a:schemeClr val="bg1"/>
                </a:solidFill>
              </a:rPr>
              <a:t>PC Performance Predictor</a:t>
            </a:r>
            <a:endParaRPr lang="en-US" sz="4800" dirty="0"/>
          </a:p>
        </p:txBody>
      </p:sp>
      <p:sp>
        <p:nvSpPr>
          <p:cNvPr id="3" name="Text 0"/>
          <p:cNvSpPr/>
          <p:nvPr>
            <p:ph idx="101" type="body" hasCustomPrompt="1"/>
          </p:nvPr>
        </p:nvSpPr>
        <p:spPr>
          <a:xfrm>
            <a:off x="548640" y="3337560"/>
            <a:ext cx="7680960" cy="1005840"/>
          </a:xfrm>
          <a:prstGeom prst="rect">
            <a:avLst/>
          </a:prstGeom>
          <a:noFill/>
          <a:ln/>
        </p:spPr>
        <p:txBody>
          <a:bodyPr wrap="square" lIns="0" tIns="0" rIns="0" bIns="0" rtlCol="0" anchor="t"/>
          <a:lstStyle/>
          <a:p>
            <a:pPr indent="0" marL="0">
              <a:buNone/>
            </a:pPr>
            <a:r>
              <a:rPr lang="en-US" sz="2000" dirty="0">
                <a:solidFill>
                  <a:schemeClr val="bg2"/>
                </a:solidFill>
              </a:rPr>
              <a:t>Predicting a PC's performance score from its hardware with supervised learning (regression), plus a real-time PC builder with game FPS estimates and Excel reports</a:t>
            </a:r>
            <a:endParaRPr lang="en-US" sz="2000" dirty="0"/>
          </a:p>
        </p:txBody>
      </p:sp>
      <p:sp>
        <p:nvSpPr>
          <p:cNvPr id="4" name="Title chip circle"/>
          <p:cNvSpPr/>
          <p:nvPr/>
        </p:nvSpPr>
        <p:spPr>
          <a:xfrm>
            <a:off x="9006840" y="1600200"/>
            <a:ext cx="2377440" cy="2377440"/>
          </a:xfrm>
          <a:prstGeom prst="ellipse">
            <a:avLst/>
          </a:prstGeom>
          <a:solidFill>
            <a:schemeClr val="accent1"/>
          </a:solidFill>
          <a:ln w="12700">
            <a:solidFill>
              <a:schemeClr val="accent1"/>
            </a:solidFill>
            <a:prstDash val="solid"/>
          </a:ln>
        </p:spPr>
      </p:sp>
      <p:pic>
        <p:nvPicPr>
          <p:cNvPr id="5" name="Title chip icon" descr="preencoded.png">    </p:cNvPr>
          <p:cNvPicPr>
            <a:picLocks noChangeAspect="1"/>
          </p:cNvPicPr>
          <p:nvPr/>
        </p:nvPicPr>
        <p:blipFill>
          <a:blip r:embed="rId1"/>
          <a:stretch>
            <a:fillRect/>
          </a:stretch>
        </p:blipFill>
        <p:spPr>
          <a:xfrm>
            <a:off x="9624974" y="2218334"/>
            <a:ext cx="1141171" cy="1141171"/>
          </a:xfrm>
          <a:prstGeom prst="rect">
            <a:avLst/>
          </a:prstGeom>
        </p:spPr>
      </p:pic>
      <p:sp>
        <p:nvSpPr>
          <p:cNvPr id="6" name="Team label"/>
          <p:cNvSpPr txBox="1"/>
          <p:nvPr/>
        </p:nvSpPr>
        <p:spPr>
          <a:xfrm>
            <a:off x="548640" y="480060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Team 7  (TT - 5)</a:t>
            </a:r>
            <a:endParaRPr lang="en-US" sz="1800" dirty="0"/>
          </a:p>
        </p:txBody>
      </p:sp>
      <p:sp>
        <p:nvSpPr>
          <p:cNvPr id="7" name="Member 1"/>
          <p:cNvSpPr txBox="1"/>
          <p:nvPr/>
        </p:nvSpPr>
        <p:spPr>
          <a:xfrm>
            <a:off x="548640" y="5257800"/>
            <a:ext cx="4114800" cy="365760"/>
          </a:xfrm>
          <a:prstGeom prst="rect">
            <a:avLst/>
          </a:prstGeom>
          <a:noFill/>
          <a:ln/>
        </p:spPr>
        <p:txBody>
          <a:bodyPr wrap="square" lIns="0" tIns="0" rIns="0" bIns="0" rtlCol="0" anchor="t"/>
          <a:lstStyle/>
          <a:p>
            <a:pPr indent="0" marL="0">
              <a:buNone/>
            </a:pPr>
            <a:r>
              <a:rPr lang="en-US" sz="1500" b="1" dirty="0">
                <a:solidFill>
                  <a:schemeClr val="bg1"/>
                </a:solidFill>
              </a:rPr>
              <a:t>Mohammed Akmal K M</a:t>
            </a:r>
            <a:pPr indent="0" marL="0">
              <a:buNone/>
            </a:pPr>
            <a:r>
              <a:rPr lang="en-US" sz="1500" dirty="0">
                <a:solidFill>
                  <a:schemeClr val="accent4"/>
                </a:solidFill>
              </a:rPr>
              <a:t>   24B11AI262</a:t>
            </a:r>
            <a:endParaRPr lang="en-US" sz="1500" dirty="0"/>
          </a:p>
        </p:txBody>
      </p:sp>
      <p:sp>
        <p:nvSpPr>
          <p:cNvPr id="8" name="Member 2"/>
          <p:cNvSpPr txBox="1"/>
          <p:nvPr/>
        </p:nvSpPr>
        <p:spPr>
          <a:xfrm>
            <a:off x="4754880" y="5257800"/>
            <a:ext cx="4114800" cy="365760"/>
          </a:xfrm>
          <a:prstGeom prst="rect">
            <a:avLst/>
          </a:prstGeom>
          <a:noFill/>
          <a:ln/>
        </p:spPr>
        <p:txBody>
          <a:bodyPr wrap="square" lIns="0" tIns="0" rIns="0" bIns="0" rtlCol="0" anchor="t"/>
          <a:lstStyle/>
          <a:p>
            <a:pPr indent="0" marL="0">
              <a:buNone/>
            </a:pPr>
            <a:r>
              <a:rPr lang="en-US" sz="1500" b="1" dirty="0">
                <a:solidFill>
                  <a:schemeClr val="bg1"/>
                </a:solidFill>
              </a:rPr>
              <a:t>Sri Naga Vijay Kumar Chikkala</a:t>
            </a:r>
            <a:pPr indent="0" marL="0">
              <a:buNone/>
            </a:pPr>
            <a:r>
              <a:rPr lang="en-US" sz="1500" dirty="0">
                <a:solidFill>
                  <a:schemeClr val="accent4"/>
                </a:solidFill>
              </a:rPr>
              <a:t>   24B11AI062</a:t>
            </a:r>
            <a:endParaRPr lang="en-US" sz="1500" dirty="0"/>
          </a:p>
        </p:txBody>
      </p:sp>
      <p:sp>
        <p:nvSpPr>
          <p:cNvPr id="9" name="Member 3"/>
          <p:cNvSpPr txBox="1"/>
          <p:nvPr/>
        </p:nvSpPr>
        <p:spPr>
          <a:xfrm>
            <a:off x="548640" y="5669280"/>
            <a:ext cx="4114800" cy="365760"/>
          </a:xfrm>
          <a:prstGeom prst="rect">
            <a:avLst/>
          </a:prstGeom>
          <a:noFill/>
          <a:ln/>
        </p:spPr>
        <p:txBody>
          <a:bodyPr wrap="square" lIns="0" tIns="0" rIns="0" bIns="0" rtlCol="0" anchor="t"/>
          <a:lstStyle/>
          <a:p>
            <a:pPr indent="0" marL="0">
              <a:buNone/>
            </a:pPr>
            <a:r>
              <a:rPr lang="en-US" sz="1500" b="1" dirty="0">
                <a:solidFill>
                  <a:schemeClr val="bg1"/>
                </a:solidFill>
              </a:rPr>
              <a:t>Sri Sashank Devarakonda</a:t>
            </a:r>
            <a:pPr indent="0" marL="0">
              <a:buNone/>
            </a:pPr>
            <a:r>
              <a:rPr lang="en-US" sz="1500" dirty="0">
                <a:solidFill>
                  <a:schemeClr val="accent4"/>
                </a:solidFill>
              </a:rPr>
              <a:t>   24B11AI085</a:t>
            </a:r>
            <a:endParaRPr lang="en-US" sz="1500" dirty="0"/>
          </a:p>
        </p:txBody>
      </p:sp>
      <p:sp>
        <p:nvSpPr>
          <p:cNvPr id="10" name="Member 4"/>
          <p:cNvSpPr txBox="1"/>
          <p:nvPr/>
        </p:nvSpPr>
        <p:spPr>
          <a:xfrm>
            <a:off x="4754880" y="5669280"/>
            <a:ext cx="4114800" cy="365760"/>
          </a:xfrm>
          <a:prstGeom prst="rect">
            <a:avLst/>
          </a:prstGeom>
          <a:noFill/>
          <a:ln/>
        </p:spPr>
        <p:txBody>
          <a:bodyPr wrap="square" lIns="0" tIns="0" rIns="0" bIns="0" rtlCol="0" anchor="t"/>
          <a:lstStyle/>
          <a:p>
            <a:pPr indent="0" marL="0">
              <a:buNone/>
            </a:pPr>
            <a:r>
              <a:rPr lang="en-US" sz="1500" b="1" dirty="0">
                <a:solidFill>
                  <a:schemeClr val="bg1"/>
                </a:solidFill>
              </a:rPr>
              <a:t>Sai Sri Pavan Guvvala</a:t>
            </a:r>
            <a:pPr indent="0" marL="0">
              <a:buNone/>
            </a:pPr>
            <a:r>
              <a:rPr lang="en-US" sz="1500" dirty="0">
                <a:solidFill>
                  <a:schemeClr val="accent4"/>
                </a:solidFill>
              </a:rPr>
              <a:t>   24B11AI139</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Agenda</a:t>
            </a:r>
            <a:endParaRPr lang="en-US" sz="3200" dirty="0"/>
          </a:p>
        </p:txBody>
      </p:sp>
      <p:sp>
        <p:nvSpPr>
          <p:cNvPr id="4" name="Agenda card 01"/>
          <p:cNvSpPr/>
          <p:nvPr/>
        </p:nvSpPr>
        <p:spPr>
          <a:xfrm>
            <a:off x="548640" y="1417320"/>
            <a:ext cx="2567864" cy="2148840"/>
          </a:xfrm>
          <a:prstGeom prst="roundRect">
            <a:avLst>
              <a:gd name="adj" fmla="val 3404"/>
            </a:avLst>
          </a:prstGeom>
          <a:solidFill>
            <a:schemeClr val="bg2"/>
          </a:solidFill>
          <a:ln w="12700">
            <a:solidFill>
              <a:schemeClr val="bg2"/>
            </a:solidFill>
            <a:prstDash val="solid"/>
          </a:ln>
        </p:spPr>
      </p:sp>
      <p:sp>
        <p:nvSpPr>
          <p:cNvPr id="5" name="Agenda number 01"/>
          <p:cNvSpPr txBox="1"/>
          <p:nvPr/>
        </p:nvSpPr>
        <p:spPr>
          <a:xfrm>
            <a:off x="822960" y="164592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01</a:t>
            </a:r>
            <a:endParaRPr lang="en-US" sz="3200" dirty="0"/>
          </a:p>
        </p:txBody>
      </p:sp>
      <p:sp>
        <p:nvSpPr>
          <p:cNvPr id="6" name="Agenda title 01"/>
          <p:cNvSpPr txBox="1"/>
          <p:nvPr/>
        </p:nvSpPr>
        <p:spPr>
          <a:xfrm>
            <a:off x="822960" y="2286000"/>
            <a:ext cx="2019224" cy="685800"/>
          </a:xfrm>
          <a:prstGeom prst="rect">
            <a:avLst/>
          </a:prstGeom>
          <a:noFill/>
          <a:ln/>
        </p:spPr>
        <p:txBody>
          <a:bodyPr wrap="square" lIns="0" tIns="0" rIns="0" bIns="0" rtlCol="0" anchor="t"/>
          <a:lstStyle/>
          <a:p>
            <a:pPr indent="0" marL="0">
              <a:buNone/>
            </a:pPr>
            <a:r>
              <a:rPr lang="en-US" sz="1800" b="1" dirty="0">
                <a:solidFill>
                  <a:schemeClr val="tx1"/>
                </a:solidFill>
              </a:rPr>
              <a:t>Problem &amp; objectives</a:t>
            </a:r>
            <a:endParaRPr lang="en-US" sz="1800" dirty="0"/>
          </a:p>
        </p:txBody>
      </p:sp>
      <p:sp>
        <p:nvSpPr>
          <p:cNvPr id="7" name="Agenda desc 01"/>
          <p:cNvSpPr txBox="1"/>
          <p:nvPr/>
        </p:nvSpPr>
        <p:spPr>
          <a:xfrm>
            <a:off x="822960" y="2926080"/>
            <a:ext cx="2019224" cy="548640"/>
          </a:xfrm>
          <a:prstGeom prst="rect">
            <a:avLst/>
          </a:prstGeom>
          <a:noFill/>
          <a:ln/>
        </p:spPr>
        <p:txBody>
          <a:bodyPr wrap="square" lIns="0" tIns="0" rIns="0" bIns="0" rtlCol="0" anchor="t"/>
          <a:lstStyle/>
          <a:p>
            <a:pPr indent="0" marL="0">
              <a:buNone/>
            </a:pPr>
            <a:r>
              <a:rPr lang="en-US" sz="1400" dirty="0">
                <a:solidFill>
                  <a:schemeClr val="tx2"/>
                </a:solidFill>
              </a:rPr>
              <a:t>Why predict PC performance, and the learning type</a:t>
            </a:r>
            <a:endParaRPr lang="en-US" sz="1400" dirty="0"/>
          </a:p>
        </p:txBody>
      </p:sp>
      <p:sp>
        <p:nvSpPr>
          <p:cNvPr id="8" name="Agenda card 02"/>
          <p:cNvSpPr/>
          <p:nvPr/>
        </p:nvSpPr>
        <p:spPr>
          <a:xfrm>
            <a:off x="3390824" y="1417320"/>
            <a:ext cx="2567864" cy="2148840"/>
          </a:xfrm>
          <a:prstGeom prst="roundRect">
            <a:avLst>
              <a:gd name="adj" fmla="val 3404"/>
            </a:avLst>
          </a:prstGeom>
          <a:solidFill>
            <a:schemeClr val="bg2"/>
          </a:solidFill>
          <a:ln w="12700">
            <a:solidFill>
              <a:schemeClr val="bg2"/>
            </a:solidFill>
            <a:prstDash val="solid"/>
          </a:ln>
        </p:spPr>
      </p:sp>
      <p:sp>
        <p:nvSpPr>
          <p:cNvPr id="9" name="Agenda number 02"/>
          <p:cNvSpPr txBox="1"/>
          <p:nvPr/>
        </p:nvSpPr>
        <p:spPr>
          <a:xfrm>
            <a:off x="3665144" y="164592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02</a:t>
            </a:r>
            <a:endParaRPr lang="en-US" sz="3200" dirty="0"/>
          </a:p>
        </p:txBody>
      </p:sp>
      <p:sp>
        <p:nvSpPr>
          <p:cNvPr id="10" name="Agenda title 02"/>
          <p:cNvSpPr txBox="1"/>
          <p:nvPr/>
        </p:nvSpPr>
        <p:spPr>
          <a:xfrm>
            <a:off x="3665144" y="2286000"/>
            <a:ext cx="2019224" cy="685800"/>
          </a:xfrm>
          <a:prstGeom prst="rect">
            <a:avLst/>
          </a:prstGeom>
          <a:noFill/>
          <a:ln/>
        </p:spPr>
        <p:txBody>
          <a:bodyPr wrap="square" lIns="0" tIns="0" rIns="0" bIns="0" rtlCol="0" anchor="t"/>
          <a:lstStyle/>
          <a:p>
            <a:pPr indent="0" marL="0">
              <a:buNone/>
            </a:pPr>
            <a:r>
              <a:rPr lang="en-US" sz="1800" b="1" dirty="0">
                <a:solidFill>
                  <a:schemeClr val="tx1"/>
                </a:solidFill>
              </a:rPr>
              <a:t>Dataset &amp; preprocessing</a:t>
            </a:r>
            <a:endParaRPr lang="en-US" sz="1800" dirty="0"/>
          </a:p>
        </p:txBody>
      </p:sp>
      <p:sp>
        <p:nvSpPr>
          <p:cNvPr id="11" name="Agenda desc 02"/>
          <p:cNvSpPr txBox="1"/>
          <p:nvPr/>
        </p:nvSpPr>
        <p:spPr>
          <a:xfrm>
            <a:off x="3665144" y="2926080"/>
            <a:ext cx="2019224" cy="548640"/>
          </a:xfrm>
          <a:prstGeom prst="rect">
            <a:avLst/>
          </a:prstGeom>
          <a:noFill/>
          <a:ln/>
        </p:spPr>
        <p:txBody>
          <a:bodyPr wrap="square" lIns="0" tIns="0" rIns="0" bIns="0" rtlCol="0" anchor="t"/>
          <a:lstStyle/>
          <a:p>
            <a:pPr indent="0" marL="0">
              <a:buNone/>
            </a:pPr>
            <a:r>
              <a:rPr lang="en-US" sz="1400" dirty="0">
                <a:solidFill>
                  <a:schemeClr val="tx2"/>
                </a:solidFill>
              </a:rPr>
              <a:t>520 raw records to 503 clean ones</a:t>
            </a:r>
            <a:endParaRPr lang="en-US" sz="1400" dirty="0"/>
          </a:p>
        </p:txBody>
      </p:sp>
      <p:sp>
        <p:nvSpPr>
          <p:cNvPr id="12" name="Agenda card 03"/>
          <p:cNvSpPr/>
          <p:nvPr/>
        </p:nvSpPr>
        <p:spPr>
          <a:xfrm>
            <a:off x="6233008" y="1417320"/>
            <a:ext cx="2567864" cy="2148840"/>
          </a:xfrm>
          <a:prstGeom prst="roundRect">
            <a:avLst>
              <a:gd name="adj" fmla="val 3404"/>
            </a:avLst>
          </a:prstGeom>
          <a:solidFill>
            <a:schemeClr val="bg2"/>
          </a:solidFill>
          <a:ln w="12700">
            <a:solidFill>
              <a:schemeClr val="bg2"/>
            </a:solidFill>
            <a:prstDash val="solid"/>
          </a:ln>
        </p:spPr>
      </p:sp>
      <p:sp>
        <p:nvSpPr>
          <p:cNvPr id="13" name="Agenda number 03"/>
          <p:cNvSpPr txBox="1"/>
          <p:nvPr/>
        </p:nvSpPr>
        <p:spPr>
          <a:xfrm>
            <a:off x="6507328" y="164592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03</a:t>
            </a:r>
            <a:endParaRPr lang="en-US" sz="3200" dirty="0"/>
          </a:p>
        </p:txBody>
      </p:sp>
      <p:sp>
        <p:nvSpPr>
          <p:cNvPr id="14" name="Agenda title 03"/>
          <p:cNvSpPr txBox="1"/>
          <p:nvPr/>
        </p:nvSpPr>
        <p:spPr>
          <a:xfrm>
            <a:off x="6507328" y="2286000"/>
            <a:ext cx="2019224" cy="685800"/>
          </a:xfrm>
          <a:prstGeom prst="rect">
            <a:avLst/>
          </a:prstGeom>
          <a:noFill/>
          <a:ln/>
        </p:spPr>
        <p:txBody>
          <a:bodyPr wrap="square" lIns="0" tIns="0" rIns="0" bIns="0" rtlCol="0" anchor="t"/>
          <a:lstStyle/>
          <a:p>
            <a:pPr indent="0" marL="0">
              <a:buNone/>
            </a:pPr>
            <a:r>
              <a:rPr lang="en-US" sz="1800" b="1" dirty="0">
                <a:solidFill>
                  <a:schemeClr val="tx1"/>
                </a:solidFill>
              </a:rPr>
              <a:t>Exploratory analysis</a:t>
            </a:r>
            <a:endParaRPr lang="en-US" sz="1800" dirty="0"/>
          </a:p>
        </p:txBody>
      </p:sp>
      <p:sp>
        <p:nvSpPr>
          <p:cNvPr id="15" name="Agenda desc 03"/>
          <p:cNvSpPr txBox="1"/>
          <p:nvPr/>
        </p:nvSpPr>
        <p:spPr>
          <a:xfrm>
            <a:off x="6507328" y="2926080"/>
            <a:ext cx="2019224" cy="548640"/>
          </a:xfrm>
          <a:prstGeom prst="rect">
            <a:avLst/>
          </a:prstGeom>
          <a:noFill/>
          <a:ln/>
        </p:spPr>
        <p:txBody>
          <a:bodyPr wrap="square" lIns="0" tIns="0" rIns="0" bIns="0" rtlCol="0" anchor="t"/>
          <a:lstStyle/>
          <a:p>
            <a:pPr indent="0" marL="0">
              <a:buNone/>
            </a:pPr>
            <a:r>
              <a:rPr lang="en-US" sz="1400" dirty="0">
                <a:solidFill>
                  <a:schemeClr val="tx2"/>
                </a:solidFill>
              </a:rPr>
              <a:t>Score distribution and key drivers</a:t>
            </a:r>
            <a:endParaRPr lang="en-US" sz="1400" dirty="0"/>
          </a:p>
        </p:txBody>
      </p:sp>
      <p:sp>
        <p:nvSpPr>
          <p:cNvPr id="16" name="Agenda card 04"/>
          <p:cNvSpPr/>
          <p:nvPr/>
        </p:nvSpPr>
        <p:spPr>
          <a:xfrm>
            <a:off x="9075191" y="1417320"/>
            <a:ext cx="2567864" cy="2148840"/>
          </a:xfrm>
          <a:prstGeom prst="roundRect">
            <a:avLst>
              <a:gd name="adj" fmla="val 3404"/>
            </a:avLst>
          </a:prstGeom>
          <a:solidFill>
            <a:schemeClr val="bg2"/>
          </a:solidFill>
          <a:ln w="12700">
            <a:solidFill>
              <a:schemeClr val="bg2"/>
            </a:solidFill>
            <a:prstDash val="solid"/>
          </a:ln>
        </p:spPr>
      </p:sp>
      <p:sp>
        <p:nvSpPr>
          <p:cNvPr id="17" name="Agenda number 04"/>
          <p:cNvSpPr txBox="1"/>
          <p:nvPr/>
        </p:nvSpPr>
        <p:spPr>
          <a:xfrm>
            <a:off x="9349511" y="164592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04</a:t>
            </a:r>
            <a:endParaRPr lang="en-US" sz="3200" dirty="0"/>
          </a:p>
        </p:txBody>
      </p:sp>
      <p:sp>
        <p:nvSpPr>
          <p:cNvPr id="18" name="Agenda title 04"/>
          <p:cNvSpPr txBox="1"/>
          <p:nvPr/>
        </p:nvSpPr>
        <p:spPr>
          <a:xfrm>
            <a:off x="9349511" y="2286000"/>
            <a:ext cx="2019224" cy="685800"/>
          </a:xfrm>
          <a:prstGeom prst="rect">
            <a:avLst/>
          </a:prstGeom>
          <a:noFill/>
          <a:ln/>
        </p:spPr>
        <p:txBody>
          <a:bodyPr wrap="square" lIns="0" tIns="0" rIns="0" bIns="0" rtlCol="0" anchor="t"/>
          <a:lstStyle/>
          <a:p>
            <a:pPr indent="0" marL="0">
              <a:buNone/>
            </a:pPr>
            <a:r>
              <a:rPr lang="en-US" sz="1800" b="1" dirty="0">
                <a:solidFill>
                  <a:schemeClr val="tx1"/>
                </a:solidFill>
              </a:rPr>
              <a:t>Model training &amp; results</a:t>
            </a:r>
            <a:endParaRPr lang="en-US" sz="1800" dirty="0"/>
          </a:p>
        </p:txBody>
      </p:sp>
      <p:sp>
        <p:nvSpPr>
          <p:cNvPr id="19" name="Agenda desc 04"/>
          <p:cNvSpPr txBox="1"/>
          <p:nvPr/>
        </p:nvSpPr>
        <p:spPr>
          <a:xfrm>
            <a:off x="9349511" y="2926080"/>
            <a:ext cx="2019224" cy="548640"/>
          </a:xfrm>
          <a:prstGeom prst="rect">
            <a:avLst/>
          </a:prstGeom>
          <a:noFill/>
          <a:ln/>
        </p:spPr>
        <p:txBody>
          <a:bodyPr wrap="square" lIns="0" tIns="0" rIns="0" bIns="0" rtlCol="0" anchor="t"/>
          <a:lstStyle/>
          <a:p>
            <a:pPr indent="0" marL="0">
              <a:buNone/>
            </a:pPr>
            <a:r>
              <a:rPr lang="en-US" sz="1400" dirty="0">
                <a:solidFill>
                  <a:schemeClr val="tx2"/>
                </a:solidFill>
              </a:rPr>
              <a:t>9 supervised algorithms, best R² = 0.929</a:t>
            </a:r>
            <a:endParaRPr lang="en-US" sz="1400" dirty="0"/>
          </a:p>
        </p:txBody>
      </p:sp>
      <p:sp>
        <p:nvSpPr>
          <p:cNvPr id="20" name="Agenda card 05"/>
          <p:cNvSpPr/>
          <p:nvPr/>
        </p:nvSpPr>
        <p:spPr>
          <a:xfrm>
            <a:off x="548640" y="3840480"/>
            <a:ext cx="2567864" cy="2148840"/>
          </a:xfrm>
          <a:prstGeom prst="roundRect">
            <a:avLst>
              <a:gd name="adj" fmla="val 3404"/>
            </a:avLst>
          </a:prstGeom>
          <a:solidFill>
            <a:schemeClr val="bg2"/>
          </a:solidFill>
          <a:ln w="12700">
            <a:solidFill>
              <a:schemeClr val="bg2"/>
            </a:solidFill>
            <a:prstDash val="solid"/>
          </a:ln>
        </p:spPr>
      </p:sp>
      <p:sp>
        <p:nvSpPr>
          <p:cNvPr id="21" name="Agenda number 05"/>
          <p:cNvSpPr txBox="1"/>
          <p:nvPr/>
        </p:nvSpPr>
        <p:spPr>
          <a:xfrm>
            <a:off x="822960" y="406908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05</a:t>
            </a:r>
            <a:endParaRPr lang="en-US" sz="3200" dirty="0"/>
          </a:p>
        </p:txBody>
      </p:sp>
      <p:sp>
        <p:nvSpPr>
          <p:cNvPr id="22" name="Agenda title 05"/>
          <p:cNvSpPr txBox="1"/>
          <p:nvPr/>
        </p:nvSpPr>
        <p:spPr>
          <a:xfrm>
            <a:off x="822960" y="4709160"/>
            <a:ext cx="2019224" cy="685800"/>
          </a:xfrm>
          <a:prstGeom prst="rect">
            <a:avLst/>
          </a:prstGeom>
          <a:noFill/>
          <a:ln/>
        </p:spPr>
        <p:txBody>
          <a:bodyPr wrap="square" lIns="0" tIns="0" rIns="0" bIns="0" rtlCol="0" anchor="t"/>
          <a:lstStyle/>
          <a:p>
            <a:pPr indent="0" marL="0">
              <a:buNone/>
            </a:pPr>
            <a:r>
              <a:rPr lang="en-US" sz="1800" b="1" dirty="0">
                <a:solidFill>
                  <a:schemeClr val="tx1"/>
                </a:solidFill>
              </a:rPr>
              <a:t>The PC builder app</a:t>
            </a:r>
            <a:endParaRPr lang="en-US" sz="1800" dirty="0"/>
          </a:p>
        </p:txBody>
      </p:sp>
      <p:sp>
        <p:nvSpPr>
          <p:cNvPr id="23" name="Agenda desc 05"/>
          <p:cNvSpPr txBox="1"/>
          <p:nvPr/>
        </p:nvSpPr>
        <p:spPr>
          <a:xfrm>
            <a:off x="822960" y="5349240"/>
            <a:ext cx="2019224" cy="548640"/>
          </a:xfrm>
          <a:prstGeom prst="rect">
            <a:avLst/>
          </a:prstGeom>
          <a:noFill/>
          <a:ln/>
        </p:spPr>
        <p:txBody>
          <a:bodyPr wrap="square" lIns="0" tIns="0" rIns="0" bIns="0" rtlCol="0" anchor="t"/>
          <a:lstStyle/>
          <a:p>
            <a:pPr indent="0" marL="0">
              <a:buNone/>
            </a:pPr>
            <a:r>
              <a:rPr lang="en-US" sz="1400" dirty="0">
                <a:solidFill>
                  <a:schemeClr val="tx2"/>
                </a:solidFill>
              </a:rPr>
              <a:t>Real-time builder, FPS, Excel export</a:t>
            </a:r>
            <a:endParaRPr lang="en-US" sz="1400" dirty="0"/>
          </a:p>
        </p:txBody>
      </p:sp>
      <p:sp>
        <p:nvSpPr>
          <p:cNvPr id="24" name="Agenda card 06"/>
          <p:cNvSpPr/>
          <p:nvPr/>
        </p:nvSpPr>
        <p:spPr>
          <a:xfrm>
            <a:off x="3390824" y="3840480"/>
            <a:ext cx="2567864" cy="2148840"/>
          </a:xfrm>
          <a:prstGeom prst="roundRect">
            <a:avLst>
              <a:gd name="adj" fmla="val 3404"/>
            </a:avLst>
          </a:prstGeom>
          <a:solidFill>
            <a:schemeClr val="bg2"/>
          </a:solidFill>
          <a:ln w="12700">
            <a:solidFill>
              <a:schemeClr val="bg2"/>
            </a:solidFill>
            <a:prstDash val="solid"/>
          </a:ln>
        </p:spPr>
      </p:sp>
      <p:sp>
        <p:nvSpPr>
          <p:cNvPr id="25" name="Agenda number 06"/>
          <p:cNvSpPr txBox="1"/>
          <p:nvPr/>
        </p:nvSpPr>
        <p:spPr>
          <a:xfrm>
            <a:off x="3665144" y="406908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06</a:t>
            </a:r>
            <a:endParaRPr lang="en-US" sz="3200" dirty="0"/>
          </a:p>
        </p:txBody>
      </p:sp>
      <p:sp>
        <p:nvSpPr>
          <p:cNvPr id="26" name="Agenda title 06"/>
          <p:cNvSpPr txBox="1"/>
          <p:nvPr/>
        </p:nvSpPr>
        <p:spPr>
          <a:xfrm>
            <a:off x="3665144" y="4709160"/>
            <a:ext cx="2019224" cy="685800"/>
          </a:xfrm>
          <a:prstGeom prst="rect">
            <a:avLst/>
          </a:prstGeom>
          <a:noFill/>
          <a:ln/>
        </p:spPr>
        <p:txBody>
          <a:bodyPr wrap="square" lIns="0" tIns="0" rIns="0" bIns="0" rtlCol="0" anchor="t"/>
          <a:lstStyle/>
          <a:p>
            <a:pPr indent="0" marL="0">
              <a:buNone/>
            </a:pPr>
            <a:r>
              <a:rPr lang="en-US" sz="1800" b="1" dirty="0">
                <a:solidFill>
                  <a:schemeClr val="tx1"/>
                </a:solidFill>
              </a:rPr>
              <a:t>Syllabus mapping</a:t>
            </a:r>
            <a:endParaRPr lang="en-US" sz="1800" dirty="0"/>
          </a:p>
        </p:txBody>
      </p:sp>
      <p:sp>
        <p:nvSpPr>
          <p:cNvPr id="27" name="Agenda desc 06"/>
          <p:cNvSpPr txBox="1"/>
          <p:nvPr/>
        </p:nvSpPr>
        <p:spPr>
          <a:xfrm>
            <a:off x="3665144" y="5349240"/>
            <a:ext cx="2019224" cy="548640"/>
          </a:xfrm>
          <a:prstGeom prst="rect">
            <a:avLst/>
          </a:prstGeom>
          <a:noFill/>
          <a:ln/>
        </p:spPr>
        <p:txBody>
          <a:bodyPr wrap="square" lIns="0" tIns="0" rIns="0" bIns="0" rtlCol="0" anchor="t"/>
          <a:lstStyle/>
          <a:p>
            <a:pPr indent="0" marL="0">
              <a:buNone/>
            </a:pPr>
            <a:r>
              <a:rPr lang="en-US" sz="1400" dirty="0">
                <a:solidFill>
                  <a:schemeClr val="tx2"/>
                </a:solidFill>
              </a:rPr>
              <a:t>Units I-V of the course in this project</a:t>
            </a:r>
            <a:endParaRPr lang="en-US" sz="1400" dirty="0"/>
          </a:p>
        </p:txBody>
      </p:sp>
      <p:sp>
        <p:nvSpPr>
          <p:cNvPr id="28" name="Agenda card 07"/>
          <p:cNvSpPr/>
          <p:nvPr/>
        </p:nvSpPr>
        <p:spPr>
          <a:xfrm>
            <a:off x="6233008" y="3840480"/>
            <a:ext cx="2567864" cy="2148840"/>
          </a:xfrm>
          <a:prstGeom prst="roundRect">
            <a:avLst>
              <a:gd name="adj" fmla="val 3404"/>
            </a:avLst>
          </a:prstGeom>
          <a:solidFill>
            <a:schemeClr val="bg2"/>
          </a:solidFill>
          <a:ln w="12700">
            <a:solidFill>
              <a:schemeClr val="bg2"/>
            </a:solidFill>
            <a:prstDash val="solid"/>
          </a:ln>
        </p:spPr>
      </p:sp>
      <p:sp>
        <p:nvSpPr>
          <p:cNvPr id="29" name="Agenda number 07"/>
          <p:cNvSpPr txBox="1"/>
          <p:nvPr/>
        </p:nvSpPr>
        <p:spPr>
          <a:xfrm>
            <a:off x="6507328" y="406908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07</a:t>
            </a:r>
            <a:endParaRPr lang="en-US" sz="3200" dirty="0"/>
          </a:p>
        </p:txBody>
      </p:sp>
      <p:sp>
        <p:nvSpPr>
          <p:cNvPr id="30" name="Agenda title 07"/>
          <p:cNvSpPr txBox="1"/>
          <p:nvPr/>
        </p:nvSpPr>
        <p:spPr>
          <a:xfrm>
            <a:off x="6507328" y="4709160"/>
            <a:ext cx="2019224" cy="685800"/>
          </a:xfrm>
          <a:prstGeom prst="rect">
            <a:avLst/>
          </a:prstGeom>
          <a:noFill/>
          <a:ln/>
        </p:spPr>
        <p:txBody>
          <a:bodyPr wrap="square" lIns="0" tIns="0" rIns="0" bIns="0" rtlCol="0" anchor="t"/>
          <a:lstStyle/>
          <a:p>
            <a:pPr indent="0" marL="0">
              <a:buNone/>
            </a:pPr>
            <a:r>
              <a:rPr lang="en-US" sz="1800" b="1" dirty="0">
                <a:solidFill>
                  <a:schemeClr val="tx1"/>
                </a:solidFill>
              </a:rPr>
              <a:t>Limitations &amp; future scope</a:t>
            </a:r>
            <a:endParaRPr lang="en-US" sz="1800" dirty="0"/>
          </a:p>
        </p:txBody>
      </p:sp>
      <p:sp>
        <p:nvSpPr>
          <p:cNvPr id="31" name="Agenda desc 07"/>
          <p:cNvSpPr txBox="1"/>
          <p:nvPr/>
        </p:nvSpPr>
        <p:spPr>
          <a:xfrm>
            <a:off x="6507328" y="5349240"/>
            <a:ext cx="2019224" cy="548640"/>
          </a:xfrm>
          <a:prstGeom prst="rect">
            <a:avLst/>
          </a:prstGeom>
          <a:noFill/>
          <a:ln/>
        </p:spPr>
        <p:txBody>
          <a:bodyPr wrap="square" lIns="0" tIns="0" rIns="0" bIns="0" rtlCol="0" anchor="t"/>
          <a:lstStyle/>
          <a:p>
            <a:pPr indent="0" marL="0">
              <a:buNone/>
            </a:pPr>
            <a:r>
              <a:rPr lang="en-US" sz="1400" dirty="0">
                <a:solidFill>
                  <a:schemeClr val="tx2"/>
                </a:solidFill>
              </a:rPr>
              <a:t>What to improve next</a:t>
            </a:r>
            <a:endParaRPr lang="en-US" sz="1400" dirty="0"/>
          </a:p>
        </p:txBody>
      </p:sp>
      <p:sp>
        <p:nvSpPr>
          <p:cNvPr id="32" name="Agenda card 08"/>
          <p:cNvSpPr/>
          <p:nvPr/>
        </p:nvSpPr>
        <p:spPr>
          <a:xfrm>
            <a:off x="9075191" y="3840480"/>
            <a:ext cx="2567864" cy="2148840"/>
          </a:xfrm>
          <a:prstGeom prst="roundRect">
            <a:avLst>
              <a:gd name="adj" fmla="val 3404"/>
            </a:avLst>
          </a:prstGeom>
          <a:solidFill>
            <a:schemeClr val="bg2"/>
          </a:solidFill>
          <a:ln w="12700">
            <a:solidFill>
              <a:schemeClr val="bg2"/>
            </a:solidFill>
            <a:prstDash val="solid"/>
          </a:ln>
        </p:spPr>
      </p:sp>
      <p:sp>
        <p:nvSpPr>
          <p:cNvPr id="33" name="Agenda number 08"/>
          <p:cNvSpPr txBox="1"/>
          <p:nvPr/>
        </p:nvSpPr>
        <p:spPr>
          <a:xfrm>
            <a:off x="9349511" y="4069080"/>
            <a:ext cx="1371600" cy="640080"/>
          </a:xfrm>
          <a:prstGeom prst="rect">
            <a:avLst/>
          </a:prstGeom>
          <a:noFill/>
          <a:ln/>
        </p:spPr>
        <p:txBody>
          <a:bodyPr wrap="square" lIns="0" tIns="0" rIns="0" bIns="0" rtlCol="0" anchor="t"/>
          <a:lstStyle/>
          <a:p>
            <a:pPr indent="0" marL="0">
              <a:buNone/>
            </a:pPr>
            <a:r>
              <a:rPr lang="en-US" sz="3200" b="1" dirty="0">
                <a:solidFill>
                  <a:schemeClr val="accent1"/>
                </a:solidFill>
              </a:rPr>
              <a:t>08</a:t>
            </a:r>
            <a:endParaRPr lang="en-US" sz="3200" dirty="0"/>
          </a:p>
        </p:txBody>
      </p:sp>
      <p:sp>
        <p:nvSpPr>
          <p:cNvPr id="34" name="Agenda title 08"/>
          <p:cNvSpPr txBox="1"/>
          <p:nvPr/>
        </p:nvSpPr>
        <p:spPr>
          <a:xfrm>
            <a:off x="9349511" y="4709160"/>
            <a:ext cx="2019224" cy="685800"/>
          </a:xfrm>
          <a:prstGeom prst="rect">
            <a:avLst/>
          </a:prstGeom>
          <a:noFill/>
          <a:ln/>
        </p:spPr>
        <p:txBody>
          <a:bodyPr wrap="square" lIns="0" tIns="0" rIns="0" bIns="0" rtlCol="0" anchor="t"/>
          <a:lstStyle/>
          <a:p>
            <a:pPr indent="0" marL="0">
              <a:buNone/>
            </a:pPr>
            <a:r>
              <a:rPr lang="en-US" sz="1800" b="1" dirty="0">
                <a:solidFill>
                  <a:schemeClr val="tx1"/>
                </a:solidFill>
              </a:rPr>
              <a:t>Conclusion</a:t>
            </a:r>
            <a:endParaRPr lang="en-US" sz="1800" dirty="0"/>
          </a:p>
        </p:txBody>
      </p:sp>
      <p:sp>
        <p:nvSpPr>
          <p:cNvPr id="35" name="Agenda desc 08"/>
          <p:cNvSpPr txBox="1"/>
          <p:nvPr/>
        </p:nvSpPr>
        <p:spPr>
          <a:xfrm>
            <a:off x="9349511" y="5349240"/>
            <a:ext cx="2019224" cy="548640"/>
          </a:xfrm>
          <a:prstGeom prst="rect">
            <a:avLst/>
          </a:prstGeom>
          <a:noFill/>
          <a:ln/>
        </p:spPr>
        <p:txBody>
          <a:bodyPr wrap="square" lIns="0" tIns="0" rIns="0" bIns="0" rtlCol="0" anchor="t"/>
          <a:lstStyle/>
          <a:p>
            <a:pPr indent="0" marL="0">
              <a:buNone/>
            </a:pPr>
            <a:r>
              <a:rPr lang="en-US" sz="1400" dirty="0">
                <a:solidFill>
                  <a:schemeClr val="tx2"/>
                </a:solidFill>
              </a:rPr>
              <a:t>Key takeaways and questions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01</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Problem &amp; Objectives</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Why estimating PC performance is hard, and what we set out to build</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Judging PC performance from parts is hard</a:t>
            </a:r>
            <a:endParaRPr lang="en-US" sz="3200" dirty="0"/>
          </a:p>
        </p:txBody>
      </p:sp>
      <p:sp>
        <p:nvSpPr>
          <p:cNvPr id="4" name="Problem paragraph 1"/>
          <p:cNvSpPr txBox="1"/>
          <p:nvPr/>
        </p:nvSpPr>
        <p:spPr>
          <a:xfrm>
            <a:off x="548640" y="1463040"/>
            <a:ext cx="5212080" cy="2011680"/>
          </a:xfrm>
          <a:prstGeom prst="rect">
            <a:avLst/>
          </a:prstGeom>
          <a:noFill/>
          <a:ln/>
        </p:spPr>
        <p:txBody>
          <a:bodyPr wrap="square" lIns="0" tIns="0" rIns="0" bIns="0" rtlCol="0" anchor="t"/>
          <a:lstStyle/>
          <a:p>
            <a:pPr indent="0" marL="0">
              <a:buNone/>
            </a:pPr>
            <a:r>
              <a:rPr lang="en-US" sz="1800" dirty="0">
                <a:solidFill>
                  <a:schemeClr val="tx1"/>
                </a:solidFill>
              </a:rPr>
              <a:t>A PC's speed depends on how its CPU, GPU, memory, storage, age and cooling work together. With thousands of possible configurations, estimating performance from individual specs is guesswork, and benchmarking every build by hand is slow and costly.</a:t>
            </a:r>
            <a:endParaRPr lang="en-US" sz="1800" dirty="0"/>
          </a:p>
        </p:txBody>
      </p:sp>
      <p:sp>
        <p:nvSpPr>
          <p:cNvPr id="5" name="Problem paragraph 2"/>
          <p:cNvSpPr txBox="1"/>
          <p:nvPr/>
        </p:nvSpPr>
        <p:spPr>
          <a:xfrm>
            <a:off x="548640" y="3566160"/>
            <a:ext cx="5212080" cy="1463040"/>
          </a:xfrm>
          <a:prstGeom prst="rect">
            <a:avLst/>
          </a:prstGeom>
          <a:noFill/>
          <a:ln/>
        </p:spPr>
        <p:txBody>
          <a:bodyPr wrap="square" lIns="0" tIns="0" rIns="0" bIns="0" rtlCol="0" anchor="t"/>
          <a:lstStyle/>
          <a:p>
            <a:pPr indent="0" marL="0">
              <a:buNone/>
            </a:pPr>
            <a:r>
              <a:rPr lang="en-US" sz="1800" dirty="0">
                <a:solidFill>
                  <a:schemeClr val="tx2"/>
                </a:solidFill>
              </a:rPr>
              <a:t>Raw performance records add another problem: inconsistent units and labels, duplicate rows, missing sensor readings and physically impossible values.</a:t>
            </a:r>
            <a:endParaRPr lang="en-US" sz="1800" dirty="0"/>
          </a:p>
        </p:txBody>
      </p:sp>
      <p:sp>
        <p:nvSpPr>
          <p:cNvPr id="6" name="Problem 1 circle"/>
          <p:cNvSpPr/>
          <p:nvPr/>
        </p:nvSpPr>
        <p:spPr>
          <a:xfrm>
            <a:off x="6400800" y="1463040"/>
            <a:ext cx="777240" cy="777240"/>
          </a:xfrm>
          <a:prstGeom prst="ellipse">
            <a:avLst/>
          </a:prstGeom>
          <a:solidFill>
            <a:schemeClr val="accent1"/>
          </a:solidFill>
          <a:ln w="12700">
            <a:solidFill>
              <a:schemeClr val="accent1"/>
            </a:solidFill>
            <a:prstDash val="solid"/>
          </a:ln>
        </p:spPr>
      </p:sp>
      <p:pic>
        <p:nvPicPr>
          <p:cNvPr id="7" name="Problem 1 icon" descr="preencoded.png">    </p:cNvPr>
          <p:cNvPicPr>
            <a:picLocks noChangeAspect="1"/>
          </p:cNvPicPr>
          <p:nvPr/>
        </p:nvPicPr>
        <p:blipFill>
          <a:blip r:embed="rId1"/>
          <a:stretch>
            <a:fillRect/>
          </a:stretch>
        </p:blipFill>
        <p:spPr>
          <a:xfrm>
            <a:off x="6602882" y="1665122"/>
            <a:ext cx="373075" cy="373075"/>
          </a:xfrm>
          <a:prstGeom prst="rect">
            <a:avLst/>
          </a:prstGeom>
        </p:spPr>
      </p:pic>
      <p:sp>
        <p:nvSpPr>
          <p:cNvPr id="8" name="Problem title 1"/>
          <p:cNvSpPr txBox="1"/>
          <p:nvPr/>
        </p:nvSpPr>
        <p:spPr>
          <a:xfrm>
            <a:off x="7406640" y="1417320"/>
            <a:ext cx="4206240" cy="384048"/>
          </a:xfrm>
          <a:prstGeom prst="rect">
            <a:avLst/>
          </a:prstGeom>
          <a:noFill/>
          <a:ln/>
        </p:spPr>
        <p:txBody>
          <a:bodyPr wrap="square" lIns="0" tIns="0" rIns="0" bIns="0" rtlCol="0" anchor="t"/>
          <a:lstStyle/>
          <a:p>
            <a:pPr indent="0" marL="0">
              <a:buNone/>
            </a:pPr>
            <a:r>
              <a:rPr lang="en-US" sz="1800" b="1" dirty="0">
                <a:solidFill>
                  <a:schemeClr val="tx1"/>
                </a:solidFill>
              </a:rPr>
              <a:t>Too many combinations</a:t>
            </a:r>
            <a:endParaRPr lang="en-US" sz="1800" dirty="0"/>
          </a:p>
        </p:txBody>
      </p:sp>
      <p:sp>
        <p:nvSpPr>
          <p:cNvPr id="9" name="Problem desc 1"/>
          <p:cNvSpPr txBox="1"/>
          <p:nvPr/>
        </p:nvSpPr>
        <p:spPr>
          <a:xfrm>
            <a:off x="7406640" y="1828800"/>
            <a:ext cx="4206240" cy="640080"/>
          </a:xfrm>
          <a:prstGeom prst="rect">
            <a:avLst/>
          </a:prstGeom>
          <a:noFill/>
          <a:ln/>
        </p:spPr>
        <p:txBody>
          <a:bodyPr wrap="square" lIns="0" tIns="0" rIns="0" bIns="0" rtlCol="0" anchor="t"/>
          <a:lstStyle/>
          <a:p>
            <a:pPr indent="0" marL="0">
              <a:buNone/>
            </a:pPr>
            <a:r>
              <a:rPr lang="en-US" sz="1400" dirty="0">
                <a:solidFill>
                  <a:schemeClr val="tx2"/>
                </a:solidFill>
              </a:rPr>
              <a:t>CPUs, GPUs, RAM and storage multiply into thousands of builds</a:t>
            </a:r>
            <a:endParaRPr lang="en-US" sz="1400" dirty="0"/>
          </a:p>
        </p:txBody>
      </p:sp>
      <p:sp>
        <p:nvSpPr>
          <p:cNvPr id="10" name="Problem 2 circle"/>
          <p:cNvSpPr/>
          <p:nvPr/>
        </p:nvSpPr>
        <p:spPr>
          <a:xfrm>
            <a:off x="6400800" y="2651760"/>
            <a:ext cx="777240" cy="777240"/>
          </a:xfrm>
          <a:prstGeom prst="ellipse">
            <a:avLst/>
          </a:prstGeom>
          <a:solidFill>
            <a:schemeClr val="accent1"/>
          </a:solidFill>
          <a:ln w="12700">
            <a:solidFill>
              <a:schemeClr val="accent1"/>
            </a:solidFill>
            <a:prstDash val="solid"/>
          </a:ln>
        </p:spPr>
      </p:sp>
      <p:pic>
        <p:nvPicPr>
          <p:cNvPr id="11" name="Problem 2 icon" descr="preencoded.png">    </p:cNvPr>
          <p:cNvPicPr>
            <a:picLocks noChangeAspect="1"/>
          </p:cNvPicPr>
          <p:nvPr/>
        </p:nvPicPr>
        <p:blipFill>
          <a:blip r:embed="rId2"/>
          <a:stretch>
            <a:fillRect/>
          </a:stretch>
        </p:blipFill>
        <p:spPr>
          <a:xfrm>
            <a:off x="6602882" y="2853842"/>
            <a:ext cx="373075" cy="373075"/>
          </a:xfrm>
          <a:prstGeom prst="rect">
            <a:avLst/>
          </a:prstGeom>
        </p:spPr>
      </p:pic>
      <p:sp>
        <p:nvSpPr>
          <p:cNvPr id="12" name="Problem title 2"/>
          <p:cNvSpPr txBox="1"/>
          <p:nvPr/>
        </p:nvSpPr>
        <p:spPr>
          <a:xfrm>
            <a:off x="7406640" y="2606040"/>
            <a:ext cx="4206240" cy="384048"/>
          </a:xfrm>
          <a:prstGeom prst="rect">
            <a:avLst/>
          </a:prstGeom>
          <a:noFill/>
          <a:ln/>
        </p:spPr>
        <p:txBody>
          <a:bodyPr wrap="square" lIns="0" tIns="0" rIns="0" bIns="0" rtlCol="0" anchor="t"/>
          <a:lstStyle/>
          <a:p>
            <a:pPr indent="0" marL="0">
              <a:buNone/>
            </a:pPr>
            <a:r>
              <a:rPr lang="en-US" sz="1800" b="1" dirty="0">
                <a:solidFill>
                  <a:schemeClr val="tx1"/>
                </a:solidFill>
              </a:rPr>
              <a:t>Specs are hard to compare</a:t>
            </a:r>
            <a:endParaRPr lang="en-US" sz="1800" dirty="0"/>
          </a:p>
        </p:txBody>
      </p:sp>
      <p:sp>
        <p:nvSpPr>
          <p:cNvPr id="13" name="Problem desc 2"/>
          <p:cNvSpPr txBox="1"/>
          <p:nvPr/>
        </p:nvSpPr>
        <p:spPr>
          <a:xfrm>
            <a:off x="7406640" y="3017520"/>
            <a:ext cx="4206240" cy="640080"/>
          </a:xfrm>
          <a:prstGeom prst="rect">
            <a:avLst/>
          </a:prstGeom>
          <a:noFill/>
          <a:ln/>
        </p:spPr>
        <p:txBody>
          <a:bodyPr wrap="square" lIns="0" tIns="0" rIns="0" bIns="0" rtlCol="0" anchor="t"/>
          <a:lstStyle/>
          <a:p>
            <a:pPr indent="0" marL="0">
              <a:buNone/>
            </a:pPr>
            <a:r>
              <a:rPr lang="en-US" sz="1400" dirty="0">
                <a:solidFill>
                  <a:schemeClr val="tx2"/>
                </a:solidFill>
              </a:rPr>
              <a:t>Cores, clocks and GPU tiers don't add up in an obvious way</a:t>
            </a:r>
            <a:endParaRPr lang="en-US" sz="1400" dirty="0"/>
          </a:p>
        </p:txBody>
      </p:sp>
      <p:sp>
        <p:nvSpPr>
          <p:cNvPr id="14" name="Problem 3 circle"/>
          <p:cNvSpPr/>
          <p:nvPr/>
        </p:nvSpPr>
        <p:spPr>
          <a:xfrm>
            <a:off x="6400800" y="3840480"/>
            <a:ext cx="777240" cy="777240"/>
          </a:xfrm>
          <a:prstGeom prst="ellipse">
            <a:avLst/>
          </a:prstGeom>
          <a:solidFill>
            <a:schemeClr val="accent1"/>
          </a:solidFill>
          <a:ln w="12700">
            <a:solidFill>
              <a:schemeClr val="accent1"/>
            </a:solidFill>
            <a:prstDash val="solid"/>
          </a:ln>
        </p:spPr>
      </p:sp>
      <p:pic>
        <p:nvPicPr>
          <p:cNvPr id="15" name="Problem 3 icon" descr="preencoded.png">    </p:cNvPr>
          <p:cNvPicPr>
            <a:picLocks noChangeAspect="1"/>
          </p:cNvPicPr>
          <p:nvPr/>
        </p:nvPicPr>
        <p:blipFill>
          <a:blip r:embed="rId3"/>
          <a:stretch>
            <a:fillRect/>
          </a:stretch>
        </p:blipFill>
        <p:spPr>
          <a:xfrm>
            <a:off x="6602882" y="4042562"/>
            <a:ext cx="373075" cy="373075"/>
          </a:xfrm>
          <a:prstGeom prst="rect">
            <a:avLst/>
          </a:prstGeom>
        </p:spPr>
      </p:pic>
      <p:sp>
        <p:nvSpPr>
          <p:cNvPr id="16" name="Problem title 3"/>
          <p:cNvSpPr txBox="1"/>
          <p:nvPr/>
        </p:nvSpPr>
        <p:spPr>
          <a:xfrm>
            <a:off x="7406640" y="3794760"/>
            <a:ext cx="4206240" cy="384048"/>
          </a:xfrm>
          <a:prstGeom prst="rect">
            <a:avLst/>
          </a:prstGeom>
          <a:noFill/>
          <a:ln/>
        </p:spPr>
        <p:txBody>
          <a:bodyPr wrap="square" lIns="0" tIns="0" rIns="0" bIns="0" rtlCol="0" anchor="t"/>
          <a:lstStyle/>
          <a:p>
            <a:pPr indent="0" marL="0">
              <a:buNone/>
            </a:pPr>
            <a:r>
              <a:rPr lang="en-US" sz="1800" b="1" dirty="0">
                <a:solidFill>
                  <a:schemeClr val="tx1"/>
                </a:solidFill>
              </a:rPr>
              <a:t>Benchmarking is slow</a:t>
            </a:r>
            <a:endParaRPr lang="en-US" sz="1800" dirty="0"/>
          </a:p>
        </p:txBody>
      </p:sp>
      <p:sp>
        <p:nvSpPr>
          <p:cNvPr id="17" name="Problem desc 3"/>
          <p:cNvSpPr txBox="1"/>
          <p:nvPr/>
        </p:nvSpPr>
        <p:spPr>
          <a:xfrm>
            <a:off x="7406640" y="4206240"/>
            <a:ext cx="4206240" cy="640080"/>
          </a:xfrm>
          <a:prstGeom prst="rect">
            <a:avLst/>
          </a:prstGeom>
          <a:noFill/>
          <a:ln/>
        </p:spPr>
        <p:txBody>
          <a:bodyPr wrap="square" lIns="0" tIns="0" rIns="0" bIns="0" rtlCol="0" anchor="t"/>
          <a:lstStyle/>
          <a:p>
            <a:pPr indent="0" marL="0">
              <a:buNone/>
            </a:pPr>
            <a:r>
              <a:rPr lang="en-US" sz="1400" dirty="0">
                <a:solidFill>
                  <a:schemeClr val="tx2"/>
                </a:solidFill>
              </a:rPr>
              <a:t>Testing every configuration needs the hardware in hand</a:t>
            </a:r>
            <a:endParaRPr lang="en-US" sz="1400" dirty="0"/>
          </a:p>
        </p:txBody>
      </p:sp>
      <p:sp>
        <p:nvSpPr>
          <p:cNvPr id="18" name="Problem 4 circle"/>
          <p:cNvSpPr/>
          <p:nvPr/>
        </p:nvSpPr>
        <p:spPr>
          <a:xfrm>
            <a:off x="6400800" y="5029200"/>
            <a:ext cx="777240" cy="777240"/>
          </a:xfrm>
          <a:prstGeom prst="ellipse">
            <a:avLst/>
          </a:prstGeom>
          <a:solidFill>
            <a:schemeClr val="accent1"/>
          </a:solidFill>
          <a:ln w="12700">
            <a:solidFill>
              <a:schemeClr val="accent1"/>
            </a:solidFill>
            <a:prstDash val="solid"/>
          </a:ln>
        </p:spPr>
      </p:sp>
      <p:pic>
        <p:nvPicPr>
          <p:cNvPr id="19" name="Problem 4 icon" descr="preencoded.png">    </p:cNvPr>
          <p:cNvPicPr>
            <a:picLocks noChangeAspect="1"/>
          </p:cNvPicPr>
          <p:nvPr/>
        </p:nvPicPr>
        <p:blipFill>
          <a:blip r:embed="rId4"/>
          <a:stretch>
            <a:fillRect/>
          </a:stretch>
        </p:blipFill>
        <p:spPr>
          <a:xfrm>
            <a:off x="6602882" y="5231282"/>
            <a:ext cx="373075" cy="373075"/>
          </a:xfrm>
          <a:prstGeom prst="rect">
            <a:avLst/>
          </a:prstGeom>
        </p:spPr>
      </p:pic>
      <p:sp>
        <p:nvSpPr>
          <p:cNvPr id="20" name="Problem title 4"/>
          <p:cNvSpPr txBox="1"/>
          <p:nvPr/>
        </p:nvSpPr>
        <p:spPr>
          <a:xfrm>
            <a:off x="7406640" y="4983480"/>
            <a:ext cx="4206240" cy="384048"/>
          </a:xfrm>
          <a:prstGeom prst="rect">
            <a:avLst/>
          </a:prstGeom>
          <a:noFill/>
          <a:ln/>
        </p:spPr>
        <p:txBody>
          <a:bodyPr wrap="square" lIns="0" tIns="0" rIns="0" bIns="0" rtlCol="0" anchor="t"/>
          <a:lstStyle/>
          <a:p>
            <a:pPr indent="0" marL="0">
              <a:buNone/>
            </a:pPr>
            <a:r>
              <a:rPr lang="en-US" sz="1800" b="1" dirty="0">
                <a:solidFill>
                  <a:schemeClr val="tx1"/>
                </a:solidFill>
              </a:rPr>
              <a:t>Raw data is messy</a:t>
            </a:r>
            <a:endParaRPr lang="en-US" sz="1800" dirty="0"/>
          </a:p>
        </p:txBody>
      </p:sp>
      <p:sp>
        <p:nvSpPr>
          <p:cNvPr id="21" name="Problem desc 4"/>
          <p:cNvSpPr txBox="1"/>
          <p:nvPr/>
        </p:nvSpPr>
        <p:spPr>
          <a:xfrm>
            <a:off x="7406640" y="5394960"/>
            <a:ext cx="4206240" cy="640080"/>
          </a:xfrm>
          <a:prstGeom prst="rect">
            <a:avLst/>
          </a:prstGeom>
          <a:noFill/>
          <a:ln/>
        </p:spPr>
        <p:txBody>
          <a:bodyPr wrap="square" lIns="0" tIns="0" rIns="0" bIns="0" rtlCol="0" anchor="t"/>
          <a:lstStyle/>
          <a:p>
            <a:pPr indent="0" marL="0">
              <a:buNone/>
            </a:pPr>
            <a:r>
              <a:rPr lang="en-US" sz="1400" dirty="0">
                <a:solidFill>
                  <a:schemeClr val="tx2"/>
                </a:solidFill>
              </a:rPr>
              <a:t>Missing, duplicate and invalid records hurt analysis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Project objectives</a:t>
            </a:r>
            <a:endParaRPr lang="en-US" sz="3200" dirty="0"/>
          </a:p>
        </p:txBody>
      </p:sp>
      <p:sp>
        <p:nvSpPr>
          <p:cNvPr id="4" name="Objective card 1"/>
          <p:cNvSpPr/>
          <p:nvPr/>
        </p:nvSpPr>
        <p:spPr>
          <a:xfrm>
            <a:off x="548640" y="1554480"/>
            <a:ext cx="2567864" cy="3657600"/>
          </a:xfrm>
          <a:prstGeom prst="roundRect">
            <a:avLst>
              <a:gd name="adj" fmla="val 2849"/>
            </a:avLst>
          </a:prstGeom>
          <a:solidFill>
            <a:schemeClr val="bg2"/>
          </a:solidFill>
          <a:ln w="12700">
            <a:solidFill>
              <a:schemeClr val="bg2"/>
            </a:solidFill>
            <a:prstDash val="solid"/>
          </a:ln>
        </p:spPr>
      </p:sp>
      <p:sp>
        <p:nvSpPr>
          <p:cNvPr id="5" name="Objective 1 circle"/>
          <p:cNvSpPr/>
          <p:nvPr/>
        </p:nvSpPr>
        <p:spPr>
          <a:xfrm>
            <a:off x="868680" y="1920240"/>
            <a:ext cx="914400" cy="914400"/>
          </a:xfrm>
          <a:prstGeom prst="ellipse">
            <a:avLst/>
          </a:prstGeom>
          <a:solidFill>
            <a:schemeClr val="accent1"/>
          </a:solidFill>
          <a:ln w="12700">
            <a:solidFill>
              <a:schemeClr val="accent1"/>
            </a:solidFill>
            <a:prstDash val="solid"/>
          </a:ln>
        </p:spPr>
      </p:sp>
      <p:pic>
        <p:nvPicPr>
          <p:cNvPr id="6" name="Objective 1 icon" descr="preencoded.png">    </p:cNvPr>
          <p:cNvPicPr>
            <a:picLocks noChangeAspect="1"/>
          </p:cNvPicPr>
          <p:nvPr/>
        </p:nvPicPr>
        <p:blipFill>
          <a:blip r:embed="rId1"/>
          <a:stretch>
            <a:fillRect/>
          </a:stretch>
        </p:blipFill>
        <p:spPr>
          <a:xfrm>
            <a:off x="1106424" y="2157984"/>
            <a:ext cx="438912" cy="438912"/>
          </a:xfrm>
          <a:prstGeom prst="rect">
            <a:avLst/>
          </a:prstGeom>
        </p:spPr>
      </p:pic>
      <p:sp>
        <p:nvSpPr>
          <p:cNvPr id="7" name="Objective number 1"/>
          <p:cNvSpPr txBox="1"/>
          <p:nvPr/>
        </p:nvSpPr>
        <p:spPr>
          <a:xfrm>
            <a:off x="2156384" y="1965960"/>
            <a:ext cx="685800" cy="457200"/>
          </a:xfrm>
          <a:prstGeom prst="rect">
            <a:avLst/>
          </a:prstGeom>
          <a:noFill/>
          <a:ln/>
        </p:spPr>
        <p:txBody>
          <a:bodyPr wrap="square" lIns="0" tIns="0" rIns="0" bIns="0" rtlCol="0" anchor="t"/>
          <a:lstStyle/>
          <a:p>
            <a:pPr algn="r" indent="0" marL="0">
              <a:buNone/>
            </a:pPr>
            <a:r>
              <a:rPr lang="en-US" sz="2200" b="1" dirty="0">
                <a:solidFill>
                  <a:schemeClr val="accent4"/>
                </a:solidFill>
              </a:rPr>
              <a:t>01</a:t>
            </a:r>
            <a:endParaRPr lang="en-US" sz="2200" dirty="0"/>
          </a:p>
        </p:txBody>
      </p:sp>
      <p:sp>
        <p:nvSpPr>
          <p:cNvPr id="8" name="Objective title 1"/>
          <p:cNvSpPr txBox="1"/>
          <p:nvPr/>
        </p:nvSpPr>
        <p:spPr>
          <a:xfrm>
            <a:off x="868680" y="3154680"/>
            <a:ext cx="1927784" cy="777240"/>
          </a:xfrm>
          <a:prstGeom prst="rect">
            <a:avLst/>
          </a:prstGeom>
          <a:noFill/>
          <a:ln/>
        </p:spPr>
        <p:txBody>
          <a:bodyPr wrap="square" lIns="0" tIns="0" rIns="0" bIns="0" rtlCol="0" anchor="t"/>
          <a:lstStyle/>
          <a:p>
            <a:pPr indent="0" marL="0">
              <a:buNone/>
            </a:pPr>
            <a:r>
              <a:rPr lang="en-US" sz="2000" b="1" dirty="0">
                <a:solidFill>
                  <a:schemeClr val="tx1"/>
                </a:solidFill>
              </a:rPr>
              <a:t>Clean the data</a:t>
            </a:r>
            <a:endParaRPr lang="en-US" sz="2000" dirty="0"/>
          </a:p>
        </p:txBody>
      </p:sp>
      <p:sp>
        <p:nvSpPr>
          <p:cNvPr id="9" name="Objective desc 1"/>
          <p:cNvSpPr txBox="1"/>
          <p:nvPr/>
        </p:nvSpPr>
        <p:spPr>
          <a:xfrm>
            <a:off x="868680" y="3977640"/>
            <a:ext cx="1927784" cy="1463040"/>
          </a:xfrm>
          <a:prstGeom prst="rect">
            <a:avLst/>
          </a:prstGeom>
          <a:noFill/>
          <a:ln/>
        </p:spPr>
        <p:txBody>
          <a:bodyPr wrap="square" lIns="0" tIns="0" rIns="0" bIns="0" rtlCol="0" anchor="t"/>
          <a:lstStyle/>
          <a:p>
            <a:pPr indent="0" marL="0">
              <a:buNone/>
            </a:pPr>
            <a:r>
              <a:rPr lang="en-US" sz="1500" dirty="0">
                <a:solidFill>
                  <a:schemeClr val="tx2"/>
                </a:solidFill>
              </a:rPr>
              <a:t>Turn 520 inconsistent raw records into a reliable, ML-ready dataset</a:t>
            </a:r>
            <a:endParaRPr lang="en-US" sz="1500" dirty="0"/>
          </a:p>
        </p:txBody>
      </p:sp>
      <p:sp>
        <p:nvSpPr>
          <p:cNvPr id="10" name="Objective card 2"/>
          <p:cNvSpPr/>
          <p:nvPr/>
        </p:nvSpPr>
        <p:spPr>
          <a:xfrm>
            <a:off x="3390824" y="1554480"/>
            <a:ext cx="2567864" cy="3657600"/>
          </a:xfrm>
          <a:prstGeom prst="roundRect">
            <a:avLst>
              <a:gd name="adj" fmla="val 2849"/>
            </a:avLst>
          </a:prstGeom>
          <a:solidFill>
            <a:schemeClr val="bg2"/>
          </a:solidFill>
          <a:ln w="12700">
            <a:solidFill>
              <a:schemeClr val="bg2"/>
            </a:solidFill>
            <a:prstDash val="solid"/>
          </a:ln>
        </p:spPr>
      </p:sp>
      <p:sp>
        <p:nvSpPr>
          <p:cNvPr id="11" name="Objective 2 circle"/>
          <p:cNvSpPr/>
          <p:nvPr/>
        </p:nvSpPr>
        <p:spPr>
          <a:xfrm>
            <a:off x="3710864" y="1920240"/>
            <a:ext cx="914400" cy="914400"/>
          </a:xfrm>
          <a:prstGeom prst="ellipse">
            <a:avLst/>
          </a:prstGeom>
          <a:solidFill>
            <a:schemeClr val="accent1"/>
          </a:solidFill>
          <a:ln w="12700">
            <a:solidFill>
              <a:schemeClr val="accent1"/>
            </a:solidFill>
            <a:prstDash val="solid"/>
          </a:ln>
        </p:spPr>
      </p:sp>
      <p:pic>
        <p:nvPicPr>
          <p:cNvPr id="12" name="Objective 2 icon" descr="preencoded.png">    </p:cNvPr>
          <p:cNvPicPr>
            <a:picLocks noChangeAspect="1"/>
          </p:cNvPicPr>
          <p:nvPr/>
        </p:nvPicPr>
        <p:blipFill>
          <a:blip r:embed="rId2"/>
          <a:stretch>
            <a:fillRect/>
          </a:stretch>
        </p:blipFill>
        <p:spPr>
          <a:xfrm>
            <a:off x="3948608" y="2157984"/>
            <a:ext cx="438912" cy="438912"/>
          </a:xfrm>
          <a:prstGeom prst="rect">
            <a:avLst/>
          </a:prstGeom>
        </p:spPr>
      </p:pic>
      <p:sp>
        <p:nvSpPr>
          <p:cNvPr id="13" name="Objective number 2"/>
          <p:cNvSpPr txBox="1"/>
          <p:nvPr/>
        </p:nvSpPr>
        <p:spPr>
          <a:xfrm>
            <a:off x="4998568" y="1965960"/>
            <a:ext cx="685800" cy="457200"/>
          </a:xfrm>
          <a:prstGeom prst="rect">
            <a:avLst/>
          </a:prstGeom>
          <a:noFill/>
          <a:ln/>
        </p:spPr>
        <p:txBody>
          <a:bodyPr wrap="square" lIns="0" tIns="0" rIns="0" bIns="0" rtlCol="0" anchor="t"/>
          <a:lstStyle/>
          <a:p>
            <a:pPr algn="r" indent="0" marL="0">
              <a:buNone/>
            </a:pPr>
            <a:r>
              <a:rPr lang="en-US" sz="2200" b="1" dirty="0">
                <a:solidFill>
                  <a:schemeClr val="accent4"/>
                </a:solidFill>
              </a:rPr>
              <a:t>02</a:t>
            </a:r>
            <a:endParaRPr lang="en-US" sz="2200" dirty="0"/>
          </a:p>
        </p:txBody>
      </p:sp>
      <p:sp>
        <p:nvSpPr>
          <p:cNvPr id="14" name="Objective title 2"/>
          <p:cNvSpPr txBox="1"/>
          <p:nvPr/>
        </p:nvSpPr>
        <p:spPr>
          <a:xfrm>
            <a:off x="3710864" y="3154680"/>
            <a:ext cx="1927784" cy="777240"/>
          </a:xfrm>
          <a:prstGeom prst="rect">
            <a:avLst/>
          </a:prstGeom>
          <a:noFill/>
          <a:ln/>
        </p:spPr>
        <p:txBody>
          <a:bodyPr wrap="square" lIns="0" tIns="0" rIns="0" bIns="0" rtlCol="0" anchor="t"/>
          <a:lstStyle/>
          <a:p>
            <a:pPr indent="0" marL="0">
              <a:buNone/>
            </a:pPr>
            <a:r>
              <a:rPr lang="en-US" sz="2000" b="1" dirty="0">
                <a:solidFill>
                  <a:schemeClr val="tx1"/>
                </a:solidFill>
              </a:rPr>
              <a:t>Train &amp; compare models</a:t>
            </a:r>
            <a:endParaRPr lang="en-US" sz="2000" dirty="0"/>
          </a:p>
        </p:txBody>
      </p:sp>
      <p:sp>
        <p:nvSpPr>
          <p:cNvPr id="15" name="Objective desc 2"/>
          <p:cNvSpPr txBox="1"/>
          <p:nvPr/>
        </p:nvSpPr>
        <p:spPr>
          <a:xfrm>
            <a:off x="3710864" y="3977640"/>
            <a:ext cx="1927784" cy="1463040"/>
          </a:xfrm>
          <a:prstGeom prst="rect">
            <a:avLst/>
          </a:prstGeom>
          <a:noFill/>
          <a:ln/>
        </p:spPr>
        <p:txBody>
          <a:bodyPr wrap="square" lIns="0" tIns="0" rIns="0" bIns="0" rtlCol="0" anchor="t"/>
          <a:lstStyle/>
          <a:p>
            <a:pPr indent="0" marL="0">
              <a:buNone/>
            </a:pPr>
            <a:r>
              <a:rPr lang="en-US" sz="1500" dirty="0">
                <a:solidFill>
                  <a:schemeClr val="tx2"/>
                </a:solidFill>
              </a:rPr>
              <a:t>Evaluate 7 regression algorithms with 5-fold cross-validation</a:t>
            </a:r>
            <a:endParaRPr lang="en-US" sz="1500" dirty="0"/>
          </a:p>
        </p:txBody>
      </p:sp>
      <p:sp>
        <p:nvSpPr>
          <p:cNvPr id="16" name="Objective card 3"/>
          <p:cNvSpPr/>
          <p:nvPr/>
        </p:nvSpPr>
        <p:spPr>
          <a:xfrm>
            <a:off x="6233008" y="1554480"/>
            <a:ext cx="2567864" cy="3657600"/>
          </a:xfrm>
          <a:prstGeom prst="roundRect">
            <a:avLst>
              <a:gd name="adj" fmla="val 2849"/>
            </a:avLst>
          </a:prstGeom>
          <a:solidFill>
            <a:schemeClr val="bg2"/>
          </a:solidFill>
          <a:ln w="12700">
            <a:solidFill>
              <a:schemeClr val="bg2"/>
            </a:solidFill>
            <a:prstDash val="solid"/>
          </a:ln>
        </p:spPr>
      </p:sp>
      <p:sp>
        <p:nvSpPr>
          <p:cNvPr id="17" name="Objective 3 circle"/>
          <p:cNvSpPr/>
          <p:nvPr/>
        </p:nvSpPr>
        <p:spPr>
          <a:xfrm>
            <a:off x="6553048" y="1920240"/>
            <a:ext cx="914400" cy="914400"/>
          </a:xfrm>
          <a:prstGeom prst="ellipse">
            <a:avLst/>
          </a:prstGeom>
          <a:solidFill>
            <a:schemeClr val="accent1"/>
          </a:solidFill>
          <a:ln w="12700">
            <a:solidFill>
              <a:schemeClr val="accent1"/>
            </a:solidFill>
            <a:prstDash val="solid"/>
          </a:ln>
        </p:spPr>
      </p:sp>
      <p:pic>
        <p:nvPicPr>
          <p:cNvPr id="18" name="Objective 3 icon" descr="preencoded.png">    </p:cNvPr>
          <p:cNvPicPr>
            <a:picLocks noChangeAspect="1"/>
          </p:cNvPicPr>
          <p:nvPr/>
        </p:nvPicPr>
        <p:blipFill>
          <a:blip r:embed="rId3"/>
          <a:stretch>
            <a:fillRect/>
          </a:stretch>
        </p:blipFill>
        <p:spPr>
          <a:xfrm>
            <a:off x="6790792" y="2157984"/>
            <a:ext cx="438912" cy="438912"/>
          </a:xfrm>
          <a:prstGeom prst="rect">
            <a:avLst/>
          </a:prstGeom>
        </p:spPr>
      </p:pic>
      <p:sp>
        <p:nvSpPr>
          <p:cNvPr id="19" name="Objective number 3"/>
          <p:cNvSpPr txBox="1"/>
          <p:nvPr/>
        </p:nvSpPr>
        <p:spPr>
          <a:xfrm>
            <a:off x="7840751" y="1965960"/>
            <a:ext cx="685800" cy="457200"/>
          </a:xfrm>
          <a:prstGeom prst="rect">
            <a:avLst/>
          </a:prstGeom>
          <a:noFill/>
          <a:ln/>
        </p:spPr>
        <p:txBody>
          <a:bodyPr wrap="square" lIns="0" tIns="0" rIns="0" bIns="0" rtlCol="0" anchor="t"/>
          <a:lstStyle/>
          <a:p>
            <a:pPr algn="r" indent="0" marL="0">
              <a:buNone/>
            </a:pPr>
            <a:r>
              <a:rPr lang="en-US" sz="2200" b="1" dirty="0">
                <a:solidFill>
                  <a:schemeClr val="accent4"/>
                </a:solidFill>
              </a:rPr>
              <a:t>03</a:t>
            </a:r>
            <a:endParaRPr lang="en-US" sz="2200" dirty="0"/>
          </a:p>
        </p:txBody>
      </p:sp>
      <p:sp>
        <p:nvSpPr>
          <p:cNvPr id="20" name="Objective title 3"/>
          <p:cNvSpPr txBox="1"/>
          <p:nvPr/>
        </p:nvSpPr>
        <p:spPr>
          <a:xfrm>
            <a:off x="6553048" y="3154680"/>
            <a:ext cx="1927784" cy="777240"/>
          </a:xfrm>
          <a:prstGeom prst="rect">
            <a:avLst/>
          </a:prstGeom>
          <a:noFill/>
          <a:ln/>
        </p:spPr>
        <p:txBody>
          <a:bodyPr wrap="square" lIns="0" tIns="0" rIns="0" bIns="0" rtlCol="0" anchor="t"/>
          <a:lstStyle/>
          <a:p>
            <a:pPr indent="0" marL="0">
              <a:buNone/>
            </a:pPr>
            <a:r>
              <a:rPr lang="en-US" sz="2000" b="1" dirty="0">
                <a:solidFill>
                  <a:schemeClr val="tx1"/>
                </a:solidFill>
              </a:rPr>
              <a:t>Predict the score</a:t>
            </a:r>
            <a:endParaRPr lang="en-US" sz="2000" dirty="0"/>
          </a:p>
        </p:txBody>
      </p:sp>
      <p:sp>
        <p:nvSpPr>
          <p:cNvPr id="21" name="Objective desc 3"/>
          <p:cNvSpPr txBox="1"/>
          <p:nvPr/>
        </p:nvSpPr>
        <p:spPr>
          <a:xfrm>
            <a:off x="6553048" y="3977640"/>
            <a:ext cx="1927784" cy="1463040"/>
          </a:xfrm>
          <a:prstGeom prst="rect">
            <a:avLst/>
          </a:prstGeom>
          <a:noFill/>
          <a:ln/>
        </p:spPr>
        <p:txBody>
          <a:bodyPr wrap="square" lIns="0" tIns="0" rIns="0" bIns="0" rtlCol="0" anchor="t"/>
          <a:lstStyle/>
          <a:p>
            <a:pPr indent="0" marL="0">
              <a:buNone/>
            </a:pPr>
            <a:r>
              <a:rPr lang="en-US" sz="1500" dirty="0">
                <a:solidFill>
                  <a:schemeClr val="tx2"/>
                </a:solidFill>
              </a:rPr>
              <a:t>Estimate Performance_Score (0-1000) from 8 PC attributes</a:t>
            </a:r>
            <a:endParaRPr lang="en-US" sz="1500" dirty="0"/>
          </a:p>
        </p:txBody>
      </p:sp>
      <p:sp>
        <p:nvSpPr>
          <p:cNvPr id="22" name="Objective card 4"/>
          <p:cNvSpPr/>
          <p:nvPr/>
        </p:nvSpPr>
        <p:spPr>
          <a:xfrm>
            <a:off x="9075191" y="1554480"/>
            <a:ext cx="2567864" cy="3657600"/>
          </a:xfrm>
          <a:prstGeom prst="roundRect">
            <a:avLst>
              <a:gd name="adj" fmla="val 2849"/>
            </a:avLst>
          </a:prstGeom>
          <a:solidFill>
            <a:schemeClr val="bg2"/>
          </a:solidFill>
          <a:ln w="12700">
            <a:solidFill>
              <a:schemeClr val="bg2"/>
            </a:solidFill>
            <a:prstDash val="solid"/>
          </a:ln>
        </p:spPr>
      </p:sp>
      <p:sp>
        <p:nvSpPr>
          <p:cNvPr id="23" name="Objective 4 circle"/>
          <p:cNvSpPr/>
          <p:nvPr/>
        </p:nvSpPr>
        <p:spPr>
          <a:xfrm>
            <a:off x="9395231" y="1920240"/>
            <a:ext cx="914400" cy="914400"/>
          </a:xfrm>
          <a:prstGeom prst="ellipse">
            <a:avLst/>
          </a:prstGeom>
          <a:solidFill>
            <a:schemeClr val="accent1"/>
          </a:solidFill>
          <a:ln w="12700">
            <a:solidFill>
              <a:schemeClr val="accent1"/>
            </a:solidFill>
            <a:prstDash val="solid"/>
          </a:ln>
        </p:spPr>
      </p:sp>
      <p:pic>
        <p:nvPicPr>
          <p:cNvPr id="24" name="Objective 4 icon" descr="preencoded.png">    </p:cNvPr>
          <p:cNvPicPr>
            <a:picLocks noChangeAspect="1"/>
          </p:cNvPicPr>
          <p:nvPr/>
        </p:nvPicPr>
        <p:blipFill>
          <a:blip r:embed="rId4"/>
          <a:stretch>
            <a:fillRect/>
          </a:stretch>
        </p:blipFill>
        <p:spPr>
          <a:xfrm>
            <a:off x="9632975" y="2157984"/>
            <a:ext cx="438912" cy="438912"/>
          </a:xfrm>
          <a:prstGeom prst="rect">
            <a:avLst/>
          </a:prstGeom>
        </p:spPr>
      </p:pic>
      <p:sp>
        <p:nvSpPr>
          <p:cNvPr id="25" name="Objective number 4"/>
          <p:cNvSpPr txBox="1"/>
          <p:nvPr/>
        </p:nvSpPr>
        <p:spPr>
          <a:xfrm>
            <a:off x="10682935" y="1965960"/>
            <a:ext cx="685800" cy="457200"/>
          </a:xfrm>
          <a:prstGeom prst="rect">
            <a:avLst/>
          </a:prstGeom>
          <a:noFill/>
          <a:ln/>
        </p:spPr>
        <p:txBody>
          <a:bodyPr wrap="square" lIns="0" tIns="0" rIns="0" bIns="0" rtlCol="0" anchor="t"/>
          <a:lstStyle/>
          <a:p>
            <a:pPr algn="r" indent="0" marL="0">
              <a:buNone/>
            </a:pPr>
            <a:r>
              <a:rPr lang="en-US" sz="2200" b="1" dirty="0">
                <a:solidFill>
                  <a:schemeClr val="accent4"/>
                </a:solidFill>
              </a:rPr>
              <a:t>04</a:t>
            </a:r>
            <a:endParaRPr lang="en-US" sz="2200" dirty="0"/>
          </a:p>
        </p:txBody>
      </p:sp>
      <p:sp>
        <p:nvSpPr>
          <p:cNvPr id="26" name="Objective title 4"/>
          <p:cNvSpPr txBox="1"/>
          <p:nvPr/>
        </p:nvSpPr>
        <p:spPr>
          <a:xfrm>
            <a:off x="9395231" y="3154680"/>
            <a:ext cx="1927784" cy="777240"/>
          </a:xfrm>
          <a:prstGeom prst="rect">
            <a:avLst/>
          </a:prstGeom>
          <a:noFill/>
          <a:ln/>
        </p:spPr>
        <p:txBody>
          <a:bodyPr wrap="square" lIns="0" tIns="0" rIns="0" bIns="0" rtlCol="0" anchor="t"/>
          <a:lstStyle/>
          <a:p>
            <a:pPr indent="0" marL="0">
              <a:buNone/>
            </a:pPr>
            <a:r>
              <a:rPr lang="en-US" sz="2000" b="1" dirty="0">
                <a:solidFill>
                  <a:schemeClr val="tx1"/>
                </a:solidFill>
              </a:rPr>
              <a:t>Build a usable app</a:t>
            </a:r>
            <a:endParaRPr lang="en-US" sz="2000" dirty="0"/>
          </a:p>
        </p:txBody>
      </p:sp>
      <p:sp>
        <p:nvSpPr>
          <p:cNvPr id="27" name="Objective desc 4"/>
          <p:cNvSpPr txBox="1"/>
          <p:nvPr/>
        </p:nvSpPr>
        <p:spPr>
          <a:xfrm>
            <a:off x="9395231" y="3977640"/>
            <a:ext cx="1927784" cy="1463040"/>
          </a:xfrm>
          <a:prstGeom prst="rect">
            <a:avLst/>
          </a:prstGeom>
          <a:noFill/>
          <a:ln/>
        </p:spPr>
        <p:txBody>
          <a:bodyPr wrap="square" lIns="0" tIns="0" rIns="0" bIns="0" rtlCol="0" anchor="t"/>
          <a:lstStyle/>
          <a:p>
            <a:pPr indent="0" marL="0">
              <a:buNone/>
            </a:pPr>
            <a:r>
              <a:rPr lang="en-US" sz="1500" dirty="0">
                <a:solidFill>
                  <a:schemeClr val="tx2"/>
                </a:solidFill>
              </a:rPr>
              <a:t>Real-time PC builder with compatibility checks, FPS and Excel export</a:t>
            </a:r>
            <a:endParaRPr lang="en-US" sz="15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Learning type: supervised learning (regression)</a:t>
            </a:r>
            <a:endParaRPr lang="en-US" sz="3200" dirty="0"/>
          </a:p>
        </p:txBody>
      </p:sp>
      <p:sp>
        <p:nvSpPr>
          <p:cNvPr id="4" name="IO box 1"/>
          <p:cNvSpPr/>
          <p:nvPr/>
        </p:nvSpPr>
        <p:spPr>
          <a:xfrm>
            <a:off x="548640" y="1417320"/>
            <a:ext cx="3332378" cy="1143000"/>
          </a:xfrm>
          <a:prstGeom prst="roundRect">
            <a:avLst>
              <a:gd name="adj" fmla="val 8000"/>
            </a:avLst>
          </a:prstGeom>
          <a:solidFill>
            <a:schemeClr val="tx1"/>
          </a:solidFill>
          <a:ln w="12700">
            <a:solidFill>
              <a:schemeClr val="tx1"/>
            </a:solidFill>
            <a:prstDash val="solid"/>
          </a:ln>
        </p:spPr>
      </p:sp>
      <p:sp>
        <p:nvSpPr>
          <p:cNvPr id="5" name="IO title 1"/>
          <p:cNvSpPr txBox="1"/>
          <p:nvPr/>
        </p:nvSpPr>
        <p:spPr>
          <a:xfrm>
            <a:off x="777240" y="1554480"/>
            <a:ext cx="2875178" cy="411480"/>
          </a:xfrm>
          <a:prstGeom prst="rect">
            <a:avLst/>
          </a:prstGeom>
          <a:noFill/>
          <a:ln/>
        </p:spPr>
        <p:txBody>
          <a:bodyPr wrap="square" lIns="0" tIns="0" rIns="0" bIns="0" rtlCol="0" anchor="t"/>
          <a:lstStyle/>
          <a:p>
            <a:pPr algn="ctr" indent="0" marL="0">
              <a:buNone/>
            </a:pPr>
            <a:r>
              <a:rPr lang="en-US" sz="2000" b="1" dirty="0">
                <a:solidFill>
                  <a:schemeClr val="bg1"/>
                </a:solidFill>
              </a:rPr>
              <a:t>8 attributes (X)</a:t>
            </a:r>
            <a:endParaRPr lang="en-US" sz="2000" dirty="0"/>
          </a:p>
        </p:txBody>
      </p:sp>
      <p:sp>
        <p:nvSpPr>
          <p:cNvPr id="6" name="IO desc 1"/>
          <p:cNvSpPr txBox="1"/>
          <p:nvPr/>
        </p:nvSpPr>
        <p:spPr>
          <a:xfrm>
            <a:off x="777240" y="2011680"/>
            <a:ext cx="2875178" cy="411480"/>
          </a:xfrm>
          <a:prstGeom prst="rect">
            <a:avLst/>
          </a:prstGeom>
          <a:noFill/>
          <a:ln/>
        </p:spPr>
        <p:txBody>
          <a:bodyPr wrap="square" lIns="0" tIns="0" rIns="0" bIns="0" rtlCol="0" anchor="t"/>
          <a:lstStyle/>
          <a:p>
            <a:pPr algn="ctr" indent="0" marL="0">
              <a:buNone/>
            </a:pPr>
            <a:r>
              <a:rPr lang="en-US" sz="1400" dirty="0">
                <a:solidFill>
                  <a:schemeClr val="bg2"/>
                </a:solidFill>
              </a:rPr>
              <a:t>RAM, cores, GPU, storage, clock, age, temperature, OS</a:t>
            </a:r>
            <a:endParaRPr lang="en-US" sz="1400" dirty="0"/>
          </a:p>
        </p:txBody>
      </p:sp>
      <p:sp>
        <p:nvSpPr>
          <p:cNvPr id="7" name="IO arrow 1"/>
          <p:cNvSpPr/>
          <p:nvPr/>
        </p:nvSpPr>
        <p:spPr>
          <a:xfrm rot="5400000">
            <a:off x="4063898" y="1865376"/>
            <a:ext cx="219456" cy="256032"/>
          </a:xfrm>
          <a:prstGeom prst="triangle">
            <a:avLst/>
          </a:prstGeom>
          <a:solidFill>
            <a:schemeClr val="accent4"/>
          </a:solidFill>
          <a:ln w="12700">
            <a:solidFill>
              <a:schemeClr val="accent4"/>
            </a:solidFill>
            <a:prstDash val="solid"/>
          </a:ln>
        </p:spPr>
      </p:sp>
      <p:sp>
        <p:nvSpPr>
          <p:cNvPr id="8" name="IO box 2"/>
          <p:cNvSpPr/>
          <p:nvPr/>
        </p:nvSpPr>
        <p:spPr>
          <a:xfrm>
            <a:off x="4429658" y="1417320"/>
            <a:ext cx="3332378" cy="1143000"/>
          </a:xfrm>
          <a:prstGeom prst="roundRect">
            <a:avLst>
              <a:gd name="adj" fmla="val 8000"/>
            </a:avLst>
          </a:prstGeom>
          <a:solidFill>
            <a:schemeClr val="accent1"/>
          </a:solidFill>
          <a:ln w="12700">
            <a:solidFill>
              <a:schemeClr val="accent1"/>
            </a:solidFill>
            <a:prstDash val="solid"/>
          </a:ln>
        </p:spPr>
      </p:sp>
      <p:sp>
        <p:nvSpPr>
          <p:cNvPr id="9" name="IO title 2"/>
          <p:cNvSpPr txBox="1"/>
          <p:nvPr/>
        </p:nvSpPr>
        <p:spPr>
          <a:xfrm>
            <a:off x="4658258" y="1554480"/>
            <a:ext cx="2875178" cy="411480"/>
          </a:xfrm>
          <a:prstGeom prst="rect">
            <a:avLst/>
          </a:prstGeom>
          <a:noFill/>
          <a:ln/>
        </p:spPr>
        <p:txBody>
          <a:bodyPr wrap="square" lIns="0" tIns="0" rIns="0" bIns="0" rtlCol="0" anchor="t"/>
          <a:lstStyle/>
          <a:p>
            <a:pPr algn="ctr" indent="0" marL="0">
              <a:buNone/>
            </a:pPr>
            <a:r>
              <a:rPr lang="en-US" sz="2000" b="1" dirty="0">
                <a:solidFill>
                  <a:schemeClr val="bg1"/>
                </a:solidFill>
              </a:rPr>
              <a:t>Model  f(X)</a:t>
            </a:r>
            <a:endParaRPr lang="en-US" sz="2000" dirty="0"/>
          </a:p>
        </p:txBody>
      </p:sp>
      <p:sp>
        <p:nvSpPr>
          <p:cNvPr id="10" name="IO desc 2"/>
          <p:cNvSpPr txBox="1"/>
          <p:nvPr/>
        </p:nvSpPr>
        <p:spPr>
          <a:xfrm>
            <a:off x="4658258" y="2011680"/>
            <a:ext cx="2875178" cy="411480"/>
          </a:xfrm>
          <a:prstGeom prst="rect">
            <a:avLst/>
          </a:prstGeom>
          <a:noFill/>
          <a:ln/>
        </p:spPr>
        <p:txBody>
          <a:bodyPr wrap="square" lIns="0" tIns="0" rIns="0" bIns="0" rtlCol="0" anchor="t"/>
          <a:lstStyle/>
          <a:p>
            <a:pPr algn="ctr" indent="0" marL="0">
              <a:buNone/>
            </a:pPr>
            <a:r>
              <a:rPr lang="en-US" sz="1400" dirty="0">
                <a:solidFill>
                  <a:schemeClr val="bg2"/>
                </a:solidFill>
              </a:rPr>
              <a:t>Learned from 402 labelled PCs</a:t>
            </a:r>
            <a:endParaRPr lang="en-US" sz="1400" dirty="0"/>
          </a:p>
        </p:txBody>
      </p:sp>
      <p:sp>
        <p:nvSpPr>
          <p:cNvPr id="11" name="IO arrow 2"/>
          <p:cNvSpPr/>
          <p:nvPr/>
        </p:nvSpPr>
        <p:spPr>
          <a:xfrm rot="5400000">
            <a:off x="7944917" y="1865376"/>
            <a:ext cx="219456" cy="256032"/>
          </a:xfrm>
          <a:prstGeom prst="triangle">
            <a:avLst/>
          </a:prstGeom>
          <a:solidFill>
            <a:schemeClr val="accent4"/>
          </a:solidFill>
          <a:ln w="12700">
            <a:solidFill>
              <a:schemeClr val="accent4"/>
            </a:solidFill>
            <a:prstDash val="solid"/>
          </a:ln>
        </p:spPr>
      </p:sp>
      <p:sp>
        <p:nvSpPr>
          <p:cNvPr id="12" name="IO box 3"/>
          <p:cNvSpPr/>
          <p:nvPr/>
        </p:nvSpPr>
        <p:spPr>
          <a:xfrm>
            <a:off x="8310677" y="1417320"/>
            <a:ext cx="3332378" cy="1143000"/>
          </a:xfrm>
          <a:prstGeom prst="roundRect">
            <a:avLst>
              <a:gd name="adj" fmla="val 8000"/>
            </a:avLst>
          </a:prstGeom>
          <a:solidFill>
            <a:schemeClr val="tx1"/>
          </a:solidFill>
          <a:ln w="12700">
            <a:solidFill>
              <a:schemeClr val="tx1"/>
            </a:solidFill>
            <a:prstDash val="solid"/>
          </a:ln>
        </p:spPr>
      </p:sp>
      <p:sp>
        <p:nvSpPr>
          <p:cNvPr id="13" name="IO title 3"/>
          <p:cNvSpPr txBox="1"/>
          <p:nvPr/>
        </p:nvSpPr>
        <p:spPr>
          <a:xfrm>
            <a:off x="8539277" y="1554480"/>
            <a:ext cx="2875178" cy="411480"/>
          </a:xfrm>
          <a:prstGeom prst="rect">
            <a:avLst/>
          </a:prstGeom>
          <a:noFill/>
          <a:ln/>
        </p:spPr>
        <p:txBody>
          <a:bodyPr wrap="square" lIns="0" tIns="0" rIns="0" bIns="0" rtlCol="0" anchor="t"/>
          <a:lstStyle/>
          <a:p>
            <a:pPr algn="ctr" indent="0" marL="0">
              <a:buNone/>
            </a:pPr>
            <a:r>
              <a:rPr lang="en-US" sz="2000" b="1" dirty="0">
                <a:solidFill>
                  <a:schemeClr val="bg1"/>
                </a:solidFill>
              </a:rPr>
              <a:t>Performance_Score (y)</a:t>
            </a:r>
            <a:endParaRPr lang="en-US" sz="2000" dirty="0"/>
          </a:p>
        </p:txBody>
      </p:sp>
      <p:sp>
        <p:nvSpPr>
          <p:cNvPr id="14" name="IO desc 3"/>
          <p:cNvSpPr txBox="1"/>
          <p:nvPr/>
        </p:nvSpPr>
        <p:spPr>
          <a:xfrm>
            <a:off x="8539277" y="2011680"/>
            <a:ext cx="2875178" cy="411480"/>
          </a:xfrm>
          <a:prstGeom prst="rect">
            <a:avLst/>
          </a:prstGeom>
          <a:noFill/>
          <a:ln/>
        </p:spPr>
        <p:txBody>
          <a:bodyPr wrap="square" lIns="0" tIns="0" rIns="0" bIns="0" rtlCol="0" anchor="t"/>
          <a:lstStyle/>
          <a:p>
            <a:pPr algn="ctr" indent="0" marL="0">
              <a:buNone/>
            </a:pPr>
            <a:r>
              <a:rPr lang="en-US" sz="1400" dirty="0">
                <a:solidFill>
                  <a:schemeClr val="bg2"/>
                </a:solidFill>
              </a:rPr>
              <a:t>A number from 0 to 1000</a:t>
            </a:r>
            <a:endParaRPr lang="en-US" sz="1400" dirty="0"/>
          </a:p>
        </p:txBody>
      </p:sp>
      <p:sp>
        <p:nvSpPr>
          <p:cNvPr id="15" name="Learning type card 1"/>
          <p:cNvSpPr/>
          <p:nvPr/>
        </p:nvSpPr>
        <p:spPr>
          <a:xfrm>
            <a:off x="548640" y="2926080"/>
            <a:ext cx="5410048" cy="3200400"/>
          </a:xfrm>
          <a:prstGeom prst="roundRect">
            <a:avLst>
              <a:gd name="adj" fmla="val 2286"/>
            </a:avLst>
          </a:prstGeom>
          <a:solidFill>
            <a:schemeClr val="bg2"/>
          </a:solidFill>
          <a:ln w="12700">
            <a:solidFill>
              <a:schemeClr val="bg2"/>
            </a:solidFill>
            <a:prstDash val="solid"/>
          </a:ln>
        </p:spPr>
      </p:sp>
      <p:sp>
        <p:nvSpPr>
          <p:cNvPr id="16" name="Learning type 1 circle"/>
          <p:cNvSpPr/>
          <p:nvPr/>
        </p:nvSpPr>
        <p:spPr>
          <a:xfrm>
            <a:off x="868680" y="3200400"/>
            <a:ext cx="640080" cy="640080"/>
          </a:xfrm>
          <a:prstGeom prst="ellipse">
            <a:avLst/>
          </a:prstGeom>
          <a:solidFill>
            <a:schemeClr val="accent2"/>
          </a:solidFill>
          <a:ln w="12700">
            <a:solidFill>
              <a:schemeClr val="accent2"/>
            </a:solidFill>
            <a:prstDash val="solid"/>
          </a:ln>
        </p:spPr>
      </p:sp>
      <p:pic>
        <p:nvPicPr>
          <p:cNvPr id="17" name="Learning type 1 icon" descr="preencoded.png">    </p:cNvPr>
          <p:cNvPicPr>
            <a:picLocks noChangeAspect="1"/>
          </p:cNvPicPr>
          <p:nvPr/>
        </p:nvPicPr>
        <p:blipFill>
          <a:blip r:embed="rId1"/>
          <a:stretch>
            <a:fillRect/>
          </a:stretch>
        </p:blipFill>
        <p:spPr>
          <a:xfrm>
            <a:off x="1035101" y="3366821"/>
            <a:ext cx="307238" cy="307238"/>
          </a:xfrm>
          <a:prstGeom prst="rect">
            <a:avLst/>
          </a:prstGeom>
        </p:spPr>
      </p:pic>
      <p:sp>
        <p:nvSpPr>
          <p:cNvPr id="18" name="Learning type title 1"/>
          <p:cNvSpPr txBox="1"/>
          <p:nvPr/>
        </p:nvSpPr>
        <p:spPr>
          <a:xfrm>
            <a:off x="1691640" y="3310128"/>
            <a:ext cx="3947008" cy="411480"/>
          </a:xfrm>
          <a:prstGeom prst="rect">
            <a:avLst/>
          </a:prstGeom>
          <a:noFill/>
          <a:ln/>
        </p:spPr>
        <p:txBody>
          <a:bodyPr wrap="square" lIns="0" tIns="0" rIns="0" bIns="0" rtlCol="0" anchor="t"/>
          <a:lstStyle/>
          <a:p>
            <a:pPr indent="0" marL="0">
              <a:buNone/>
            </a:pPr>
            <a:r>
              <a:rPr lang="en-US" sz="2000" b="1" dirty="0">
                <a:solidFill>
                  <a:schemeClr val="tx1"/>
                </a:solidFill>
              </a:rPr>
              <a:t>Supervised learning: what we use</a:t>
            </a:r>
            <a:endParaRPr lang="en-US" sz="2000" dirty="0"/>
          </a:p>
        </p:txBody>
      </p:sp>
      <p:sp>
        <p:nvSpPr>
          <p:cNvPr id="19" name="Learning type list 1"/>
          <p:cNvSpPr txBox="1"/>
          <p:nvPr/>
        </p:nvSpPr>
        <p:spPr>
          <a:xfrm>
            <a:off x="914400" y="4069080"/>
            <a:ext cx="4678528"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Labelled data: 503 PCs, each with a known score</a:t>
            </a:r>
            <a:endParaRPr lang="en-US" sz="1600" dirty="0"/>
          </a:p>
          <a:p>
            <a:pPr marL="342900" indent="-342900">
              <a:spcAft>
                <a:spcPts val="800"/>
              </a:spcAft>
              <a:buSzPct val="100000"/>
              <a:buChar char="•"/>
            </a:pPr>
            <a:r>
              <a:rPr lang="en-US" sz="1600" dirty="0">
                <a:solidFill>
                  <a:schemeClr val="tx2"/>
                </a:solidFill>
              </a:rPr>
              <a:t>Regression task: the output is a continuous number</a:t>
            </a:r>
            <a:endParaRPr lang="en-US" sz="1600" dirty="0"/>
          </a:p>
          <a:p>
            <a:pPr marL="342900" indent="-342900">
              <a:spcAft>
                <a:spcPts val="800"/>
              </a:spcAft>
              <a:buSzPct val="100000"/>
              <a:buChar char="•"/>
            </a:pPr>
            <a:r>
              <a:rPr lang="en-US" sz="1600" dirty="0">
                <a:solidFill>
                  <a:schemeClr val="tx2"/>
                </a:solidFill>
              </a:rPr>
              <a:t>Batch, model-based learning: trained once, then predicts new PCs</a:t>
            </a:r>
            <a:endParaRPr lang="en-US" sz="1600" dirty="0"/>
          </a:p>
        </p:txBody>
      </p:sp>
      <p:sp>
        <p:nvSpPr>
          <p:cNvPr id="20" name="Learning type card 2"/>
          <p:cNvSpPr/>
          <p:nvPr/>
        </p:nvSpPr>
        <p:spPr>
          <a:xfrm>
            <a:off x="6233008" y="2926080"/>
            <a:ext cx="5410048" cy="3200400"/>
          </a:xfrm>
          <a:prstGeom prst="roundRect">
            <a:avLst>
              <a:gd name="adj" fmla="val 2286"/>
            </a:avLst>
          </a:prstGeom>
          <a:solidFill>
            <a:schemeClr val="bg2"/>
          </a:solidFill>
          <a:ln w="12700">
            <a:solidFill>
              <a:schemeClr val="bg2"/>
            </a:solidFill>
            <a:prstDash val="solid"/>
          </a:ln>
        </p:spPr>
      </p:sp>
      <p:sp>
        <p:nvSpPr>
          <p:cNvPr id="21" name="Learning type 2 circle"/>
          <p:cNvSpPr/>
          <p:nvPr/>
        </p:nvSpPr>
        <p:spPr>
          <a:xfrm>
            <a:off x="6553048" y="3200400"/>
            <a:ext cx="640080" cy="640080"/>
          </a:xfrm>
          <a:prstGeom prst="ellipse">
            <a:avLst/>
          </a:prstGeom>
          <a:solidFill>
            <a:schemeClr val="accent4"/>
          </a:solidFill>
          <a:ln w="12700">
            <a:solidFill>
              <a:schemeClr val="accent4"/>
            </a:solidFill>
            <a:prstDash val="solid"/>
          </a:ln>
        </p:spPr>
      </p:sp>
      <p:pic>
        <p:nvPicPr>
          <p:cNvPr id="22" name="Learning type 2 icon" descr="preencoded.png">    </p:cNvPr>
          <p:cNvPicPr>
            <a:picLocks noChangeAspect="1"/>
          </p:cNvPicPr>
          <p:nvPr/>
        </p:nvPicPr>
        <p:blipFill>
          <a:blip r:embed="rId2"/>
          <a:stretch>
            <a:fillRect/>
          </a:stretch>
        </p:blipFill>
        <p:spPr>
          <a:xfrm>
            <a:off x="6719468" y="3366821"/>
            <a:ext cx="307238" cy="307238"/>
          </a:xfrm>
          <a:prstGeom prst="rect">
            <a:avLst/>
          </a:prstGeom>
        </p:spPr>
      </p:pic>
      <p:sp>
        <p:nvSpPr>
          <p:cNvPr id="23" name="Learning type title 2"/>
          <p:cNvSpPr txBox="1"/>
          <p:nvPr/>
        </p:nvSpPr>
        <p:spPr>
          <a:xfrm>
            <a:off x="7376008" y="3310128"/>
            <a:ext cx="3947008" cy="411480"/>
          </a:xfrm>
          <a:prstGeom prst="rect">
            <a:avLst/>
          </a:prstGeom>
          <a:noFill/>
          <a:ln/>
        </p:spPr>
        <p:txBody>
          <a:bodyPr wrap="square" lIns="0" tIns="0" rIns="0" bIns="0" rtlCol="0" anchor="t"/>
          <a:lstStyle/>
          <a:p>
            <a:pPr indent="0" marL="0">
              <a:buNone/>
            </a:pPr>
            <a:r>
              <a:rPr lang="en-US" sz="2000" b="1" dirty="0">
                <a:solidFill>
                  <a:schemeClr val="tx1"/>
                </a:solidFill>
              </a:rPr>
              <a:t>Unsupervised learning: not used</a:t>
            </a:r>
            <a:endParaRPr lang="en-US" sz="2000" dirty="0"/>
          </a:p>
        </p:txBody>
      </p:sp>
      <p:sp>
        <p:nvSpPr>
          <p:cNvPr id="24" name="Learning type list 2"/>
          <p:cNvSpPr txBox="1"/>
          <p:nvPr/>
        </p:nvSpPr>
        <p:spPr>
          <a:xfrm>
            <a:off x="6598768" y="4069080"/>
            <a:ext cx="4678528"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Works on unlabelled data to find groups (clustering)</a:t>
            </a:r>
            <a:endParaRPr lang="en-US" sz="1600" dirty="0"/>
          </a:p>
          <a:p>
            <a:pPr marL="342900" indent="-342900">
              <a:spcAft>
                <a:spcPts val="800"/>
              </a:spcAft>
              <a:buSzPct val="100000"/>
              <a:buChar char="•"/>
            </a:pPr>
            <a:r>
              <a:rPr lang="en-US" sz="1600" dirty="0">
                <a:solidFill>
                  <a:schemeClr val="tx2"/>
                </a:solidFill>
              </a:rPr>
              <a:t>Not needed: our target, Performance_Score, is known</a:t>
            </a:r>
            <a:endParaRPr lang="en-US" sz="1600" dirty="0"/>
          </a:p>
          <a:p>
            <a:pPr marL="342900" indent="-342900">
              <a:spcAft>
                <a:spcPts val="800"/>
              </a:spcAft>
              <a:buSzPct val="100000"/>
              <a:buChar char="•"/>
            </a:pPr>
            <a:r>
              <a:rPr lang="en-US" sz="1600" dirty="0">
                <a:solidFill>
                  <a:schemeClr val="tx2"/>
                </a:solidFill>
              </a:rPr>
              <a:t>Classification (Low / High classes) is also not our task</a:t>
            </a:r>
            <a:endParaRPr lang="en-US" sz="16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02</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Dataset &amp; Preprocessing</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520 raw PC records, 11 attributes, and the steps that made them reliable</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dataset: 11 attributes per PC</a:t>
            </a:r>
            <a:endParaRPr lang="en-US" sz="3200" dirty="0"/>
          </a:p>
        </p:txBody>
      </p:sp>
      <p:sp>
        <p:nvSpPr>
          <p:cNvPr id="4" name="Raw records value"/>
          <p:cNvSpPr txBox="1"/>
          <p:nvPr/>
        </p:nvSpPr>
        <p:spPr>
          <a:xfrm>
            <a:off x="548640" y="1463040"/>
            <a:ext cx="2926080" cy="670560"/>
          </a:xfrm>
          <a:prstGeom prst="rect">
            <a:avLst/>
          </a:prstGeom>
          <a:noFill/>
          <a:ln/>
        </p:spPr>
        <p:txBody>
          <a:bodyPr wrap="square" lIns="0" tIns="0" rIns="0" bIns="0" rtlCol="0" anchor="t"/>
          <a:lstStyle/>
          <a:p>
            <a:pPr indent="0" marL="0">
              <a:buNone/>
            </a:pPr>
            <a:r>
              <a:rPr lang="en-US" sz="4400" b="1" dirty="0">
                <a:solidFill>
                  <a:schemeClr val="accent1"/>
                </a:solidFill>
              </a:rPr>
              <a:t>520</a:t>
            </a:r>
            <a:endParaRPr lang="en-US" sz="4400" dirty="0"/>
          </a:p>
        </p:txBody>
      </p:sp>
      <p:sp>
        <p:nvSpPr>
          <p:cNvPr id="5" name="Raw records label"/>
          <p:cNvSpPr txBox="1"/>
          <p:nvPr/>
        </p:nvSpPr>
        <p:spPr>
          <a:xfrm>
            <a:off x="548640" y="2179320"/>
            <a:ext cx="2926080" cy="548640"/>
          </a:xfrm>
          <a:prstGeom prst="rect">
            <a:avLst/>
          </a:prstGeom>
          <a:noFill/>
          <a:ln/>
        </p:spPr>
        <p:txBody>
          <a:bodyPr wrap="square" lIns="0" tIns="0" rIns="0" bIns="0" rtlCol="0" anchor="t"/>
          <a:lstStyle/>
          <a:p>
            <a:pPr indent="0" marL="0">
              <a:buNone/>
            </a:pPr>
            <a:r>
              <a:rPr lang="en-US" sz="1400" dirty="0">
                <a:solidFill>
                  <a:schemeClr val="tx2"/>
                </a:solidFill>
              </a:rPr>
              <a:t>raw PC records</a:t>
            </a:r>
            <a:endParaRPr lang="en-US" sz="1400" dirty="0"/>
          </a:p>
        </p:txBody>
      </p:sp>
      <p:sp>
        <p:nvSpPr>
          <p:cNvPr id="6" name="Attributes value"/>
          <p:cNvSpPr txBox="1"/>
          <p:nvPr/>
        </p:nvSpPr>
        <p:spPr>
          <a:xfrm>
            <a:off x="548640" y="2971800"/>
            <a:ext cx="2926080" cy="670560"/>
          </a:xfrm>
          <a:prstGeom prst="rect">
            <a:avLst/>
          </a:prstGeom>
          <a:noFill/>
          <a:ln/>
        </p:spPr>
        <p:txBody>
          <a:bodyPr wrap="square" lIns="0" tIns="0" rIns="0" bIns="0" rtlCol="0" anchor="t"/>
          <a:lstStyle/>
          <a:p>
            <a:pPr indent="0" marL="0">
              <a:buNone/>
            </a:pPr>
            <a:r>
              <a:rPr lang="en-US" sz="4400" b="1" dirty="0">
                <a:solidFill>
                  <a:schemeClr val="accent1"/>
                </a:solidFill>
              </a:rPr>
              <a:t>11</a:t>
            </a:r>
            <a:endParaRPr lang="en-US" sz="4400" dirty="0"/>
          </a:p>
        </p:txBody>
      </p:sp>
      <p:sp>
        <p:nvSpPr>
          <p:cNvPr id="7" name="Attributes label"/>
          <p:cNvSpPr txBox="1"/>
          <p:nvPr/>
        </p:nvSpPr>
        <p:spPr>
          <a:xfrm>
            <a:off x="548640" y="3688080"/>
            <a:ext cx="2926080" cy="548640"/>
          </a:xfrm>
          <a:prstGeom prst="rect">
            <a:avLst/>
          </a:prstGeom>
          <a:noFill/>
          <a:ln/>
        </p:spPr>
        <p:txBody>
          <a:bodyPr wrap="square" lIns="0" tIns="0" rIns="0" bIns="0" rtlCol="0" anchor="t"/>
          <a:lstStyle/>
          <a:p>
            <a:pPr indent="0" marL="0">
              <a:buNone/>
            </a:pPr>
            <a:r>
              <a:rPr lang="en-US" sz="1400" dirty="0">
                <a:solidFill>
                  <a:schemeClr val="tx2"/>
                </a:solidFill>
              </a:rPr>
              <a:t>attributes per record</a:t>
            </a:r>
            <a:endParaRPr lang="en-US" sz="1400" dirty="0"/>
          </a:p>
        </p:txBody>
      </p:sp>
      <p:sp>
        <p:nvSpPr>
          <p:cNvPr id="8" name="Clean records value"/>
          <p:cNvSpPr txBox="1"/>
          <p:nvPr/>
        </p:nvSpPr>
        <p:spPr>
          <a:xfrm>
            <a:off x="548640" y="4480560"/>
            <a:ext cx="2926080" cy="670560"/>
          </a:xfrm>
          <a:prstGeom prst="rect">
            <a:avLst/>
          </a:prstGeom>
          <a:noFill/>
          <a:ln/>
        </p:spPr>
        <p:txBody>
          <a:bodyPr wrap="square" lIns="0" tIns="0" rIns="0" bIns="0" rtlCol="0" anchor="t"/>
          <a:lstStyle/>
          <a:p>
            <a:pPr indent="0" marL="0">
              <a:buNone/>
            </a:pPr>
            <a:r>
              <a:rPr lang="en-US" sz="4400" b="1" dirty="0">
                <a:solidFill>
                  <a:schemeClr val="accent2"/>
                </a:solidFill>
              </a:rPr>
              <a:t>503</a:t>
            </a:r>
            <a:endParaRPr lang="en-US" sz="4400" dirty="0"/>
          </a:p>
        </p:txBody>
      </p:sp>
      <p:sp>
        <p:nvSpPr>
          <p:cNvPr id="9" name="Clean records label"/>
          <p:cNvSpPr txBox="1"/>
          <p:nvPr/>
        </p:nvSpPr>
        <p:spPr>
          <a:xfrm>
            <a:off x="548640" y="5196840"/>
            <a:ext cx="2926080" cy="548640"/>
          </a:xfrm>
          <a:prstGeom prst="rect">
            <a:avLst/>
          </a:prstGeom>
          <a:noFill/>
          <a:ln/>
        </p:spPr>
        <p:txBody>
          <a:bodyPr wrap="square" lIns="0" tIns="0" rIns="0" bIns="0" rtlCol="0" anchor="t"/>
          <a:lstStyle/>
          <a:p>
            <a:pPr indent="0" marL="0">
              <a:buNone/>
            </a:pPr>
            <a:r>
              <a:rPr lang="en-US" sz="1400" dirty="0">
                <a:solidFill>
                  <a:schemeClr val="tx2"/>
                </a:solidFill>
              </a:rPr>
              <a:t>clean records after preprocessing</a:t>
            </a:r>
            <a:endParaRPr lang="en-US" sz="1400" dirty="0"/>
          </a:p>
        </p:txBody>
      </p:sp>
      <p:graphicFrame>
        <p:nvGraphicFramePr>
          <p:cNvPr id="9" name="Attribute table"/>
          <p:cNvGraphicFramePr>
            <a:graphicFrameLocks noGrp="1"/>
          </p:cNvGraphicFramePr>
          <p:nvPr>
            <p:extLst>
              <p:ext uri="{D42A27DB-BD31-4B8C-83A1-F6EECF244321}">
                <p14:modId xmlns:p14="http://schemas.microsoft.com/office/powerpoint/2010/main" val="1579011935"/>
              </p:ext>
            </p:extLst>
          </p:nvPr>
        </p:nvGraphicFramePr>
        <p:xfrm>
          <a:off x="3977640" y="1417320"/>
          <a:ext cx="7662672" cy="914400"/>
        </p:xfrm>
        <a:graphic>
          <a:graphicData uri="http://schemas.openxmlformats.org/drawingml/2006/table">
            <a:tbl>
              <a:tblPr/>
              <a:tblGrid>
                <a:gridCol w="2148840"/>
                <a:gridCol w="3776472"/>
                <a:gridCol w="1737360"/>
              </a:tblGrid>
              <a:tr h="384048">
                <a:tc>
                  <a:txBody>
                    <a:bodyPr/>
                    <a:lstStyle/>
                    <a:p>
                      <a:pPr indent="0" marL="0">
                        <a:buNone/>
                      </a:pPr>
                      <a:r>
                        <a:rPr lang="en-US" sz="1300" b="1" dirty="0">
                          <a:solidFill>
                            <a:schemeClr val="bg1"/>
                          </a:solidFill>
                        </a:rPr>
                        <a:t>Attribute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Description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Type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384048">
                <a:tc>
                  <a:txBody>
                    <a:bodyPr/>
                    <a:lstStyle/>
                    <a:p>
                      <a:pPr indent="0" marL="0">
                        <a:buNone/>
                      </a:pPr>
                      <a:r>
                        <a:rPr lang="en-US" sz="1300" b="1" dirty="0">
                          <a:solidFill>
                            <a:schemeClr val="tx1"/>
                          </a:solidFill>
                        </a:rPr>
                        <a:t>RAM_GB</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Installed RAM in GB</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tx1"/>
                          </a:solidFill>
                        </a:rPr>
                        <a:t>CPU_Cores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Number of CPU cores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tx1"/>
                          </a:solidFill>
                        </a:rPr>
                        <a:t>GPU_Level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GPU performance tier (0-12)</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tx1"/>
                          </a:solidFill>
                        </a:rPr>
                        <a:t>Storage_GB</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Storage capacity in GB</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tx1"/>
                          </a:solidFill>
                        </a:rPr>
                        <a:t>Clock_GHz</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CPU clock speed in GHz</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tx1"/>
                          </a:solidFill>
                        </a:rPr>
                        <a:t>Age_Years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Age of the PC in years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tx1"/>
                          </a:solidFill>
                        </a:rPr>
                        <a:t>Temperature_C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Operating temperature in °C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Numeric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tx1"/>
                          </a:solidFill>
                        </a:rPr>
                        <a:t>OS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Operating system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Categorical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tx1"/>
                          </a:solidFill>
                        </a:rPr>
                        <a:t>Performance_Score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Measured performance (0-1000)</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Target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tx1"/>
                          </a:solidFill>
                        </a:rPr>
                        <a:t>Performance_Class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Low / Medium / High / Very High</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Derived label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tx1"/>
                          </a:solidFill>
                        </a:rPr>
                        <a:t>Record_ID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Unique record identifier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Identifier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What was wrong with the raw data</a:t>
            </a:r>
            <a:endParaRPr lang="en-US" sz="3200" dirty="0"/>
          </a:p>
        </p:txBody>
      </p:sp>
      <p:sp>
        <p:nvSpPr>
          <p:cNvPr id="4" name="Issue card 1"/>
          <p:cNvSpPr/>
          <p:nvPr/>
        </p:nvSpPr>
        <p:spPr>
          <a:xfrm>
            <a:off x="548640" y="1417320"/>
            <a:ext cx="2567864" cy="2011680"/>
          </a:xfrm>
          <a:prstGeom prst="roundRect">
            <a:avLst>
              <a:gd name="adj" fmla="val 3636"/>
            </a:avLst>
          </a:prstGeom>
          <a:solidFill>
            <a:schemeClr val="bg2"/>
          </a:solidFill>
          <a:ln w="12700">
            <a:solidFill>
              <a:schemeClr val="bg2"/>
            </a:solidFill>
            <a:prstDash val="solid"/>
          </a:ln>
        </p:spPr>
      </p:sp>
      <p:sp>
        <p:nvSpPr>
          <p:cNvPr id="5" name="Issue value 1"/>
          <p:cNvSpPr txBox="1"/>
          <p:nvPr/>
        </p:nvSpPr>
        <p:spPr>
          <a:xfrm>
            <a:off x="822960" y="1600200"/>
            <a:ext cx="2019224" cy="685800"/>
          </a:xfrm>
          <a:prstGeom prst="rect">
            <a:avLst/>
          </a:prstGeom>
          <a:noFill/>
          <a:ln/>
        </p:spPr>
        <p:txBody>
          <a:bodyPr wrap="square" lIns="0" tIns="0" rIns="0" bIns="0" rtlCol="0" anchor="t"/>
          <a:lstStyle/>
          <a:p>
            <a:pPr indent="0" marL="0">
              <a:buNone/>
            </a:pPr>
            <a:r>
              <a:rPr lang="en-US" sz="4000" b="1" dirty="0">
                <a:solidFill>
                  <a:schemeClr val="accent1"/>
                </a:solidFill>
              </a:rPr>
              <a:t>156</a:t>
            </a:r>
            <a:endParaRPr lang="en-US" sz="4000" dirty="0"/>
          </a:p>
        </p:txBody>
      </p:sp>
      <p:sp>
        <p:nvSpPr>
          <p:cNvPr id="6" name="Issue label 1"/>
          <p:cNvSpPr txBox="1"/>
          <p:nvPr/>
        </p:nvSpPr>
        <p:spPr>
          <a:xfrm>
            <a:off x="822960" y="2286000"/>
            <a:ext cx="2019224" cy="365760"/>
          </a:xfrm>
          <a:prstGeom prst="rect">
            <a:avLst/>
          </a:prstGeom>
          <a:noFill/>
          <a:ln/>
        </p:spPr>
        <p:txBody>
          <a:bodyPr wrap="square" lIns="0" tIns="0" rIns="0" bIns="0" rtlCol="0" anchor="t"/>
          <a:lstStyle/>
          <a:p>
            <a:pPr indent="0" marL="0">
              <a:buNone/>
            </a:pPr>
            <a:r>
              <a:rPr lang="en-US" sz="1700" b="1" dirty="0">
                <a:solidFill>
                  <a:schemeClr val="tx1"/>
                </a:solidFill>
              </a:rPr>
              <a:t>missing cells</a:t>
            </a:r>
            <a:endParaRPr lang="en-US" sz="1700" dirty="0"/>
          </a:p>
        </p:txBody>
      </p:sp>
      <p:sp>
        <p:nvSpPr>
          <p:cNvPr id="7" name="Issue desc 1"/>
          <p:cNvSpPr txBox="1"/>
          <p:nvPr/>
        </p:nvSpPr>
        <p:spPr>
          <a:xfrm>
            <a:off x="822960" y="2651760"/>
            <a:ext cx="2019224" cy="685800"/>
          </a:xfrm>
          <a:prstGeom prst="rect">
            <a:avLst/>
          </a:prstGeom>
          <a:noFill/>
          <a:ln/>
        </p:spPr>
        <p:txBody>
          <a:bodyPr wrap="square" lIns="0" tIns="0" rIns="0" bIns="0" rtlCol="0" anchor="t"/>
          <a:lstStyle/>
          <a:p>
            <a:pPr indent="0" marL="0">
              <a:buNone/>
            </a:pPr>
            <a:r>
              <a:rPr lang="en-US" sz="1300" dirty="0">
                <a:solidFill>
                  <a:schemeClr val="tx2"/>
                </a:solidFill>
              </a:rPr>
              <a:t>26 each in RAM, cores, storage, clock, temperature and OS</a:t>
            </a:r>
            <a:endParaRPr lang="en-US" sz="1300" dirty="0"/>
          </a:p>
        </p:txBody>
      </p:sp>
      <p:sp>
        <p:nvSpPr>
          <p:cNvPr id="8" name="Issue card 2"/>
          <p:cNvSpPr/>
          <p:nvPr/>
        </p:nvSpPr>
        <p:spPr>
          <a:xfrm>
            <a:off x="3390824" y="1417320"/>
            <a:ext cx="2567864" cy="2011680"/>
          </a:xfrm>
          <a:prstGeom prst="roundRect">
            <a:avLst>
              <a:gd name="adj" fmla="val 3636"/>
            </a:avLst>
          </a:prstGeom>
          <a:solidFill>
            <a:schemeClr val="bg2"/>
          </a:solidFill>
          <a:ln w="12700">
            <a:solidFill>
              <a:schemeClr val="bg2"/>
            </a:solidFill>
            <a:prstDash val="solid"/>
          </a:ln>
        </p:spPr>
      </p:sp>
      <p:sp>
        <p:nvSpPr>
          <p:cNvPr id="9" name="Issue value 2"/>
          <p:cNvSpPr txBox="1"/>
          <p:nvPr/>
        </p:nvSpPr>
        <p:spPr>
          <a:xfrm>
            <a:off x="3665144" y="1600200"/>
            <a:ext cx="2019224" cy="685800"/>
          </a:xfrm>
          <a:prstGeom prst="rect">
            <a:avLst/>
          </a:prstGeom>
          <a:noFill/>
          <a:ln/>
        </p:spPr>
        <p:txBody>
          <a:bodyPr wrap="square" lIns="0" tIns="0" rIns="0" bIns="0" rtlCol="0" anchor="t"/>
          <a:lstStyle/>
          <a:p>
            <a:pPr indent="0" marL="0">
              <a:buNone/>
            </a:pPr>
            <a:r>
              <a:rPr lang="en-US" sz="4000" b="1" dirty="0">
                <a:solidFill>
                  <a:schemeClr val="accent1"/>
                </a:solidFill>
              </a:rPr>
              <a:t>11</a:t>
            </a:r>
            <a:endParaRPr lang="en-US" sz="4000" dirty="0"/>
          </a:p>
        </p:txBody>
      </p:sp>
      <p:sp>
        <p:nvSpPr>
          <p:cNvPr id="10" name="Issue label 2"/>
          <p:cNvSpPr txBox="1"/>
          <p:nvPr/>
        </p:nvSpPr>
        <p:spPr>
          <a:xfrm>
            <a:off x="3665144" y="2286000"/>
            <a:ext cx="2019224" cy="365760"/>
          </a:xfrm>
          <a:prstGeom prst="rect">
            <a:avLst/>
          </a:prstGeom>
          <a:noFill/>
          <a:ln/>
        </p:spPr>
        <p:txBody>
          <a:bodyPr wrap="square" lIns="0" tIns="0" rIns="0" bIns="0" rtlCol="0" anchor="t"/>
          <a:lstStyle/>
          <a:p>
            <a:pPr indent="0" marL="0">
              <a:buNone/>
            </a:pPr>
            <a:r>
              <a:rPr lang="en-US" sz="1700" b="1" dirty="0">
                <a:solidFill>
                  <a:schemeClr val="tx1"/>
                </a:solidFill>
              </a:rPr>
              <a:t>OS spellings</a:t>
            </a:r>
            <a:endParaRPr lang="en-US" sz="1700" dirty="0"/>
          </a:p>
        </p:txBody>
      </p:sp>
      <p:sp>
        <p:nvSpPr>
          <p:cNvPr id="11" name="Issue desc 2"/>
          <p:cNvSpPr txBox="1"/>
          <p:nvPr/>
        </p:nvSpPr>
        <p:spPr>
          <a:xfrm>
            <a:off x="3665144" y="2651760"/>
            <a:ext cx="2019224" cy="685800"/>
          </a:xfrm>
          <a:prstGeom prst="rect">
            <a:avLst/>
          </a:prstGeom>
          <a:noFill/>
          <a:ln/>
        </p:spPr>
        <p:txBody>
          <a:bodyPr wrap="square" lIns="0" tIns="0" rIns="0" bIns="0" rtlCol="0" anchor="t"/>
          <a:lstStyle/>
          <a:p>
            <a:pPr indent="0" marL="0">
              <a:buNone/>
            </a:pPr>
            <a:r>
              <a:rPr lang="en-US" sz="1300" dirty="0">
                <a:solidFill>
                  <a:schemeClr val="tx2"/>
                </a:solidFill>
              </a:rPr>
              <a:t>Win10, WINDOWS, Windows 10, Ubuntu, linux and more, plus 26 blanks</a:t>
            </a:r>
            <a:endParaRPr lang="en-US" sz="1300" dirty="0"/>
          </a:p>
        </p:txBody>
      </p:sp>
      <p:sp>
        <p:nvSpPr>
          <p:cNvPr id="12" name="Issue card 3"/>
          <p:cNvSpPr/>
          <p:nvPr/>
        </p:nvSpPr>
        <p:spPr>
          <a:xfrm>
            <a:off x="6233008" y="1417320"/>
            <a:ext cx="2567864" cy="2011680"/>
          </a:xfrm>
          <a:prstGeom prst="roundRect">
            <a:avLst>
              <a:gd name="adj" fmla="val 3636"/>
            </a:avLst>
          </a:prstGeom>
          <a:solidFill>
            <a:schemeClr val="bg2"/>
          </a:solidFill>
          <a:ln w="12700">
            <a:solidFill>
              <a:schemeClr val="bg2"/>
            </a:solidFill>
            <a:prstDash val="solid"/>
          </a:ln>
        </p:spPr>
      </p:sp>
      <p:sp>
        <p:nvSpPr>
          <p:cNvPr id="13" name="Issue value 3"/>
          <p:cNvSpPr txBox="1"/>
          <p:nvPr/>
        </p:nvSpPr>
        <p:spPr>
          <a:xfrm>
            <a:off x="6507328" y="1600200"/>
            <a:ext cx="2019224" cy="685800"/>
          </a:xfrm>
          <a:prstGeom prst="rect">
            <a:avLst/>
          </a:prstGeom>
          <a:noFill/>
          <a:ln/>
        </p:spPr>
        <p:txBody>
          <a:bodyPr wrap="square" lIns="0" tIns="0" rIns="0" bIns="0" rtlCol="0" anchor="t"/>
          <a:lstStyle/>
          <a:p>
            <a:pPr indent="0" marL="0">
              <a:buNone/>
            </a:pPr>
            <a:r>
              <a:rPr lang="en-US" sz="4000" b="1" dirty="0">
                <a:solidFill>
                  <a:schemeClr val="accent1"/>
                </a:solidFill>
              </a:rPr>
              <a:t>9</a:t>
            </a:r>
            <a:endParaRPr lang="en-US" sz="4000" dirty="0"/>
          </a:p>
        </p:txBody>
      </p:sp>
      <p:sp>
        <p:nvSpPr>
          <p:cNvPr id="14" name="Issue label 3"/>
          <p:cNvSpPr txBox="1"/>
          <p:nvPr/>
        </p:nvSpPr>
        <p:spPr>
          <a:xfrm>
            <a:off x="6507328" y="2286000"/>
            <a:ext cx="2019224" cy="365760"/>
          </a:xfrm>
          <a:prstGeom prst="rect">
            <a:avLst/>
          </a:prstGeom>
          <a:noFill/>
          <a:ln/>
        </p:spPr>
        <p:txBody>
          <a:bodyPr wrap="square" lIns="0" tIns="0" rIns="0" bIns="0" rtlCol="0" anchor="t"/>
          <a:lstStyle/>
          <a:p>
            <a:pPr indent="0" marL="0">
              <a:buNone/>
            </a:pPr>
            <a:r>
              <a:rPr lang="en-US" sz="1700" b="1" dirty="0">
                <a:solidFill>
                  <a:schemeClr val="tx1"/>
                </a:solidFill>
              </a:rPr>
              <a:t>RAM values as text</a:t>
            </a:r>
            <a:endParaRPr lang="en-US" sz="1700" dirty="0"/>
          </a:p>
        </p:txBody>
      </p:sp>
      <p:sp>
        <p:nvSpPr>
          <p:cNvPr id="15" name="Issue desc 3"/>
          <p:cNvSpPr txBox="1"/>
          <p:nvPr/>
        </p:nvSpPr>
        <p:spPr>
          <a:xfrm>
            <a:off x="6507328" y="2651760"/>
            <a:ext cx="2019224" cy="685800"/>
          </a:xfrm>
          <a:prstGeom prst="rect">
            <a:avLst/>
          </a:prstGeom>
          <a:noFill/>
          <a:ln/>
        </p:spPr>
        <p:txBody>
          <a:bodyPr wrap="square" lIns="0" tIns="0" rIns="0" bIns="0" rtlCol="0" anchor="t"/>
          <a:lstStyle/>
          <a:p>
            <a:pPr indent="0" marL="0">
              <a:buNone/>
            </a:pPr>
            <a:r>
              <a:rPr lang="en-US" sz="1300" dirty="0">
                <a:solidFill>
                  <a:schemeClr val="tx2"/>
                </a:solidFill>
              </a:rPr>
              <a:t>Entries like ' 32GB' instead of a number</a:t>
            </a:r>
            <a:endParaRPr lang="en-US" sz="1300" dirty="0"/>
          </a:p>
        </p:txBody>
      </p:sp>
      <p:sp>
        <p:nvSpPr>
          <p:cNvPr id="16" name="Issue card 4"/>
          <p:cNvSpPr/>
          <p:nvPr/>
        </p:nvSpPr>
        <p:spPr>
          <a:xfrm>
            <a:off x="9075191" y="1417320"/>
            <a:ext cx="2567864" cy="2011680"/>
          </a:xfrm>
          <a:prstGeom prst="roundRect">
            <a:avLst>
              <a:gd name="adj" fmla="val 3636"/>
            </a:avLst>
          </a:prstGeom>
          <a:solidFill>
            <a:schemeClr val="bg2"/>
          </a:solidFill>
          <a:ln w="12700">
            <a:solidFill>
              <a:schemeClr val="bg2"/>
            </a:solidFill>
            <a:prstDash val="solid"/>
          </a:ln>
        </p:spPr>
      </p:sp>
      <p:sp>
        <p:nvSpPr>
          <p:cNvPr id="17" name="Issue value 4"/>
          <p:cNvSpPr txBox="1"/>
          <p:nvPr/>
        </p:nvSpPr>
        <p:spPr>
          <a:xfrm>
            <a:off x="9349511" y="1600200"/>
            <a:ext cx="2019224" cy="685800"/>
          </a:xfrm>
          <a:prstGeom prst="rect">
            <a:avLst/>
          </a:prstGeom>
          <a:noFill/>
          <a:ln/>
        </p:spPr>
        <p:txBody>
          <a:bodyPr wrap="square" lIns="0" tIns="0" rIns="0" bIns="0" rtlCol="0" anchor="t"/>
          <a:lstStyle/>
          <a:p>
            <a:pPr indent="0" marL="0">
              <a:buNone/>
            </a:pPr>
            <a:r>
              <a:rPr lang="en-US" sz="4000" b="1" dirty="0">
                <a:solidFill>
                  <a:schemeClr val="accent1"/>
                </a:solidFill>
              </a:rPr>
              <a:t>9</a:t>
            </a:r>
            <a:endParaRPr lang="en-US" sz="4000" dirty="0"/>
          </a:p>
        </p:txBody>
      </p:sp>
      <p:sp>
        <p:nvSpPr>
          <p:cNvPr id="18" name="Issue label 4"/>
          <p:cNvSpPr txBox="1"/>
          <p:nvPr/>
        </p:nvSpPr>
        <p:spPr>
          <a:xfrm>
            <a:off x="9349511" y="2286000"/>
            <a:ext cx="2019224" cy="365760"/>
          </a:xfrm>
          <a:prstGeom prst="rect">
            <a:avLst/>
          </a:prstGeom>
          <a:noFill/>
          <a:ln/>
        </p:spPr>
        <p:txBody>
          <a:bodyPr wrap="square" lIns="0" tIns="0" rIns="0" bIns="0" rtlCol="0" anchor="t"/>
          <a:lstStyle/>
          <a:p>
            <a:pPr indent="0" marL="0">
              <a:buNone/>
            </a:pPr>
            <a:r>
              <a:rPr lang="en-US" sz="1700" b="1" dirty="0">
                <a:solidFill>
                  <a:schemeClr val="tx1"/>
                </a:solidFill>
              </a:rPr>
              <a:t>duplicate rows</a:t>
            </a:r>
            <a:endParaRPr lang="en-US" sz="1700" dirty="0"/>
          </a:p>
        </p:txBody>
      </p:sp>
      <p:sp>
        <p:nvSpPr>
          <p:cNvPr id="19" name="Issue desc 4"/>
          <p:cNvSpPr txBox="1"/>
          <p:nvPr/>
        </p:nvSpPr>
        <p:spPr>
          <a:xfrm>
            <a:off x="9349511" y="2651760"/>
            <a:ext cx="2019224" cy="685800"/>
          </a:xfrm>
          <a:prstGeom prst="rect">
            <a:avLst/>
          </a:prstGeom>
          <a:noFill/>
          <a:ln/>
        </p:spPr>
        <p:txBody>
          <a:bodyPr wrap="square" lIns="0" tIns="0" rIns="0" bIns="0" rtlCol="0" anchor="t"/>
          <a:lstStyle/>
          <a:p>
            <a:pPr indent="0" marL="0">
              <a:buNone/>
            </a:pPr>
            <a:r>
              <a:rPr lang="en-US" sz="1300" dirty="0">
                <a:solidFill>
                  <a:schemeClr val="tx2"/>
                </a:solidFill>
              </a:rPr>
              <a:t>Identical apart from Record_ID (6 + 3 after rounding)</a:t>
            </a:r>
            <a:endParaRPr lang="en-US" sz="1300" dirty="0"/>
          </a:p>
        </p:txBody>
      </p:sp>
      <p:sp>
        <p:nvSpPr>
          <p:cNvPr id="20" name="Impossible values card"/>
          <p:cNvSpPr/>
          <p:nvPr/>
        </p:nvSpPr>
        <p:spPr>
          <a:xfrm>
            <a:off x="548640" y="3703320"/>
            <a:ext cx="11094415" cy="2423160"/>
          </a:xfrm>
          <a:prstGeom prst="roundRect">
            <a:avLst>
              <a:gd name="adj" fmla="val 3019"/>
            </a:avLst>
          </a:prstGeom>
          <a:solidFill>
            <a:schemeClr val="bg2"/>
          </a:solidFill>
          <a:ln w="12700">
            <a:solidFill>
              <a:schemeClr val="bg2"/>
            </a:solidFill>
            <a:prstDash val="solid"/>
          </a:ln>
        </p:spPr>
      </p:sp>
      <p:sp>
        <p:nvSpPr>
          <p:cNvPr id="21" name="Impossible values circle"/>
          <p:cNvSpPr/>
          <p:nvPr/>
        </p:nvSpPr>
        <p:spPr>
          <a:xfrm>
            <a:off x="868680" y="3977640"/>
            <a:ext cx="685800" cy="685800"/>
          </a:xfrm>
          <a:prstGeom prst="ellipse">
            <a:avLst/>
          </a:prstGeom>
          <a:solidFill>
            <a:schemeClr val="accent6"/>
          </a:solidFill>
          <a:ln w="12700">
            <a:solidFill>
              <a:schemeClr val="accent6"/>
            </a:solidFill>
            <a:prstDash val="solid"/>
          </a:ln>
        </p:spPr>
      </p:sp>
      <p:pic>
        <p:nvPicPr>
          <p:cNvPr id="22" name="Impossible values icon" descr="preencoded.png">    </p:cNvPr>
          <p:cNvPicPr>
            <a:picLocks noChangeAspect="1"/>
          </p:cNvPicPr>
          <p:nvPr/>
        </p:nvPicPr>
        <p:blipFill>
          <a:blip r:embed="rId1"/>
          <a:stretch>
            <a:fillRect/>
          </a:stretch>
        </p:blipFill>
        <p:spPr>
          <a:xfrm>
            <a:off x="1046988" y="4155948"/>
            <a:ext cx="329184" cy="329184"/>
          </a:xfrm>
          <a:prstGeom prst="rect">
            <a:avLst/>
          </a:prstGeom>
        </p:spPr>
      </p:pic>
      <p:sp>
        <p:nvSpPr>
          <p:cNvPr id="23" name="Impossible title"/>
          <p:cNvSpPr txBox="1"/>
          <p:nvPr/>
        </p:nvSpPr>
        <p:spPr>
          <a:xfrm>
            <a:off x="1737360" y="4005072"/>
            <a:ext cx="5486400" cy="384048"/>
          </a:xfrm>
          <a:prstGeom prst="rect">
            <a:avLst/>
          </a:prstGeom>
          <a:noFill/>
          <a:ln/>
        </p:spPr>
        <p:txBody>
          <a:bodyPr wrap="square" lIns="0" tIns="0" rIns="0" bIns="0" rtlCol="0" anchor="t"/>
          <a:lstStyle/>
          <a:p>
            <a:pPr indent="0" marL="0">
              <a:buNone/>
            </a:pPr>
            <a:r>
              <a:rPr lang="en-US" sz="2000" b="1" dirty="0">
                <a:solidFill>
                  <a:schemeClr val="tx1"/>
                </a:solidFill>
              </a:rPr>
              <a:t>8 physically impossible values</a:t>
            </a:r>
            <a:endParaRPr lang="en-US" sz="2000" dirty="0"/>
          </a:p>
        </p:txBody>
      </p:sp>
      <p:sp>
        <p:nvSpPr>
          <p:cNvPr id="24" name="Impossible subtitle"/>
          <p:cNvSpPr txBox="1"/>
          <p:nvPr/>
        </p:nvSpPr>
        <p:spPr>
          <a:xfrm>
            <a:off x="1737360" y="4389120"/>
            <a:ext cx="7315200" cy="320040"/>
          </a:xfrm>
          <a:prstGeom prst="rect">
            <a:avLst/>
          </a:prstGeom>
          <a:noFill/>
          <a:ln/>
        </p:spPr>
        <p:txBody>
          <a:bodyPr wrap="square" lIns="0" tIns="0" rIns="0" bIns="0" rtlCol="0" anchor="t"/>
          <a:lstStyle/>
          <a:p>
            <a:pPr indent="0" marL="0">
              <a:buNone/>
            </a:pPr>
            <a:r>
              <a:rPr lang="en-US" sz="1400" dirty="0">
                <a:solidFill>
                  <a:schemeClr val="tx2"/>
                </a:solidFill>
              </a:rPr>
              <a:t>Filtered out using valid domain limits for each attribute</a:t>
            </a:r>
            <a:endParaRPr lang="en-US" sz="1400" dirty="0"/>
          </a:p>
        </p:txBody>
      </p:sp>
      <p:sp>
        <p:nvSpPr>
          <p:cNvPr id="25" name="Bad value chip 1"/>
          <p:cNvSpPr/>
          <p:nvPr/>
        </p:nvSpPr>
        <p:spPr>
          <a:xfrm>
            <a:off x="868680" y="4937760"/>
            <a:ext cx="2442134" cy="438912"/>
          </a:xfrm>
          <a:prstGeom prst="roundRect">
            <a:avLst>
              <a:gd name="adj" fmla="val 12500"/>
            </a:avLst>
          </a:prstGeom>
          <a:solidFill>
            <a:schemeClr val="bg1"/>
          </a:solidFill>
          <a:ln w="12700">
            <a:solidFill>
              <a:schemeClr val="bg1"/>
            </a:solidFill>
            <a:prstDash val="solid"/>
          </a:ln>
        </p:spPr>
      </p:sp>
      <p:sp>
        <p:nvSpPr>
          <p:cNvPr id="26" name="Bad value 1"/>
          <p:cNvSpPr txBox="1"/>
          <p:nvPr/>
        </p:nvSpPr>
        <p:spPr>
          <a:xfrm>
            <a:off x="868680" y="4937760"/>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GPU level 25</a:t>
            </a:r>
            <a:endParaRPr lang="en-US" sz="1500" dirty="0"/>
          </a:p>
        </p:txBody>
      </p:sp>
      <p:sp>
        <p:nvSpPr>
          <p:cNvPr id="27" name="Bad value chip 2"/>
          <p:cNvSpPr/>
          <p:nvPr/>
        </p:nvSpPr>
        <p:spPr>
          <a:xfrm>
            <a:off x="3539414" y="4937760"/>
            <a:ext cx="2442134" cy="438912"/>
          </a:xfrm>
          <a:prstGeom prst="roundRect">
            <a:avLst>
              <a:gd name="adj" fmla="val 12500"/>
            </a:avLst>
          </a:prstGeom>
          <a:solidFill>
            <a:schemeClr val="bg1"/>
          </a:solidFill>
          <a:ln w="12700">
            <a:solidFill>
              <a:schemeClr val="bg1"/>
            </a:solidFill>
            <a:prstDash val="solid"/>
          </a:ln>
        </p:spPr>
      </p:sp>
      <p:sp>
        <p:nvSpPr>
          <p:cNvPr id="28" name="Bad value 2"/>
          <p:cNvSpPr txBox="1"/>
          <p:nvPr/>
        </p:nvSpPr>
        <p:spPr>
          <a:xfrm>
            <a:off x="3539414" y="4937760"/>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0 CPU cores</a:t>
            </a:r>
            <a:endParaRPr lang="en-US" sz="1500" dirty="0"/>
          </a:p>
        </p:txBody>
      </p:sp>
      <p:sp>
        <p:nvSpPr>
          <p:cNvPr id="29" name="Bad value chip 3"/>
          <p:cNvSpPr/>
          <p:nvPr/>
        </p:nvSpPr>
        <p:spPr>
          <a:xfrm>
            <a:off x="6210148" y="4937760"/>
            <a:ext cx="2442134" cy="438912"/>
          </a:xfrm>
          <a:prstGeom prst="roundRect">
            <a:avLst>
              <a:gd name="adj" fmla="val 12500"/>
            </a:avLst>
          </a:prstGeom>
          <a:solidFill>
            <a:schemeClr val="bg1"/>
          </a:solidFill>
          <a:ln w="12700">
            <a:solidFill>
              <a:schemeClr val="bg1"/>
            </a:solidFill>
            <a:prstDash val="solid"/>
          </a:ln>
        </p:spPr>
      </p:sp>
      <p:sp>
        <p:nvSpPr>
          <p:cNvPr id="30" name="Bad value 3"/>
          <p:cNvSpPr txBox="1"/>
          <p:nvPr/>
        </p:nvSpPr>
        <p:spPr>
          <a:xfrm>
            <a:off x="6210148" y="4937760"/>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145 °C</a:t>
            </a:r>
            <a:endParaRPr lang="en-US" sz="1500" dirty="0"/>
          </a:p>
        </p:txBody>
      </p:sp>
      <p:sp>
        <p:nvSpPr>
          <p:cNvPr id="31" name="Bad value chip 4"/>
          <p:cNvSpPr/>
          <p:nvPr/>
        </p:nvSpPr>
        <p:spPr>
          <a:xfrm>
            <a:off x="8880881" y="4937760"/>
            <a:ext cx="2442134" cy="438912"/>
          </a:xfrm>
          <a:prstGeom prst="roundRect">
            <a:avLst>
              <a:gd name="adj" fmla="val 12500"/>
            </a:avLst>
          </a:prstGeom>
          <a:solidFill>
            <a:schemeClr val="bg1"/>
          </a:solidFill>
          <a:ln w="12700">
            <a:solidFill>
              <a:schemeClr val="bg1"/>
            </a:solidFill>
            <a:prstDash val="solid"/>
          </a:ln>
        </p:spPr>
      </p:sp>
      <p:sp>
        <p:nvSpPr>
          <p:cNvPr id="32" name="Bad value 4"/>
          <p:cNvSpPr txBox="1"/>
          <p:nvPr/>
        </p:nvSpPr>
        <p:spPr>
          <a:xfrm>
            <a:off x="8880881" y="4937760"/>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Age -1.5 years</a:t>
            </a:r>
            <a:endParaRPr lang="en-US" sz="1500" dirty="0"/>
          </a:p>
        </p:txBody>
      </p:sp>
      <p:sp>
        <p:nvSpPr>
          <p:cNvPr id="33" name="Bad value chip 5"/>
          <p:cNvSpPr/>
          <p:nvPr/>
        </p:nvSpPr>
        <p:spPr>
          <a:xfrm>
            <a:off x="868680" y="5504688"/>
            <a:ext cx="2442134" cy="438912"/>
          </a:xfrm>
          <a:prstGeom prst="roundRect">
            <a:avLst>
              <a:gd name="adj" fmla="val 12500"/>
            </a:avLst>
          </a:prstGeom>
          <a:solidFill>
            <a:schemeClr val="bg1"/>
          </a:solidFill>
          <a:ln w="12700">
            <a:solidFill>
              <a:schemeClr val="bg1"/>
            </a:solidFill>
            <a:prstDash val="solid"/>
          </a:ln>
        </p:spPr>
      </p:sp>
      <p:sp>
        <p:nvSpPr>
          <p:cNvPr id="34" name="Bad value 5"/>
          <p:cNvSpPr txBox="1"/>
          <p:nvPr/>
        </p:nvSpPr>
        <p:spPr>
          <a:xfrm>
            <a:off x="868680" y="5504688"/>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RAM 999 GB</a:t>
            </a:r>
            <a:endParaRPr lang="en-US" sz="1500" dirty="0"/>
          </a:p>
        </p:txBody>
      </p:sp>
      <p:sp>
        <p:nvSpPr>
          <p:cNvPr id="35" name="Bad value chip 6"/>
          <p:cNvSpPr/>
          <p:nvPr/>
        </p:nvSpPr>
        <p:spPr>
          <a:xfrm>
            <a:off x="3539414" y="5504688"/>
            <a:ext cx="2442134" cy="438912"/>
          </a:xfrm>
          <a:prstGeom prst="roundRect">
            <a:avLst>
              <a:gd name="adj" fmla="val 12500"/>
            </a:avLst>
          </a:prstGeom>
          <a:solidFill>
            <a:schemeClr val="bg1"/>
          </a:solidFill>
          <a:ln w="12700">
            <a:solidFill>
              <a:schemeClr val="bg1"/>
            </a:solidFill>
            <a:prstDash val="solid"/>
          </a:ln>
        </p:spPr>
      </p:sp>
      <p:sp>
        <p:nvSpPr>
          <p:cNvPr id="36" name="Bad value 6"/>
          <p:cNvSpPr txBox="1"/>
          <p:nvPr/>
        </p:nvSpPr>
        <p:spPr>
          <a:xfrm>
            <a:off x="3539414" y="5504688"/>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Clock 12.4 GHz</a:t>
            </a:r>
            <a:endParaRPr lang="en-US" sz="1500" dirty="0"/>
          </a:p>
        </p:txBody>
      </p:sp>
      <p:sp>
        <p:nvSpPr>
          <p:cNvPr id="37" name="Bad value chip 7"/>
          <p:cNvSpPr/>
          <p:nvPr/>
        </p:nvSpPr>
        <p:spPr>
          <a:xfrm>
            <a:off x="6210148" y="5504688"/>
            <a:ext cx="2442134" cy="438912"/>
          </a:xfrm>
          <a:prstGeom prst="roundRect">
            <a:avLst>
              <a:gd name="adj" fmla="val 12500"/>
            </a:avLst>
          </a:prstGeom>
          <a:solidFill>
            <a:schemeClr val="bg1"/>
          </a:solidFill>
          <a:ln w="12700">
            <a:solidFill>
              <a:schemeClr val="bg1"/>
            </a:solidFill>
            <a:prstDash val="solid"/>
          </a:ln>
        </p:spPr>
      </p:sp>
      <p:sp>
        <p:nvSpPr>
          <p:cNvPr id="38" name="Bad value 7"/>
          <p:cNvSpPr txBox="1"/>
          <p:nvPr/>
        </p:nvSpPr>
        <p:spPr>
          <a:xfrm>
            <a:off x="6210148" y="5504688"/>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Storage -256 GB</a:t>
            </a:r>
            <a:endParaRPr lang="en-US" sz="1500" dirty="0"/>
          </a:p>
        </p:txBody>
      </p:sp>
      <p:sp>
        <p:nvSpPr>
          <p:cNvPr id="39" name="Bad value chip 8"/>
          <p:cNvSpPr/>
          <p:nvPr/>
        </p:nvSpPr>
        <p:spPr>
          <a:xfrm>
            <a:off x="8880881" y="5504688"/>
            <a:ext cx="2442134" cy="438912"/>
          </a:xfrm>
          <a:prstGeom prst="roundRect">
            <a:avLst>
              <a:gd name="adj" fmla="val 12500"/>
            </a:avLst>
          </a:prstGeom>
          <a:solidFill>
            <a:schemeClr val="bg1"/>
          </a:solidFill>
          <a:ln w="12700">
            <a:solidFill>
              <a:schemeClr val="bg1"/>
            </a:solidFill>
            <a:prstDash val="solid"/>
          </a:ln>
        </p:spPr>
      </p:sp>
      <p:sp>
        <p:nvSpPr>
          <p:cNvPr id="40" name="Bad value 8"/>
          <p:cNvSpPr txBox="1"/>
          <p:nvPr/>
        </p:nvSpPr>
        <p:spPr>
          <a:xfrm>
            <a:off x="8880881" y="5504688"/>
            <a:ext cx="2442134" cy="438912"/>
          </a:xfrm>
          <a:prstGeom prst="rect">
            <a:avLst/>
          </a:prstGeom>
          <a:noFill/>
          <a:ln/>
        </p:spPr>
        <p:txBody>
          <a:bodyPr wrap="square" lIns="0" tIns="0" rIns="0" bIns="0" rtlCol="0" anchor="ctr"/>
          <a:lstStyle/>
          <a:p>
            <a:pPr algn="ctr" indent="0" marL="0">
              <a:buNone/>
            </a:pPr>
            <a:r>
              <a:rPr lang="en-US" sz="1500" b="1" dirty="0">
                <a:solidFill>
                  <a:schemeClr val="accent6"/>
                </a:solidFill>
              </a:rPr>
              <a:t>Score 1450</a:t>
            </a:r>
            <a:endParaRPr lang="en-US" sz="15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Seven-step preprocessing pipeline</a:t>
            </a:r>
            <a:endParaRPr lang="en-US" sz="3200" dirty="0"/>
          </a:p>
        </p:txBody>
      </p:sp>
      <p:sp>
        <p:nvSpPr>
          <p:cNvPr id="4" name="Pipeline line"/>
          <p:cNvSpPr/>
          <p:nvPr/>
        </p:nvSpPr>
        <p:spPr>
          <a:xfrm>
            <a:off x="1341098" y="1988820"/>
            <a:ext cx="9509499" cy="0"/>
          </a:xfrm>
          <a:prstGeom prst="line">
            <a:avLst/>
          </a:prstGeom>
          <a:noFill/>
          <a:ln w="19050">
            <a:solidFill>
              <a:schemeClr val="accent4"/>
            </a:solidFill>
            <a:prstDash val="solid"/>
          </a:ln>
        </p:spPr>
      </p:sp>
      <p:sp>
        <p:nvSpPr>
          <p:cNvPr id="5" name="Step circle 1"/>
          <p:cNvSpPr/>
          <p:nvPr/>
        </p:nvSpPr>
        <p:spPr>
          <a:xfrm>
            <a:off x="952478" y="1600200"/>
            <a:ext cx="777240" cy="777240"/>
          </a:xfrm>
          <a:prstGeom prst="ellipse">
            <a:avLst/>
          </a:prstGeom>
          <a:solidFill>
            <a:schemeClr val="accent1"/>
          </a:solidFill>
          <a:ln w="38100">
            <a:solidFill>
              <a:schemeClr val="bg1"/>
            </a:solidFill>
            <a:prstDash val="solid"/>
          </a:ln>
        </p:spPr>
      </p:sp>
      <p:sp>
        <p:nvSpPr>
          <p:cNvPr id="6" name="Step number 1"/>
          <p:cNvSpPr txBox="1"/>
          <p:nvPr/>
        </p:nvSpPr>
        <p:spPr>
          <a:xfrm>
            <a:off x="952478"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Step title 1"/>
          <p:cNvSpPr txBox="1"/>
          <p:nvPr/>
        </p:nvSpPr>
        <p:spPr>
          <a:xfrm>
            <a:off x="594360"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Fix data types</a:t>
            </a:r>
            <a:endParaRPr lang="en-US" sz="1600" dirty="0"/>
          </a:p>
        </p:txBody>
      </p:sp>
      <p:sp>
        <p:nvSpPr>
          <p:cNvPr id="8" name="Step desc 1"/>
          <p:cNvSpPr txBox="1"/>
          <p:nvPr/>
        </p:nvSpPr>
        <p:spPr>
          <a:xfrm>
            <a:off x="594360"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Strip 'GB', convert to numbers</a:t>
            </a:r>
            <a:endParaRPr lang="en-US" sz="1300" dirty="0"/>
          </a:p>
        </p:txBody>
      </p:sp>
      <p:sp>
        <p:nvSpPr>
          <p:cNvPr id="9" name="Step circle 2"/>
          <p:cNvSpPr/>
          <p:nvPr/>
        </p:nvSpPr>
        <p:spPr>
          <a:xfrm>
            <a:off x="2537395" y="1600200"/>
            <a:ext cx="777240" cy="777240"/>
          </a:xfrm>
          <a:prstGeom prst="ellipse">
            <a:avLst/>
          </a:prstGeom>
          <a:solidFill>
            <a:schemeClr val="accent1"/>
          </a:solidFill>
          <a:ln w="38100">
            <a:solidFill>
              <a:schemeClr val="bg1"/>
            </a:solidFill>
            <a:prstDash val="solid"/>
          </a:ln>
        </p:spPr>
      </p:sp>
      <p:sp>
        <p:nvSpPr>
          <p:cNvPr id="10" name="Step number 2"/>
          <p:cNvSpPr txBox="1"/>
          <p:nvPr/>
        </p:nvSpPr>
        <p:spPr>
          <a:xfrm>
            <a:off x="2537395"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Step title 2"/>
          <p:cNvSpPr txBox="1"/>
          <p:nvPr/>
        </p:nvSpPr>
        <p:spPr>
          <a:xfrm>
            <a:off x="2179276"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Standardize OS</a:t>
            </a:r>
            <a:endParaRPr lang="en-US" sz="1600" dirty="0"/>
          </a:p>
        </p:txBody>
      </p:sp>
      <p:sp>
        <p:nvSpPr>
          <p:cNvPr id="12" name="Step desc 2"/>
          <p:cNvSpPr txBox="1"/>
          <p:nvPr/>
        </p:nvSpPr>
        <p:spPr>
          <a:xfrm>
            <a:off x="2179276"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11 spellings to Windows / Linux</a:t>
            </a:r>
            <a:endParaRPr lang="en-US" sz="1300" dirty="0"/>
          </a:p>
        </p:txBody>
      </p:sp>
      <p:sp>
        <p:nvSpPr>
          <p:cNvPr id="13" name="Step circle 3"/>
          <p:cNvSpPr/>
          <p:nvPr/>
        </p:nvSpPr>
        <p:spPr>
          <a:xfrm>
            <a:off x="4122311" y="1600200"/>
            <a:ext cx="777240" cy="777240"/>
          </a:xfrm>
          <a:prstGeom prst="ellipse">
            <a:avLst/>
          </a:prstGeom>
          <a:solidFill>
            <a:schemeClr val="accent1"/>
          </a:solidFill>
          <a:ln w="38100">
            <a:solidFill>
              <a:schemeClr val="bg1"/>
            </a:solidFill>
            <a:prstDash val="solid"/>
          </a:ln>
        </p:spPr>
      </p:sp>
      <p:sp>
        <p:nvSpPr>
          <p:cNvPr id="14" name="Step number 3"/>
          <p:cNvSpPr txBox="1"/>
          <p:nvPr/>
        </p:nvSpPr>
        <p:spPr>
          <a:xfrm>
            <a:off x="4122311"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Step title 3"/>
          <p:cNvSpPr txBox="1"/>
          <p:nvPr/>
        </p:nvSpPr>
        <p:spPr>
          <a:xfrm>
            <a:off x="3764193"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Remove duplicates</a:t>
            </a:r>
            <a:endParaRPr lang="en-US" sz="1600" dirty="0"/>
          </a:p>
        </p:txBody>
      </p:sp>
      <p:sp>
        <p:nvSpPr>
          <p:cNvPr id="16" name="Step desc 3"/>
          <p:cNvSpPr txBox="1"/>
          <p:nvPr/>
        </p:nvSpPr>
        <p:spPr>
          <a:xfrm>
            <a:off x="3764193"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Ignoring Record_ID</a:t>
            </a:r>
            <a:endParaRPr lang="en-US" sz="1300" dirty="0"/>
          </a:p>
        </p:txBody>
      </p:sp>
      <p:sp>
        <p:nvSpPr>
          <p:cNvPr id="17" name="Step circle 4"/>
          <p:cNvSpPr/>
          <p:nvPr/>
        </p:nvSpPr>
        <p:spPr>
          <a:xfrm>
            <a:off x="5707228" y="1600200"/>
            <a:ext cx="777240" cy="777240"/>
          </a:xfrm>
          <a:prstGeom prst="ellipse">
            <a:avLst/>
          </a:prstGeom>
          <a:solidFill>
            <a:schemeClr val="accent1"/>
          </a:solidFill>
          <a:ln w="38100">
            <a:solidFill>
              <a:schemeClr val="bg1"/>
            </a:solidFill>
            <a:prstDash val="solid"/>
          </a:ln>
        </p:spPr>
      </p:sp>
      <p:sp>
        <p:nvSpPr>
          <p:cNvPr id="18" name="Step number 4"/>
          <p:cNvSpPr txBox="1"/>
          <p:nvPr/>
        </p:nvSpPr>
        <p:spPr>
          <a:xfrm>
            <a:off x="5707228"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9" name="Step title 4"/>
          <p:cNvSpPr txBox="1"/>
          <p:nvPr/>
        </p:nvSpPr>
        <p:spPr>
          <a:xfrm>
            <a:off x="5349109"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Filter invalid values</a:t>
            </a:r>
            <a:endParaRPr lang="en-US" sz="1600" dirty="0"/>
          </a:p>
        </p:txBody>
      </p:sp>
      <p:sp>
        <p:nvSpPr>
          <p:cNvPr id="20" name="Step desc 4"/>
          <p:cNvSpPr txBox="1"/>
          <p:nvPr/>
        </p:nvSpPr>
        <p:spPr>
          <a:xfrm>
            <a:off x="5349109"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Domain limits per column</a:t>
            </a:r>
            <a:endParaRPr lang="en-US" sz="1300" dirty="0"/>
          </a:p>
        </p:txBody>
      </p:sp>
      <p:sp>
        <p:nvSpPr>
          <p:cNvPr id="21" name="Step circle 5"/>
          <p:cNvSpPr/>
          <p:nvPr/>
        </p:nvSpPr>
        <p:spPr>
          <a:xfrm>
            <a:off x="7292144" y="1600200"/>
            <a:ext cx="777240" cy="777240"/>
          </a:xfrm>
          <a:prstGeom prst="ellipse">
            <a:avLst/>
          </a:prstGeom>
          <a:solidFill>
            <a:schemeClr val="accent1"/>
          </a:solidFill>
          <a:ln w="38100">
            <a:solidFill>
              <a:schemeClr val="bg1"/>
            </a:solidFill>
            <a:prstDash val="solid"/>
          </a:ln>
        </p:spPr>
      </p:sp>
      <p:sp>
        <p:nvSpPr>
          <p:cNvPr id="22" name="Step number 5"/>
          <p:cNvSpPr txBox="1"/>
          <p:nvPr/>
        </p:nvSpPr>
        <p:spPr>
          <a:xfrm>
            <a:off x="7292144"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3" name="Step title 5"/>
          <p:cNvSpPr txBox="1"/>
          <p:nvPr/>
        </p:nvSpPr>
        <p:spPr>
          <a:xfrm>
            <a:off x="6934026"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Impute missing</a:t>
            </a:r>
            <a:endParaRPr lang="en-US" sz="1600" dirty="0"/>
          </a:p>
        </p:txBody>
      </p:sp>
      <p:sp>
        <p:nvSpPr>
          <p:cNvPr id="24" name="Step desc 5"/>
          <p:cNvSpPr txBox="1"/>
          <p:nvPr/>
        </p:nvSpPr>
        <p:spPr>
          <a:xfrm>
            <a:off x="6934026"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Median for numbers, mode for OS</a:t>
            </a:r>
            <a:endParaRPr lang="en-US" sz="1300" dirty="0"/>
          </a:p>
        </p:txBody>
      </p:sp>
      <p:sp>
        <p:nvSpPr>
          <p:cNvPr id="25" name="Step circle 6"/>
          <p:cNvSpPr/>
          <p:nvPr/>
        </p:nvSpPr>
        <p:spPr>
          <a:xfrm>
            <a:off x="8877061" y="1600200"/>
            <a:ext cx="777240" cy="777240"/>
          </a:xfrm>
          <a:prstGeom prst="ellipse">
            <a:avLst/>
          </a:prstGeom>
          <a:solidFill>
            <a:schemeClr val="accent1"/>
          </a:solidFill>
          <a:ln w="38100">
            <a:solidFill>
              <a:schemeClr val="bg1"/>
            </a:solidFill>
            <a:prstDash val="solid"/>
          </a:ln>
        </p:spPr>
      </p:sp>
      <p:sp>
        <p:nvSpPr>
          <p:cNvPr id="26" name="Step number 6"/>
          <p:cNvSpPr txBox="1"/>
          <p:nvPr/>
        </p:nvSpPr>
        <p:spPr>
          <a:xfrm>
            <a:off x="8877061"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27" name="Step title 6"/>
          <p:cNvSpPr txBox="1"/>
          <p:nvPr/>
        </p:nvSpPr>
        <p:spPr>
          <a:xfrm>
            <a:off x="8518942"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Recompute class</a:t>
            </a:r>
            <a:endParaRPr lang="en-US" sz="1600" dirty="0"/>
          </a:p>
        </p:txBody>
      </p:sp>
      <p:sp>
        <p:nvSpPr>
          <p:cNvPr id="28" name="Step desc 6"/>
          <p:cNvSpPr txBox="1"/>
          <p:nvPr/>
        </p:nvSpPr>
        <p:spPr>
          <a:xfrm>
            <a:off x="8518942"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From the cleaned score</a:t>
            </a:r>
            <a:endParaRPr lang="en-US" sz="1300" dirty="0"/>
          </a:p>
        </p:txBody>
      </p:sp>
      <p:sp>
        <p:nvSpPr>
          <p:cNvPr id="29" name="Step circle 7"/>
          <p:cNvSpPr/>
          <p:nvPr/>
        </p:nvSpPr>
        <p:spPr>
          <a:xfrm>
            <a:off x="10461977" y="1600200"/>
            <a:ext cx="777240" cy="777240"/>
          </a:xfrm>
          <a:prstGeom prst="ellipse">
            <a:avLst/>
          </a:prstGeom>
          <a:solidFill>
            <a:schemeClr val="accent1"/>
          </a:solidFill>
          <a:ln w="38100">
            <a:solidFill>
              <a:schemeClr val="bg1"/>
            </a:solidFill>
            <a:prstDash val="solid"/>
          </a:ln>
        </p:spPr>
      </p:sp>
      <p:sp>
        <p:nvSpPr>
          <p:cNvPr id="30" name="Step number 7"/>
          <p:cNvSpPr txBox="1"/>
          <p:nvPr/>
        </p:nvSpPr>
        <p:spPr>
          <a:xfrm>
            <a:off x="10461977"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31" name="Step title 7"/>
          <p:cNvSpPr txBox="1"/>
          <p:nvPr/>
        </p:nvSpPr>
        <p:spPr>
          <a:xfrm>
            <a:off x="10103859"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Round &amp; dedupe</a:t>
            </a:r>
            <a:endParaRPr lang="en-US" sz="1600" dirty="0"/>
          </a:p>
        </p:txBody>
      </p:sp>
      <p:sp>
        <p:nvSpPr>
          <p:cNvPr id="32" name="Step desc 7"/>
          <p:cNvSpPr txBox="1"/>
          <p:nvPr/>
        </p:nvSpPr>
        <p:spPr>
          <a:xfrm>
            <a:off x="10103859"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Integer columns, second pass</a:t>
            </a:r>
            <a:endParaRPr lang="en-US" sz="1300" dirty="0"/>
          </a:p>
        </p:txBody>
      </p:sp>
      <p:sp>
        <p:nvSpPr>
          <p:cNvPr id="33" name="Pipeline result card"/>
          <p:cNvSpPr/>
          <p:nvPr/>
        </p:nvSpPr>
        <p:spPr>
          <a:xfrm>
            <a:off x="548640" y="4389120"/>
            <a:ext cx="11094415" cy="1691640"/>
          </a:xfrm>
          <a:prstGeom prst="roundRect">
            <a:avLst>
              <a:gd name="adj" fmla="val 4324"/>
            </a:avLst>
          </a:prstGeom>
          <a:solidFill>
            <a:schemeClr val="bg2"/>
          </a:solidFill>
          <a:ln w="12700">
            <a:solidFill>
              <a:schemeClr val="bg2"/>
            </a:solidFill>
            <a:prstDash val="solid"/>
          </a:ln>
        </p:spPr>
      </p:sp>
      <p:sp>
        <p:nvSpPr>
          <p:cNvPr id="34" name="Result 1 value"/>
          <p:cNvSpPr txBox="1"/>
          <p:nvPr/>
        </p:nvSpPr>
        <p:spPr>
          <a:xfrm>
            <a:off x="914400" y="4617720"/>
            <a:ext cx="2651760" cy="548640"/>
          </a:xfrm>
          <a:prstGeom prst="rect">
            <a:avLst/>
          </a:prstGeom>
          <a:noFill/>
          <a:ln/>
        </p:spPr>
        <p:txBody>
          <a:bodyPr wrap="square" lIns="0" tIns="0" rIns="0" bIns="0" rtlCol="0" anchor="t"/>
          <a:lstStyle/>
          <a:p>
            <a:pPr indent="0" marL="0">
              <a:buNone/>
            </a:pPr>
            <a:r>
              <a:rPr lang="en-US" sz="3600" b="1" dirty="0">
                <a:solidFill>
                  <a:schemeClr val="accent1"/>
                </a:solidFill>
              </a:rPr>
              <a:t>520 → 503</a:t>
            </a:r>
            <a:endParaRPr lang="en-US" sz="3600" dirty="0"/>
          </a:p>
        </p:txBody>
      </p:sp>
      <p:sp>
        <p:nvSpPr>
          <p:cNvPr id="35" name="Result 1 label"/>
          <p:cNvSpPr txBox="1"/>
          <p:nvPr/>
        </p:nvSpPr>
        <p:spPr>
          <a:xfrm>
            <a:off x="91440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rows in → rows out</a:t>
            </a:r>
            <a:endParaRPr lang="en-US" sz="1400" dirty="0"/>
          </a:p>
        </p:txBody>
      </p:sp>
      <p:sp>
        <p:nvSpPr>
          <p:cNvPr id="36" name="Result 2 value"/>
          <p:cNvSpPr txBox="1"/>
          <p:nvPr/>
        </p:nvSpPr>
        <p:spPr>
          <a:xfrm>
            <a:off x="3703320" y="4617720"/>
            <a:ext cx="2651760" cy="548640"/>
          </a:xfrm>
          <a:prstGeom prst="rect">
            <a:avLst/>
          </a:prstGeom>
          <a:noFill/>
          <a:ln/>
        </p:spPr>
        <p:txBody>
          <a:bodyPr wrap="square" lIns="0" tIns="0" rIns="0" bIns="0" rtlCol="0" anchor="t"/>
          <a:lstStyle/>
          <a:p>
            <a:pPr indent="0" marL="0">
              <a:buNone/>
            </a:pPr>
            <a:r>
              <a:rPr lang="en-US" sz="3600" b="1" dirty="0">
                <a:solidFill>
                  <a:schemeClr val="accent2"/>
                </a:solidFill>
              </a:rPr>
              <a:t>0</a:t>
            </a:r>
            <a:endParaRPr lang="en-US" sz="3600" dirty="0"/>
          </a:p>
        </p:txBody>
      </p:sp>
      <p:sp>
        <p:nvSpPr>
          <p:cNvPr id="37" name="Result 2 label"/>
          <p:cNvSpPr txBox="1"/>
          <p:nvPr/>
        </p:nvSpPr>
        <p:spPr>
          <a:xfrm>
            <a:off x="370332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missing values</a:t>
            </a:r>
            <a:endParaRPr lang="en-US" sz="1400" dirty="0"/>
          </a:p>
        </p:txBody>
      </p:sp>
      <p:sp>
        <p:nvSpPr>
          <p:cNvPr id="38" name="Result 3 value"/>
          <p:cNvSpPr txBox="1"/>
          <p:nvPr/>
        </p:nvSpPr>
        <p:spPr>
          <a:xfrm>
            <a:off x="6492240" y="4617720"/>
            <a:ext cx="2651760" cy="548640"/>
          </a:xfrm>
          <a:prstGeom prst="rect">
            <a:avLst/>
          </a:prstGeom>
          <a:noFill/>
          <a:ln/>
        </p:spPr>
        <p:txBody>
          <a:bodyPr wrap="square" lIns="0" tIns="0" rIns="0" bIns="0" rtlCol="0" anchor="t"/>
          <a:lstStyle/>
          <a:p>
            <a:pPr indent="0" marL="0">
              <a:buNone/>
            </a:pPr>
            <a:r>
              <a:rPr lang="en-US" sz="3600" b="1" dirty="0">
                <a:solidFill>
                  <a:schemeClr val="accent2"/>
                </a:solidFill>
              </a:rPr>
              <a:t>0</a:t>
            </a:r>
            <a:endParaRPr lang="en-US" sz="3600" dirty="0"/>
          </a:p>
        </p:txBody>
      </p:sp>
      <p:sp>
        <p:nvSpPr>
          <p:cNvPr id="39" name="Result 3 label"/>
          <p:cNvSpPr txBox="1"/>
          <p:nvPr/>
        </p:nvSpPr>
        <p:spPr>
          <a:xfrm>
            <a:off x="649224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duplicate rows</a:t>
            </a:r>
            <a:endParaRPr lang="en-US" sz="1400" dirty="0"/>
          </a:p>
        </p:txBody>
      </p:sp>
      <p:sp>
        <p:nvSpPr>
          <p:cNvPr id="40" name="Result 4 value"/>
          <p:cNvSpPr txBox="1"/>
          <p:nvPr/>
        </p:nvSpPr>
        <p:spPr>
          <a:xfrm>
            <a:off x="9281160" y="4617720"/>
            <a:ext cx="2651760" cy="548640"/>
          </a:xfrm>
          <a:prstGeom prst="rect">
            <a:avLst/>
          </a:prstGeom>
          <a:noFill/>
          <a:ln/>
        </p:spPr>
        <p:txBody>
          <a:bodyPr wrap="square" lIns="0" tIns="0" rIns="0" bIns="0" rtlCol="0" anchor="t"/>
          <a:lstStyle/>
          <a:p>
            <a:pPr indent="0" marL="0">
              <a:buNone/>
            </a:pPr>
            <a:r>
              <a:rPr lang="en-US" sz="3600" b="1" dirty="0">
                <a:solidFill>
                  <a:schemeClr val="accent2"/>
                </a:solidFill>
              </a:rPr>
              <a:t>2</a:t>
            </a:r>
            <a:endParaRPr lang="en-US" sz="3600" dirty="0"/>
          </a:p>
        </p:txBody>
      </p:sp>
      <p:sp>
        <p:nvSpPr>
          <p:cNvPr id="41" name="Result 4 label"/>
          <p:cNvSpPr txBox="1"/>
          <p:nvPr/>
        </p:nvSpPr>
        <p:spPr>
          <a:xfrm>
            <a:off x="928116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OS categories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03</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Exploratory Analysis</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How scores are distributed and which attributes drive them</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Most PCs fall in the Medium class</a:t>
            </a:r>
            <a:endParaRPr lang="en-US" sz="3200" dirty="0"/>
          </a:p>
        </p:txBody>
      </p:sp>
      <p:graphicFrame>
        <p:nvGraphicFramePr>
          <p:cNvPr id="4" name="Class distribution chart" descr=""/>
          <p:cNvGraphicFramePr/>
          <p:nvPr/>
        </p:nvGraphicFramePr>
        <p:xfrm>
          <a:off x="548640" y="1371600"/>
          <a:ext cx="6675120" cy="4800600"/>
        </p:xfrm>
        <a:graphic xmlns:a="http://schemas.openxmlformats.org/drawingml/2006/main">
          <a:graphicData uri="http://schemas.openxmlformats.org/drawingml/2006/chart">
            <c:chart xmlns:c="http://schemas.openxmlformats.org/drawingml/2006/chart" r:id="rId1"/>
          </a:graphicData>
        </a:graphic>
      </p:graphicFrame>
      <p:sp>
        <p:nvSpPr>
          <p:cNvPr id="5" name="Score stats card"/>
          <p:cNvSpPr/>
          <p:nvPr/>
        </p:nvSpPr>
        <p:spPr>
          <a:xfrm>
            <a:off x="7589520" y="1417320"/>
            <a:ext cx="4050792" cy="2240280"/>
          </a:xfrm>
          <a:prstGeom prst="roundRect">
            <a:avLst>
              <a:gd name="adj" fmla="val 3265"/>
            </a:avLst>
          </a:prstGeom>
          <a:solidFill>
            <a:schemeClr val="bg2"/>
          </a:solidFill>
          <a:ln w="12700">
            <a:solidFill>
              <a:schemeClr val="bg2"/>
            </a:solidFill>
            <a:prstDash val="solid"/>
          </a:ln>
        </p:spPr>
      </p:sp>
      <p:sp>
        <p:nvSpPr>
          <p:cNvPr id="6" name="Score stats title"/>
          <p:cNvSpPr txBox="1"/>
          <p:nvPr/>
        </p:nvSpPr>
        <p:spPr>
          <a:xfrm>
            <a:off x="7863840" y="1600200"/>
            <a:ext cx="3566160" cy="365760"/>
          </a:xfrm>
          <a:prstGeom prst="rect">
            <a:avLst/>
          </a:prstGeom>
          <a:noFill/>
          <a:ln/>
        </p:spPr>
        <p:txBody>
          <a:bodyPr wrap="square" lIns="0" tIns="0" rIns="0" bIns="0" rtlCol="0" anchor="t"/>
          <a:lstStyle/>
          <a:p>
            <a:pPr indent="0" marL="0">
              <a:buNone/>
            </a:pPr>
            <a:r>
              <a:rPr lang="en-US" sz="1800" b="1" dirty="0">
                <a:solidFill>
                  <a:schemeClr val="tx1"/>
                </a:solidFill>
              </a:rPr>
              <a:t>Performance Score</a:t>
            </a:r>
            <a:endParaRPr lang="en-US" sz="1800" dirty="0"/>
          </a:p>
        </p:txBody>
      </p:sp>
      <p:sp>
        <p:nvSpPr>
          <p:cNvPr id="7" name="Score stat mean"/>
          <p:cNvSpPr txBox="1"/>
          <p:nvPr/>
        </p:nvSpPr>
        <p:spPr>
          <a:xfrm>
            <a:off x="7863840" y="2057400"/>
            <a:ext cx="1783080" cy="548640"/>
          </a:xfrm>
          <a:prstGeom prst="rect">
            <a:avLst/>
          </a:prstGeom>
          <a:noFill/>
          <a:ln/>
        </p:spPr>
        <p:txBody>
          <a:bodyPr wrap="square" lIns="0" tIns="0" rIns="0" bIns="0" rtlCol="0" anchor="t"/>
          <a:lstStyle/>
          <a:p>
            <a:pPr indent="0" marL="0">
              <a:buNone/>
            </a:pPr>
            <a:r>
              <a:rPr lang="en-US" sz="2600" b="1" dirty="0">
                <a:solidFill>
                  <a:schemeClr val="accent1"/>
                </a:solidFill>
              </a:rPr>
              <a:t>509</a:t>
            </a:r>
            <a:pPr indent="0" marL="0">
              <a:buNone/>
            </a:pPr>
            <a:r>
              <a:rPr lang="en-US" sz="1400" dirty="0">
                <a:solidFill>
                  <a:schemeClr val="tx2"/>
                </a:solidFill>
              </a:rPr>
              <a:t>  mean</a:t>
            </a:r>
            <a:endParaRPr lang="en-US" sz="1600" dirty="0"/>
          </a:p>
        </p:txBody>
      </p:sp>
      <p:sp>
        <p:nvSpPr>
          <p:cNvPr id="8" name="Score stat median"/>
          <p:cNvSpPr txBox="1"/>
          <p:nvPr/>
        </p:nvSpPr>
        <p:spPr>
          <a:xfrm>
            <a:off x="9692640" y="2057400"/>
            <a:ext cx="1783080" cy="548640"/>
          </a:xfrm>
          <a:prstGeom prst="rect">
            <a:avLst/>
          </a:prstGeom>
          <a:noFill/>
          <a:ln/>
        </p:spPr>
        <p:txBody>
          <a:bodyPr wrap="square" lIns="0" tIns="0" rIns="0" bIns="0" rtlCol="0" anchor="t"/>
          <a:lstStyle/>
          <a:p>
            <a:pPr indent="0" marL="0">
              <a:buNone/>
            </a:pPr>
            <a:r>
              <a:rPr lang="en-US" sz="2600" b="1" dirty="0">
                <a:solidFill>
                  <a:schemeClr val="accent1"/>
                </a:solidFill>
              </a:rPr>
              <a:t>510</a:t>
            </a:r>
            <a:pPr indent="0" marL="0">
              <a:buNone/>
            </a:pPr>
            <a:r>
              <a:rPr lang="en-US" sz="1400" dirty="0">
                <a:solidFill>
                  <a:schemeClr val="tx2"/>
                </a:solidFill>
              </a:rPr>
              <a:t>  median</a:t>
            </a:r>
            <a:endParaRPr lang="en-US" sz="1600" dirty="0"/>
          </a:p>
        </p:txBody>
      </p:sp>
      <p:sp>
        <p:nvSpPr>
          <p:cNvPr id="9" name="Score stat minimum"/>
          <p:cNvSpPr txBox="1"/>
          <p:nvPr/>
        </p:nvSpPr>
        <p:spPr>
          <a:xfrm>
            <a:off x="7863840" y="2834640"/>
            <a:ext cx="1783080" cy="548640"/>
          </a:xfrm>
          <a:prstGeom prst="rect">
            <a:avLst/>
          </a:prstGeom>
          <a:noFill/>
          <a:ln/>
        </p:spPr>
        <p:txBody>
          <a:bodyPr wrap="square" lIns="0" tIns="0" rIns="0" bIns="0" rtlCol="0" anchor="t"/>
          <a:lstStyle/>
          <a:p>
            <a:pPr indent="0" marL="0">
              <a:buNone/>
            </a:pPr>
            <a:r>
              <a:rPr lang="en-US" sz="2600" b="1" dirty="0">
                <a:solidFill>
                  <a:schemeClr val="accent1"/>
                </a:solidFill>
              </a:rPr>
              <a:t>97.6</a:t>
            </a:r>
            <a:pPr indent="0" marL="0">
              <a:buNone/>
            </a:pPr>
            <a:r>
              <a:rPr lang="en-US" sz="1400" dirty="0">
                <a:solidFill>
                  <a:schemeClr val="tx2"/>
                </a:solidFill>
              </a:rPr>
              <a:t>  minimum</a:t>
            </a:r>
            <a:endParaRPr lang="en-US" sz="1600" dirty="0"/>
          </a:p>
        </p:txBody>
      </p:sp>
      <p:sp>
        <p:nvSpPr>
          <p:cNvPr id="10" name="Score stat maximum"/>
          <p:cNvSpPr txBox="1"/>
          <p:nvPr/>
        </p:nvSpPr>
        <p:spPr>
          <a:xfrm>
            <a:off x="9692640" y="2834640"/>
            <a:ext cx="1783080" cy="548640"/>
          </a:xfrm>
          <a:prstGeom prst="rect">
            <a:avLst/>
          </a:prstGeom>
          <a:noFill/>
          <a:ln/>
        </p:spPr>
        <p:txBody>
          <a:bodyPr wrap="square" lIns="0" tIns="0" rIns="0" bIns="0" rtlCol="0" anchor="t"/>
          <a:lstStyle/>
          <a:p>
            <a:pPr indent="0" marL="0">
              <a:buNone/>
            </a:pPr>
            <a:r>
              <a:rPr lang="en-US" sz="2600" b="1" dirty="0">
                <a:solidFill>
                  <a:schemeClr val="accent1"/>
                </a:solidFill>
              </a:rPr>
              <a:t>1000</a:t>
            </a:r>
            <a:pPr indent="0" marL="0">
              <a:buNone/>
            </a:pPr>
            <a:r>
              <a:rPr lang="en-US" sz="1400" dirty="0">
                <a:solidFill>
                  <a:schemeClr val="tx2"/>
                </a:solidFill>
              </a:rPr>
              <a:t>  maximum</a:t>
            </a:r>
            <a:endParaRPr lang="en-US" sz="1600" dirty="0"/>
          </a:p>
        </p:txBody>
      </p:sp>
      <p:sp>
        <p:nvSpPr>
          <p:cNvPr id="11" name="Class thresholds card"/>
          <p:cNvSpPr/>
          <p:nvPr/>
        </p:nvSpPr>
        <p:spPr>
          <a:xfrm>
            <a:off x="7589520" y="3840480"/>
            <a:ext cx="4050792" cy="2331720"/>
          </a:xfrm>
          <a:prstGeom prst="roundRect">
            <a:avLst>
              <a:gd name="adj" fmla="val 3137"/>
            </a:avLst>
          </a:prstGeom>
          <a:solidFill>
            <a:schemeClr val="bg2"/>
          </a:solidFill>
          <a:ln w="12700">
            <a:solidFill>
              <a:schemeClr val="bg2"/>
            </a:solidFill>
            <a:prstDash val="solid"/>
          </a:ln>
        </p:spPr>
      </p:sp>
      <p:sp>
        <p:nvSpPr>
          <p:cNvPr id="12" name="Thresholds title"/>
          <p:cNvSpPr txBox="1"/>
          <p:nvPr/>
        </p:nvSpPr>
        <p:spPr>
          <a:xfrm>
            <a:off x="7863840" y="4023360"/>
            <a:ext cx="3566160" cy="365760"/>
          </a:xfrm>
          <a:prstGeom prst="rect">
            <a:avLst/>
          </a:prstGeom>
          <a:noFill/>
          <a:ln/>
        </p:spPr>
        <p:txBody>
          <a:bodyPr wrap="square" lIns="0" tIns="0" rIns="0" bIns="0" rtlCol="0" anchor="t"/>
          <a:lstStyle/>
          <a:p>
            <a:pPr indent="0" marL="0">
              <a:buNone/>
            </a:pPr>
            <a:r>
              <a:rPr lang="en-US" sz="1800" b="1" dirty="0">
                <a:solidFill>
                  <a:schemeClr val="tx1"/>
                </a:solidFill>
              </a:rPr>
              <a:t>Class thresholds</a:t>
            </a:r>
            <a:endParaRPr lang="en-US" sz="1800" dirty="0"/>
          </a:p>
        </p:txBody>
      </p:sp>
      <p:sp>
        <p:nvSpPr>
          <p:cNvPr id="13" name="Threshold Low"/>
          <p:cNvSpPr txBox="1"/>
          <p:nvPr/>
        </p:nvSpPr>
        <p:spPr>
          <a:xfrm>
            <a:off x="7863840" y="4480560"/>
            <a:ext cx="2743200" cy="365760"/>
          </a:xfrm>
          <a:prstGeom prst="rect">
            <a:avLst/>
          </a:prstGeom>
          <a:noFill/>
          <a:ln/>
        </p:spPr>
        <p:txBody>
          <a:bodyPr wrap="square" lIns="0" tIns="0" rIns="0" bIns="0" rtlCol="0" anchor="t"/>
          <a:lstStyle/>
          <a:p>
            <a:pPr indent="0" marL="0">
              <a:buNone/>
            </a:pPr>
            <a:r>
              <a:rPr lang="en-US" sz="1500" b="1" dirty="0">
                <a:solidFill>
                  <a:schemeClr val="tx1"/>
                </a:solidFill>
              </a:rPr>
              <a:t>Low</a:t>
            </a:r>
            <a:pPr indent="0" marL="0">
              <a:buNone/>
            </a:pPr>
            <a:r>
              <a:rPr lang="en-US" sz="1500" dirty="0">
                <a:solidFill>
                  <a:schemeClr val="tx2"/>
                </a:solidFill>
              </a:rPr>
              <a:t>   below 400</a:t>
            </a:r>
            <a:endParaRPr lang="en-US" sz="1500" dirty="0"/>
          </a:p>
        </p:txBody>
      </p:sp>
      <p:sp>
        <p:nvSpPr>
          <p:cNvPr id="14" name="Threshold share Low"/>
          <p:cNvSpPr txBox="1"/>
          <p:nvPr/>
        </p:nvSpPr>
        <p:spPr>
          <a:xfrm>
            <a:off x="10515600" y="4480560"/>
            <a:ext cx="868680" cy="365760"/>
          </a:xfrm>
          <a:prstGeom prst="rect">
            <a:avLst/>
          </a:prstGeom>
          <a:noFill/>
          <a:ln/>
        </p:spPr>
        <p:txBody>
          <a:bodyPr wrap="square" lIns="0" tIns="0" rIns="0" bIns="0" rtlCol="0" anchor="t"/>
          <a:lstStyle/>
          <a:p>
            <a:pPr algn="r" indent="0" marL="0">
              <a:buNone/>
            </a:pPr>
            <a:r>
              <a:rPr lang="en-US" sz="1500" b="1" dirty="0">
                <a:solidFill>
                  <a:schemeClr val="accent1"/>
                </a:solidFill>
              </a:rPr>
              <a:t>27%</a:t>
            </a:r>
            <a:endParaRPr lang="en-US" sz="1500" dirty="0"/>
          </a:p>
        </p:txBody>
      </p:sp>
      <p:sp>
        <p:nvSpPr>
          <p:cNvPr id="15" name="Threshold Medium"/>
          <p:cNvSpPr txBox="1"/>
          <p:nvPr/>
        </p:nvSpPr>
        <p:spPr>
          <a:xfrm>
            <a:off x="7863840" y="4873752"/>
            <a:ext cx="2743200" cy="365760"/>
          </a:xfrm>
          <a:prstGeom prst="rect">
            <a:avLst/>
          </a:prstGeom>
          <a:noFill/>
          <a:ln/>
        </p:spPr>
        <p:txBody>
          <a:bodyPr wrap="square" lIns="0" tIns="0" rIns="0" bIns="0" rtlCol="0" anchor="t"/>
          <a:lstStyle/>
          <a:p>
            <a:pPr indent="0" marL="0">
              <a:buNone/>
            </a:pPr>
            <a:r>
              <a:rPr lang="en-US" sz="1500" b="1" dirty="0">
                <a:solidFill>
                  <a:schemeClr val="tx1"/>
                </a:solidFill>
              </a:rPr>
              <a:t>Medium</a:t>
            </a:r>
            <a:pPr indent="0" marL="0">
              <a:buNone/>
            </a:pPr>
            <a:r>
              <a:rPr lang="en-US" sz="1500" dirty="0">
                <a:solidFill>
                  <a:schemeClr val="tx2"/>
                </a:solidFill>
              </a:rPr>
              <a:t>   400 - 649</a:t>
            </a:r>
            <a:endParaRPr lang="en-US" sz="1500" dirty="0"/>
          </a:p>
        </p:txBody>
      </p:sp>
      <p:sp>
        <p:nvSpPr>
          <p:cNvPr id="16" name="Threshold share Medium"/>
          <p:cNvSpPr txBox="1"/>
          <p:nvPr/>
        </p:nvSpPr>
        <p:spPr>
          <a:xfrm>
            <a:off x="10515600" y="4873752"/>
            <a:ext cx="868680" cy="365760"/>
          </a:xfrm>
          <a:prstGeom prst="rect">
            <a:avLst/>
          </a:prstGeom>
          <a:noFill/>
          <a:ln/>
        </p:spPr>
        <p:txBody>
          <a:bodyPr wrap="square" lIns="0" tIns="0" rIns="0" bIns="0" rtlCol="0" anchor="t"/>
          <a:lstStyle/>
          <a:p>
            <a:pPr algn="r" indent="0" marL="0">
              <a:buNone/>
            </a:pPr>
            <a:r>
              <a:rPr lang="en-US" sz="1500" b="1" dirty="0">
                <a:solidFill>
                  <a:schemeClr val="accent1"/>
                </a:solidFill>
              </a:rPr>
              <a:t>53%</a:t>
            </a:r>
            <a:endParaRPr lang="en-US" sz="1500" dirty="0"/>
          </a:p>
        </p:txBody>
      </p:sp>
      <p:sp>
        <p:nvSpPr>
          <p:cNvPr id="17" name="Threshold High"/>
          <p:cNvSpPr txBox="1"/>
          <p:nvPr/>
        </p:nvSpPr>
        <p:spPr>
          <a:xfrm>
            <a:off x="7863840" y="5266944"/>
            <a:ext cx="2743200" cy="365760"/>
          </a:xfrm>
          <a:prstGeom prst="rect">
            <a:avLst/>
          </a:prstGeom>
          <a:noFill/>
          <a:ln/>
        </p:spPr>
        <p:txBody>
          <a:bodyPr wrap="square" lIns="0" tIns="0" rIns="0" bIns="0" rtlCol="0" anchor="t"/>
          <a:lstStyle/>
          <a:p>
            <a:pPr indent="0" marL="0">
              <a:buNone/>
            </a:pPr>
            <a:r>
              <a:rPr lang="en-US" sz="1500" b="1" dirty="0">
                <a:solidFill>
                  <a:schemeClr val="tx1"/>
                </a:solidFill>
              </a:rPr>
              <a:t>High</a:t>
            </a:r>
            <a:pPr indent="0" marL="0">
              <a:buNone/>
            </a:pPr>
            <a:r>
              <a:rPr lang="en-US" sz="1500" dirty="0">
                <a:solidFill>
                  <a:schemeClr val="tx2"/>
                </a:solidFill>
              </a:rPr>
              <a:t>   650 - 849</a:t>
            </a:r>
            <a:endParaRPr lang="en-US" sz="1500" dirty="0"/>
          </a:p>
        </p:txBody>
      </p:sp>
      <p:sp>
        <p:nvSpPr>
          <p:cNvPr id="18" name="Threshold share High"/>
          <p:cNvSpPr txBox="1"/>
          <p:nvPr/>
        </p:nvSpPr>
        <p:spPr>
          <a:xfrm>
            <a:off x="10515600" y="5266944"/>
            <a:ext cx="868680" cy="365760"/>
          </a:xfrm>
          <a:prstGeom prst="rect">
            <a:avLst/>
          </a:prstGeom>
          <a:noFill/>
          <a:ln/>
        </p:spPr>
        <p:txBody>
          <a:bodyPr wrap="square" lIns="0" tIns="0" rIns="0" bIns="0" rtlCol="0" anchor="t"/>
          <a:lstStyle/>
          <a:p>
            <a:pPr algn="r" indent="0" marL="0">
              <a:buNone/>
            </a:pPr>
            <a:r>
              <a:rPr lang="en-US" sz="1500" b="1" dirty="0">
                <a:solidFill>
                  <a:schemeClr val="accent1"/>
                </a:solidFill>
              </a:rPr>
              <a:t>18%</a:t>
            </a:r>
            <a:endParaRPr lang="en-US" sz="1500" dirty="0"/>
          </a:p>
        </p:txBody>
      </p:sp>
      <p:sp>
        <p:nvSpPr>
          <p:cNvPr id="19" name="Threshold Very High"/>
          <p:cNvSpPr txBox="1"/>
          <p:nvPr/>
        </p:nvSpPr>
        <p:spPr>
          <a:xfrm>
            <a:off x="7863840" y="5660136"/>
            <a:ext cx="2743200" cy="365760"/>
          </a:xfrm>
          <a:prstGeom prst="rect">
            <a:avLst/>
          </a:prstGeom>
          <a:noFill/>
          <a:ln/>
        </p:spPr>
        <p:txBody>
          <a:bodyPr wrap="square" lIns="0" tIns="0" rIns="0" bIns="0" rtlCol="0" anchor="t"/>
          <a:lstStyle/>
          <a:p>
            <a:pPr indent="0" marL="0">
              <a:buNone/>
            </a:pPr>
            <a:r>
              <a:rPr lang="en-US" sz="1500" b="1" dirty="0">
                <a:solidFill>
                  <a:schemeClr val="tx1"/>
                </a:solidFill>
              </a:rPr>
              <a:t>Very High</a:t>
            </a:r>
            <a:pPr indent="0" marL="0">
              <a:buNone/>
            </a:pPr>
            <a:r>
              <a:rPr lang="en-US" sz="1500" dirty="0">
                <a:solidFill>
                  <a:schemeClr val="tx2"/>
                </a:solidFill>
              </a:rPr>
              <a:t>   850 and above</a:t>
            </a:r>
            <a:endParaRPr lang="en-US" sz="1500" dirty="0"/>
          </a:p>
        </p:txBody>
      </p:sp>
      <p:sp>
        <p:nvSpPr>
          <p:cNvPr id="20" name="Threshold share Very High"/>
          <p:cNvSpPr txBox="1"/>
          <p:nvPr/>
        </p:nvSpPr>
        <p:spPr>
          <a:xfrm>
            <a:off x="10515600" y="5660136"/>
            <a:ext cx="868680" cy="365760"/>
          </a:xfrm>
          <a:prstGeom prst="rect">
            <a:avLst/>
          </a:prstGeom>
          <a:noFill/>
          <a:ln/>
        </p:spPr>
        <p:txBody>
          <a:bodyPr wrap="square" lIns="0" tIns="0" rIns="0" bIns="0" rtlCol="0" anchor="t"/>
          <a:lstStyle/>
          <a:p>
            <a:pPr algn="r" indent="0" marL="0">
              <a:buNone/>
            </a:pPr>
            <a:r>
              <a:rPr lang="en-US" sz="1500" b="1" dirty="0">
                <a:solidFill>
                  <a:schemeClr val="accent1"/>
                </a:solidFill>
              </a:rPr>
              <a:t>2%</a:t>
            </a:r>
            <a:endParaRPr lang="en-US" sz="15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RAM, CPU cores and GPU drive the score</a:t>
            </a:r>
            <a:endParaRPr lang="en-US" sz="3200" dirty="0"/>
          </a:p>
        </p:txBody>
      </p:sp>
      <p:graphicFrame>
        <p:nvGraphicFramePr>
          <p:cNvPr id="4" name="Correlation chart" descr=""/>
          <p:cNvGraphicFramePr/>
          <p:nvPr/>
        </p:nvGraphicFramePr>
        <p:xfrm>
          <a:off x="548640" y="1371600"/>
          <a:ext cx="6949440" cy="4800600"/>
        </p:xfrm>
        <a:graphic xmlns:a="http://schemas.openxmlformats.org/drawingml/2006/main">
          <a:graphicData uri="http://schemas.openxmlformats.org/drawingml/2006/chart">
            <c:chart xmlns:c="http://schemas.openxmlformats.org/drawingml/2006/chart" r:id="rId1"/>
          </a:graphicData>
        </a:graphic>
      </p:graphicFrame>
      <p:sp>
        <p:nvSpPr>
          <p:cNvPr id="5" name="Correlation note 1 circle"/>
          <p:cNvSpPr/>
          <p:nvPr/>
        </p:nvSpPr>
        <p:spPr>
          <a:xfrm>
            <a:off x="7909560" y="1600200"/>
            <a:ext cx="731520" cy="731520"/>
          </a:xfrm>
          <a:prstGeom prst="ellipse">
            <a:avLst/>
          </a:prstGeom>
          <a:solidFill>
            <a:schemeClr val="accent1"/>
          </a:solidFill>
          <a:ln w="12700">
            <a:solidFill>
              <a:schemeClr val="accent1"/>
            </a:solidFill>
            <a:prstDash val="solid"/>
          </a:ln>
        </p:spPr>
      </p:sp>
      <p:pic>
        <p:nvPicPr>
          <p:cNvPr id="6" name="Correlation note 1 icon" descr="preencoded.png">    </p:cNvPr>
          <p:cNvPicPr>
            <a:picLocks noChangeAspect="1"/>
          </p:cNvPicPr>
          <p:nvPr/>
        </p:nvPicPr>
        <p:blipFill>
          <a:blip r:embed="rId2"/>
          <a:stretch>
            <a:fillRect/>
          </a:stretch>
        </p:blipFill>
        <p:spPr>
          <a:xfrm>
            <a:off x="8099755" y="1790395"/>
            <a:ext cx="351130" cy="351130"/>
          </a:xfrm>
          <a:prstGeom prst="rect">
            <a:avLst/>
          </a:prstGeom>
        </p:spPr>
      </p:pic>
      <p:sp>
        <p:nvSpPr>
          <p:cNvPr id="7" name="Correlation note title 1"/>
          <p:cNvSpPr txBox="1"/>
          <p:nvPr/>
        </p:nvSpPr>
        <p:spPr>
          <a:xfrm>
            <a:off x="8823960" y="1581912"/>
            <a:ext cx="2834640" cy="384048"/>
          </a:xfrm>
          <a:prstGeom prst="rect">
            <a:avLst/>
          </a:prstGeom>
          <a:noFill/>
          <a:ln/>
        </p:spPr>
        <p:txBody>
          <a:bodyPr wrap="square" lIns="0" tIns="0" rIns="0" bIns="0" rtlCol="0" anchor="t"/>
          <a:lstStyle/>
          <a:p>
            <a:pPr indent="0" marL="0">
              <a:buNone/>
            </a:pPr>
            <a:r>
              <a:rPr lang="en-US" sz="1800" b="1" dirty="0">
                <a:solidFill>
                  <a:schemeClr val="tx1"/>
                </a:solidFill>
              </a:rPr>
              <a:t>Strongest positive</a:t>
            </a:r>
            <a:endParaRPr lang="en-US" sz="1800" dirty="0"/>
          </a:p>
        </p:txBody>
      </p:sp>
      <p:sp>
        <p:nvSpPr>
          <p:cNvPr id="8" name="Correlation note desc 1"/>
          <p:cNvSpPr txBox="1"/>
          <p:nvPr/>
        </p:nvSpPr>
        <p:spPr>
          <a:xfrm>
            <a:off x="8823960" y="1984248"/>
            <a:ext cx="2834640" cy="868680"/>
          </a:xfrm>
          <a:prstGeom prst="rect">
            <a:avLst/>
          </a:prstGeom>
          <a:noFill/>
          <a:ln/>
        </p:spPr>
        <p:txBody>
          <a:bodyPr wrap="square" lIns="0" tIns="0" rIns="0" bIns="0" rtlCol="0" anchor="t"/>
          <a:lstStyle/>
          <a:p>
            <a:pPr indent="0" marL="0">
              <a:buNone/>
            </a:pPr>
            <a:r>
              <a:rPr lang="en-US" sz="1400" dirty="0">
                <a:solidFill>
                  <a:schemeClr val="tx2"/>
                </a:solidFill>
              </a:rPr>
              <a:t>RAM (0.54), CPU cores (0.49) and GPU level (0.44)</a:t>
            </a:r>
            <a:endParaRPr lang="en-US" sz="1400" dirty="0"/>
          </a:p>
        </p:txBody>
      </p:sp>
      <p:sp>
        <p:nvSpPr>
          <p:cNvPr id="9" name="Correlation note 2 circle"/>
          <p:cNvSpPr/>
          <p:nvPr/>
        </p:nvSpPr>
        <p:spPr>
          <a:xfrm>
            <a:off x="7909560" y="3108960"/>
            <a:ext cx="731520" cy="731520"/>
          </a:xfrm>
          <a:prstGeom prst="ellipse">
            <a:avLst/>
          </a:prstGeom>
          <a:solidFill>
            <a:schemeClr val="accent4"/>
          </a:solidFill>
          <a:ln w="12700">
            <a:solidFill>
              <a:schemeClr val="accent4"/>
            </a:solidFill>
            <a:prstDash val="solid"/>
          </a:ln>
        </p:spPr>
      </p:sp>
      <p:pic>
        <p:nvPicPr>
          <p:cNvPr id="10" name="Correlation note 2 icon" descr="preencoded.png">    </p:cNvPr>
          <p:cNvPicPr>
            <a:picLocks noChangeAspect="1"/>
          </p:cNvPicPr>
          <p:nvPr/>
        </p:nvPicPr>
        <p:blipFill>
          <a:blip r:embed="rId3"/>
          <a:stretch>
            <a:fillRect/>
          </a:stretch>
        </p:blipFill>
        <p:spPr>
          <a:xfrm>
            <a:off x="8099755" y="3299155"/>
            <a:ext cx="351130" cy="351130"/>
          </a:xfrm>
          <a:prstGeom prst="rect">
            <a:avLst/>
          </a:prstGeom>
        </p:spPr>
      </p:pic>
      <p:sp>
        <p:nvSpPr>
          <p:cNvPr id="11" name="Correlation note title 2"/>
          <p:cNvSpPr txBox="1"/>
          <p:nvPr/>
        </p:nvSpPr>
        <p:spPr>
          <a:xfrm>
            <a:off x="8823960" y="3090672"/>
            <a:ext cx="2834640" cy="384048"/>
          </a:xfrm>
          <a:prstGeom prst="rect">
            <a:avLst/>
          </a:prstGeom>
          <a:noFill/>
          <a:ln/>
        </p:spPr>
        <p:txBody>
          <a:bodyPr wrap="square" lIns="0" tIns="0" rIns="0" bIns="0" rtlCol="0" anchor="t"/>
          <a:lstStyle/>
          <a:p>
            <a:pPr indent="0" marL="0">
              <a:buNone/>
            </a:pPr>
            <a:r>
              <a:rPr lang="en-US" sz="1800" b="1" dirty="0">
                <a:solidFill>
                  <a:schemeClr val="tx1"/>
                </a:solidFill>
              </a:rPr>
              <a:t>Negative effects</a:t>
            </a:r>
            <a:endParaRPr lang="en-US" sz="1800" dirty="0"/>
          </a:p>
        </p:txBody>
      </p:sp>
      <p:sp>
        <p:nvSpPr>
          <p:cNvPr id="12" name="Correlation note desc 2"/>
          <p:cNvSpPr txBox="1"/>
          <p:nvPr/>
        </p:nvSpPr>
        <p:spPr>
          <a:xfrm>
            <a:off x="8823960" y="3493008"/>
            <a:ext cx="2834640" cy="868680"/>
          </a:xfrm>
          <a:prstGeom prst="rect">
            <a:avLst/>
          </a:prstGeom>
          <a:noFill/>
          <a:ln/>
        </p:spPr>
        <p:txBody>
          <a:bodyPr wrap="square" lIns="0" tIns="0" rIns="0" bIns="0" rtlCol="0" anchor="t"/>
          <a:lstStyle/>
          <a:p>
            <a:pPr indent="0" marL="0">
              <a:buNone/>
            </a:pPr>
            <a:r>
              <a:rPr lang="en-US" sz="1400" dirty="0">
                <a:solidFill>
                  <a:schemeClr val="tx2"/>
                </a:solidFill>
              </a:rPr>
              <a:t>Older and hotter PCs score lower (age -0.29, temperature -0.14)</a:t>
            </a:r>
            <a:endParaRPr lang="en-US" sz="1400" dirty="0"/>
          </a:p>
        </p:txBody>
      </p:sp>
      <p:sp>
        <p:nvSpPr>
          <p:cNvPr id="13" name="Correlation note 3 circle"/>
          <p:cNvSpPr/>
          <p:nvPr/>
        </p:nvSpPr>
        <p:spPr>
          <a:xfrm>
            <a:off x="7909560" y="4617720"/>
            <a:ext cx="731520" cy="731520"/>
          </a:xfrm>
          <a:prstGeom prst="ellipse">
            <a:avLst/>
          </a:prstGeom>
          <a:solidFill>
            <a:schemeClr val="accent2"/>
          </a:solidFill>
          <a:ln w="12700">
            <a:solidFill>
              <a:schemeClr val="accent2"/>
            </a:solidFill>
            <a:prstDash val="solid"/>
          </a:ln>
        </p:spPr>
      </p:sp>
      <p:pic>
        <p:nvPicPr>
          <p:cNvPr id="14" name="Correlation note 3 icon" descr="preencoded.png">    </p:cNvPr>
          <p:cNvPicPr>
            <a:picLocks noChangeAspect="1"/>
          </p:cNvPicPr>
          <p:nvPr/>
        </p:nvPicPr>
        <p:blipFill>
          <a:blip r:embed="rId4"/>
          <a:stretch>
            <a:fillRect/>
          </a:stretch>
        </p:blipFill>
        <p:spPr>
          <a:xfrm>
            <a:off x="8099755" y="4807915"/>
            <a:ext cx="351130" cy="351130"/>
          </a:xfrm>
          <a:prstGeom prst="rect">
            <a:avLst/>
          </a:prstGeom>
        </p:spPr>
      </p:pic>
      <p:sp>
        <p:nvSpPr>
          <p:cNvPr id="15" name="Correlation note title 3"/>
          <p:cNvSpPr txBox="1"/>
          <p:nvPr/>
        </p:nvSpPr>
        <p:spPr>
          <a:xfrm>
            <a:off x="8823960" y="4599432"/>
            <a:ext cx="2834640" cy="384048"/>
          </a:xfrm>
          <a:prstGeom prst="rect">
            <a:avLst/>
          </a:prstGeom>
          <a:noFill/>
          <a:ln/>
        </p:spPr>
        <p:txBody>
          <a:bodyPr wrap="square" lIns="0" tIns="0" rIns="0" bIns="0" rtlCol="0" anchor="t"/>
          <a:lstStyle/>
          <a:p>
            <a:pPr indent="0" marL="0">
              <a:buNone/>
            </a:pPr>
            <a:r>
              <a:rPr lang="en-US" sz="1800" b="1" dirty="0">
                <a:solidFill>
                  <a:schemeClr val="tx1"/>
                </a:solidFill>
              </a:rPr>
              <a:t>Barely matters</a:t>
            </a:r>
            <a:endParaRPr lang="en-US" sz="1800" dirty="0"/>
          </a:p>
        </p:txBody>
      </p:sp>
      <p:sp>
        <p:nvSpPr>
          <p:cNvPr id="16" name="Correlation note desc 3"/>
          <p:cNvSpPr txBox="1"/>
          <p:nvPr/>
        </p:nvSpPr>
        <p:spPr>
          <a:xfrm>
            <a:off x="8823960" y="5001768"/>
            <a:ext cx="2834640" cy="868680"/>
          </a:xfrm>
          <a:prstGeom prst="rect">
            <a:avLst/>
          </a:prstGeom>
          <a:noFill/>
          <a:ln/>
        </p:spPr>
        <p:txBody>
          <a:bodyPr wrap="square" lIns="0" tIns="0" rIns="0" bIns="0" rtlCol="0" anchor="t"/>
          <a:lstStyle/>
          <a:p>
            <a:pPr indent="0" marL="0">
              <a:buNone/>
            </a:pPr>
            <a:r>
              <a:rPr lang="en-US" sz="1400" dirty="0">
                <a:solidFill>
                  <a:schemeClr val="tx2"/>
                </a:solidFill>
              </a:rPr>
              <a:t>Storage capacity has only a weak link to the score (0.13)</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04</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Model Training &amp; Results</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Nine supervised regression algorithms, tuned with cross-validation</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Training pipeline</a:t>
            </a:r>
            <a:endParaRPr lang="en-US" sz="3200" dirty="0"/>
          </a:p>
        </p:txBody>
      </p:sp>
      <p:sp>
        <p:nvSpPr>
          <p:cNvPr id="4" name="Flow card 1"/>
          <p:cNvSpPr/>
          <p:nvPr/>
        </p:nvSpPr>
        <p:spPr>
          <a:xfrm>
            <a:off x="548640" y="1417320"/>
            <a:ext cx="2464994" cy="2011680"/>
          </a:xfrm>
          <a:prstGeom prst="roundRect">
            <a:avLst>
              <a:gd name="adj" fmla="val 3636"/>
            </a:avLst>
          </a:prstGeom>
          <a:solidFill>
            <a:schemeClr val="bg2"/>
          </a:solidFill>
          <a:ln w="12700">
            <a:solidFill>
              <a:schemeClr val="bg2"/>
            </a:solidFill>
            <a:prstDash val="solid"/>
          </a:ln>
        </p:spPr>
      </p:sp>
      <p:sp>
        <p:nvSpPr>
          <p:cNvPr id="5" name="Flow 1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6" name="Flow 1 icon" descr="preencoded.png">    </p:cNvPr>
          <p:cNvPicPr>
            <a:picLocks noChangeAspect="1"/>
          </p:cNvPicPr>
          <p:nvPr/>
        </p:nvPicPr>
        <p:blipFill>
          <a:blip r:embed="rId1"/>
          <a:stretch>
            <a:fillRect/>
          </a:stretch>
        </p:blipFill>
        <p:spPr>
          <a:xfrm>
            <a:off x="989381" y="1858061"/>
            <a:ext cx="307238" cy="307238"/>
          </a:xfrm>
          <a:prstGeom prst="rect">
            <a:avLst/>
          </a:prstGeom>
        </p:spPr>
      </p:pic>
      <p:sp>
        <p:nvSpPr>
          <p:cNvPr id="7" name="Flow number 1"/>
          <p:cNvSpPr txBox="1"/>
          <p:nvPr/>
        </p:nvSpPr>
        <p:spPr>
          <a:xfrm>
            <a:off x="2282114" y="170992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1</a:t>
            </a:r>
            <a:endParaRPr lang="en-US" sz="2200" dirty="0"/>
          </a:p>
        </p:txBody>
      </p:sp>
      <p:sp>
        <p:nvSpPr>
          <p:cNvPr id="8" name="Flow title 1"/>
          <p:cNvSpPr txBox="1"/>
          <p:nvPr/>
        </p:nvSpPr>
        <p:spPr>
          <a:xfrm>
            <a:off x="822960" y="2441448"/>
            <a:ext cx="1916354" cy="365760"/>
          </a:xfrm>
          <a:prstGeom prst="rect">
            <a:avLst/>
          </a:prstGeom>
          <a:noFill/>
          <a:ln/>
        </p:spPr>
        <p:txBody>
          <a:bodyPr wrap="square" lIns="0" tIns="0" rIns="0" bIns="0" rtlCol="0" anchor="t"/>
          <a:lstStyle/>
          <a:p>
            <a:pPr indent="0" marL="0">
              <a:buNone/>
            </a:pPr>
            <a:r>
              <a:rPr lang="en-US" sz="1800" b="1" dirty="0">
                <a:solidFill>
                  <a:schemeClr val="tx1"/>
                </a:solidFill>
              </a:rPr>
              <a:t>Clean data</a:t>
            </a:r>
            <a:endParaRPr lang="en-US" sz="1800" dirty="0"/>
          </a:p>
        </p:txBody>
      </p:sp>
      <p:sp>
        <p:nvSpPr>
          <p:cNvPr id="9" name="Flow desc 1"/>
          <p:cNvSpPr txBox="1"/>
          <p:nvPr/>
        </p:nvSpPr>
        <p:spPr>
          <a:xfrm>
            <a:off x="822960" y="2807208"/>
            <a:ext cx="1916354" cy="566928"/>
          </a:xfrm>
          <a:prstGeom prst="rect">
            <a:avLst/>
          </a:prstGeom>
          <a:noFill/>
          <a:ln/>
        </p:spPr>
        <p:txBody>
          <a:bodyPr wrap="square" lIns="0" tIns="0" rIns="0" bIns="0" rtlCol="0" anchor="t"/>
          <a:lstStyle/>
          <a:p>
            <a:pPr indent="0" marL="0">
              <a:buNone/>
            </a:pPr>
            <a:r>
              <a:rPr lang="en-US" sz="1300" dirty="0">
                <a:solidFill>
                  <a:schemeClr val="tx2"/>
                </a:solidFill>
              </a:rPr>
              <a:t>503 rows, 8 features, target = Performance_Score</a:t>
            </a:r>
            <a:endParaRPr lang="en-US" sz="1300" dirty="0"/>
          </a:p>
        </p:txBody>
      </p:sp>
      <p:sp>
        <p:nvSpPr>
          <p:cNvPr id="10" name="Flow arrow 1"/>
          <p:cNvSpPr/>
          <p:nvPr/>
        </p:nvSpPr>
        <p:spPr>
          <a:xfrm rot="5400000">
            <a:off x="3132506" y="2286000"/>
            <a:ext cx="182880" cy="274320"/>
          </a:xfrm>
          <a:prstGeom prst="triangle">
            <a:avLst/>
          </a:prstGeom>
          <a:solidFill>
            <a:schemeClr val="accent1"/>
          </a:solidFill>
          <a:ln w="12700">
            <a:solidFill>
              <a:schemeClr val="accent1"/>
            </a:solidFill>
            <a:prstDash val="solid"/>
          </a:ln>
        </p:spPr>
      </p:sp>
      <p:sp>
        <p:nvSpPr>
          <p:cNvPr id="11" name="Flow card 2"/>
          <p:cNvSpPr/>
          <p:nvPr/>
        </p:nvSpPr>
        <p:spPr>
          <a:xfrm>
            <a:off x="3425114" y="1417320"/>
            <a:ext cx="2464994" cy="2011680"/>
          </a:xfrm>
          <a:prstGeom prst="roundRect">
            <a:avLst>
              <a:gd name="adj" fmla="val 3636"/>
            </a:avLst>
          </a:prstGeom>
          <a:solidFill>
            <a:schemeClr val="bg2"/>
          </a:solidFill>
          <a:ln w="12700">
            <a:solidFill>
              <a:schemeClr val="bg2"/>
            </a:solidFill>
            <a:prstDash val="solid"/>
          </a:ln>
        </p:spPr>
      </p:sp>
      <p:sp>
        <p:nvSpPr>
          <p:cNvPr id="12" name="Flow 2 circle"/>
          <p:cNvSpPr/>
          <p:nvPr/>
        </p:nvSpPr>
        <p:spPr>
          <a:xfrm>
            <a:off x="3699434" y="1691640"/>
            <a:ext cx="640080" cy="640080"/>
          </a:xfrm>
          <a:prstGeom prst="ellipse">
            <a:avLst/>
          </a:prstGeom>
          <a:solidFill>
            <a:schemeClr val="accent1"/>
          </a:solidFill>
          <a:ln w="12700">
            <a:solidFill>
              <a:schemeClr val="accent1"/>
            </a:solidFill>
            <a:prstDash val="solid"/>
          </a:ln>
        </p:spPr>
      </p:sp>
      <p:pic>
        <p:nvPicPr>
          <p:cNvPr id="13" name="Flow 2 icon" descr="preencoded.png">    </p:cNvPr>
          <p:cNvPicPr>
            <a:picLocks noChangeAspect="1"/>
          </p:cNvPicPr>
          <p:nvPr/>
        </p:nvPicPr>
        <p:blipFill>
          <a:blip r:embed="rId2"/>
          <a:stretch>
            <a:fillRect/>
          </a:stretch>
        </p:blipFill>
        <p:spPr>
          <a:xfrm>
            <a:off x="3865855" y="1858061"/>
            <a:ext cx="307238" cy="307238"/>
          </a:xfrm>
          <a:prstGeom prst="rect">
            <a:avLst/>
          </a:prstGeom>
        </p:spPr>
      </p:pic>
      <p:sp>
        <p:nvSpPr>
          <p:cNvPr id="14" name="Flow number 2"/>
          <p:cNvSpPr txBox="1"/>
          <p:nvPr/>
        </p:nvSpPr>
        <p:spPr>
          <a:xfrm>
            <a:off x="5158588" y="170992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2</a:t>
            </a:r>
            <a:endParaRPr lang="en-US" sz="2200" dirty="0"/>
          </a:p>
        </p:txBody>
      </p:sp>
      <p:sp>
        <p:nvSpPr>
          <p:cNvPr id="15" name="Flow title 2"/>
          <p:cNvSpPr txBox="1"/>
          <p:nvPr/>
        </p:nvSpPr>
        <p:spPr>
          <a:xfrm>
            <a:off x="3699434" y="2441448"/>
            <a:ext cx="1916354" cy="365760"/>
          </a:xfrm>
          <a:prstGeom prst="rect">
            <a:avLst/>
          </a:prstGeom>
          <a:noFill/>
          <a:ln/>
        </p:spPr>
        <p:txBody>
          <a:bodyPr wrap="square" lIns="0" tIns="0" rIns="0" bIns="0" rtlCol="0" anchor="t"/>
          <a:lstStyle/>
          <a:p>
            <a:pPr indent="0" marL="0">
              <a:buNone/>
            </a:pPr>
            <a:r>
              <a:rPr lang="en-US" sz="1800" b="1" dirty="0">
                <a:solidFill>
                  <a:schemeClr val="tx1"/>
                </a:solidFill>
              </a:rPr>
              <a:t>Train / test split</a:t>
            </a:r>
            <a:endParaRPr lang="en-US" sz="1800" dirty="0"/>
          </a:p>
        </p:txBody>
      </p:sp>
      <p:sp>
        <p:nvSpPr>
          <p:cNvPr id="16" name="Flow desc 2"/>
          <p:cNvSpPr txBox="1"/>
          <p:nvPr/>
        </p:nvSpPr>
        <p:spPr>
          <a:xfrm>
            <a:off x="3699434" y="2807208"/>
            <a:ext cx="1916354" cy="566928"/>
          </a:xfrm>
          <a:prstGeom prst="rect">
            <a:avLst/>
          </a:prstGeom>
          <a:noFill/>
          <a:ln/>
        </p:spPr>
        <p:txBody>
          <a:bodyPr wrap="square" lIns="0" tIns="0" rIns="0" bIns="0" rtlCol="0" anchor="t"/>
          <a:lstStyle/>
          <a:p>
            <a:pPr indent="0" marL="0">
              <a:buNone/>
            </a:pPr>
            <a:r>
              <a:rPr lang="en-US" sz="1300" dirty="0">
                <a:solidFill>
                  <a:schemeClr val="tx2"/>
                </a:solidFill>
              </a:rPr>
              <a:t>80 / 20: 402 train rows, 101 test rows</a:t>
            </a:r>
            <a:endParaRPr lang="en-US" sz="1300" dirty="0"/>
          </a:p>
        </p:txBody>
      </p:sp>
      <p:sp>
        <p:nvSpPr>
          <p:cNvPr id="17" name="Flow arrow 2"/>
          <p:cNvSpPr/>
          <p:nvPr/>
        </p:nvSpPr>
        <p:spPr>
          <a:xfrm rot="5400000">
            <a:off x="6008980" y="2286000"/>
            <a:ext cx="182880" cy="274320"/>
          </a:xfrm>
          <a:prstGeom prst="triangle">
            <a:avLst/>
          </a:prstGeom>
          <a:solidFill>
            <a:schemeClr val="accent1"/>
          </a:solidFill>
          <a:ln w="12700">
            <a:solidFill>
              <a:schemeClr val="accent1"/>
            </a:solidFill>
            <a:prstDash val="solid"/>
          </a:ln>
        </p:spPr>
      </p:sp>
      <p:sp>
        <p:nvSpPr>
          <p:cNvPr id="18" name="Flow card 3"/>
          <p:cNvSpPr/>
          <p:nvPr/>
        </p:nvSpPr>
        <p:spPr>
          <a:xfrm>
            <a:off x="6301588" y="1417320"/>
            <a:ext cx="2464994" cy="2011680"/>
          </a:xfrm>
          <a:prstGeom prst="roundRect">
            <a:avLst>
              <a:gd name="adj" fmla="val 3636"/>
            </a:avLst>
          </a:prstGeom>
          <a:solidFill>
            <a:schemeClr val="bg2"/>
          </a:solidFill>
          <a:ln w="12700">
            <a:solidFill>
              <a:schemeClr val="bg2"/>
            </a:solidFill>
            <a:prstDash val="solid"/>
          </a:ln>
        </p:spPr>
      </p:sp>
      <p:sp>
        <p:nvSpPr>
          <p:cNvPr id="19" name="Flow 3 circle"/>
          <p:cNvSpPr/>
          <p:nvPr/>
        </p:nvSpPr>
        <p:spPr>
          <a:xfrm>
            <a:off x="6575908" y="1691640"/>
            <a:ext cx="640080" cy="640080"/>
          </a:xfrm>
          <a:prstGeom prst="ellipse">
            <a:avLst/>
          </a:prstGeom>
          <a:solidFill>
            <a:schemeClr val="accent1"/>
          </a:solidFill>
          <a:ln w="12700">
            <a:solidFill>
              <a:schemeClr val="accent1"/>
            </a:solidFill>
            <a:prstDash val="solid"/>
          </a:ln>
        </p:spPr>
      </p:sp>
      <p:pic>
        <p:nvPicPr>
          <p:cNvPr id="20" name="Flow 3 icon" descr="preencoded.png">    </p:cNvPr>
          <p:cNvPicPr>
            <a:picLocks noChangeAspect="1"/>
          </p:cNvPicPr>
          <p:nvPr/>
        </p:nvPicPr>
        <p:blipFill>
          <a:blip r:embed="rId3"/>
          <a:stretch>
            <a:fillRect/>
          </a:stretch>
        </p:blipFill>
        <p:spPr>
          <a:xfrm>
            <a:off x="6742328" y="1858061"/>
            <a:ext cx="307238" cy="307238"/>
          </a:xfrm>
          <a:prstGeom prst="rect">
            <a:avLst/>
          </a:prstGeom>
        </p:spPr>
      </p:pic>
      <p:sp>
        <p:nvSpPr>
          <p:cNvPr id="21" name="Flow number 3"/>
          <p:cNvSpPr txBox="1"/>
          <p:nvPr/>
        </p:nvSpPr>
        <p:spPr>
          <a:xfrm>
            <a:off x="8035061" y="170992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3</a:t>
            </a:r>
            <a:endParaRPr lang="en-US" sz="2200" dirty="0"/>
          </a:p>
        </p:txBody>
      </p:sp>
      <p:sp>
        <p:nvSpPr>
          <p:cNvPr id="22" name="Flow title 3"/>
          <p:cNvSpPr txBox="1"/>
          <p:nvPr/>
        </p:nvSpPr>
        <p:spPr>
          <a:xfrm>
            <a:off x="6575908" y="2441448"/>
            <a:ext cx="1916354" cy="365760"/>
          </a:xfrm>
          <a:prstGeom prst="rect">
            <a:avLst/>
          </a:prstGeom>
          <a:noFill/>
          <a:ln/>
        </p:spPr>
        <p:txBody>
          <a:bodyPr wrap="square" lIns="0" tIns="0" rIns="0" bIns="0" rtlCol="0" anchor="t"/>
          <a:lstStyle/>
          <a:p>
            <a:pPr indent="0" marL="0">
              <a:buNone/>
            </a:pPr>
            <a:r>
              <a:rPr lang="en-US" sz="1800" b="1" dirty="0">
                <a:solidFill>
                  <a:schemeClr val="tx1"/>
                </a:solidFill>
              </a:rPr>
              <a:t>Preprocess</a:t>
            </a:r>
            <a:endParaRPr lang="en-US" sz="1800" dirty="0"/>
          </a:p>
        </p:txBody>
      </p:sp>
      <p:sp>
        <p:nvSpPr>
          <p:cNvPr id="23" name="Flow desc 3"/>
          <p:cNvSpPr txBox="1"/>
          <p:nvPr/>
        </p:nvSpPr>
        <p:spPr>
          <a:xfrm>
            <a:off x="6575908" y="2807208"/>
            <a:ext cx="1916354" cy="566928"/>
          </a:xfrm>
          <a:prstGeom prst="rect">
            <a:avLst/>
          </a:prstGeom>
          <a:noFill/>
          <a:ln/>
        </p:spPr>
        <p:txBody>
          <a:bodyPr wrap="square" lIns="0" tIns="0" rIns="0" bIns="0" rtlCol="0" anchor="t"/>
          <a:lstStyle/>
          <a:p>
            <a:pPr indent="0" marL="0">
              <a:buNone/>
            </a:pPr>
            <a:r>
              <a:rPr lang="en-US" sz="1300" dirty="0">
                <a:solidFill>
                  <a:schemeClr val="tx2"/>
                </a:solidFill>
              </a:rPr>
              <a:t>StandardScaler on 7 numbers, one-hot encode OS</a:t>
            </a:r>
            <a:endParaRPr lang="en-US" sz="1300" dirty="0"/>
          </a:p>
        </p:txBody>
      </p:sp>
      <p:sp>
        <p:nvSpPr>
          <p:cNvPr id="24" name="Flow arrow 3"/>
          <p:cNvSpPr/>
          <p:nvPr/>
        </p:nvSpPr>
        <p:spPr>
          <a:xfrm rot="5400000">
            <a:off x="8885453" y="2286000"/>
            <a:ext cx="182880" cy="274320"/>
          </a:xfrm>
          <a:prstGeom prst="triangle">
            <a:avLst/>
          </a:prstGeom>
          <a:solidFill>
            <a:schemeClr val="accent1"/>
          </a:solidFill>
          <a:ln w="12700">
            <a:solidFill>
              <a:schemeClr val="accent1"/>
            </a:solidFill>
            <a:prstDash val="solid"/>
          </a:ln>
        </p:spPr>
      </p:sp>
      <p:sp>
        <p:nvSpPr>
          <p:cNvPr id="25" name="Flow card 4"/>
          <p:cNvSpPr/>
          <p:nvPr/>
        </p:nvSpPr>
        <p:spPr>
          <a:xfrm>
            <a:off x="9178061" y="1417320"/>
            <a:ext cx="2464994" cy="2011680"/>
          </a:xfrm>
          <a:prstGeom prst="roundRect">
            <a:avLst>
              <a:gd name="adj" fmla="val 3636"/>
            </a:avLst>
          </a:prstGeom>
          <a:solidFill>
            <a:schemeClr val="bg2"/>
          </a:solidFill>
          <a:ln w="12700">
            <a:solidFill>
              <a:schemeClr val="bg2"/>
            </a:solidFill>
            <a:prstDash val="solid"/>
          </a:ln>
        </p:spPr>
      </p:sp>
      <p:sp>
        <p:nvSpPr>
          <p:cNvPr id="26" name="Flow 4 circle"/>
          <p:cNvSpPr/>
          <p:nvPr/>
        </p:nvSpPr>
        <p:spPr>
          <a:xfrm>
            <a:off x="9452381" y="1691640"/>
            <a:ext cx="640080" cy="640080"/>
          </a:xfrm>
          <a:prstGeom prst="ellipse">
            <a:avLst/>
          </a:prstGeom>
          <a:solidFill>
            <a:schemeClr val="accent1"/>
          </a:solidFill>
          <a:ln w="12700">
            <a:solidFill>
              <a:schemeClr val="accent1"/>
            </a:solidFill>
            <a:prstDash val="solid"/>
          </a:ln>
        </p:spPr>
      </p:sp>
      <p:pic>
        <p:nvPicPr>
          <p:cNvPr id="27" name="Flow 4 icon" descr="preencoded.png">    </p:cNvPr>
          <p:cNvPicPr>
            <a:picLocks noChangeAspect="1"/>
          </p:cNvPicPr>
          <p:nvPr/>
        </p:nvPicPr>
        <p:blipFill>
          <a:blip r:embed="rId4"/>
          <a:stretch>
            <a:fillRect/>
          </a:stretch>
        </p:blipFill>
        <p:spPr>
          <a:xfrm>
            <a:off x="9618802" y="1858061"/>
            <a:ext cx="307238" cy="307238"/>
          </a:xfrm>
          <a:prstGeom prst="rect">
            <a:avLst/>
          </a:prstGeom>
        </p:spPr>
      </p:pic>
      <p:sp>
        <p:nvSpPr>
          <p:cNvPr id="28" name="Flow number 4"/>
          <p:cNvSpPr txBox="1"/>
          <p:nvPr/>
        </p:nvSpPr>
        <p:spPr>
          <a:xfrm>
            <a:off x="10911535" y="170992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4</a:t>
            </a:r>
            <a:endParaRPr lang="en-US" sz="2200" dirty="0"/>
          </a:p>
        </p:txBody>
      </p:sp>
      <p:sp>
        <p:nvSpPr>
          <p:cNvPr id="29" name="Flow title 4"/>
          <p:cNvSpPr txBox="1"/>
          <p:nvPr/>
        </p:nvSpPr>
        <p:spPr>
          <a:xfrm>
            <a:off x="9452381" y="2441448"/>
            <a:ext cx="1916354" cy="365760"/>
          </a:xfrm>
          <a:prstGeom prst="rect">
            <a:avLst/>
          </a:prstGeom>
          <a:noFill/>
          <a:ln/>
        </p:spPr>
        <p:txBody>
          <a:bodyPr wrap="square" lIns="0" tIns="0" rIns="0" bIns="0" rtlCol="0" anchor="t"/>
          <a:lstStyle/>
          <a:p>
            <a:pPr indent="0" marL="0">
              <a:buNone/>
            </a:pPr>
            <a:r>
              <a:rPr lang="en-US" sz="1800" b="1" dirty="0">
                <a:solidFill>
                  <a:schemeClr val="tx1"/>
                </a:solidFill>
              </a:rPr>
              <a:t>Tune 9 models</a:t>
            </a:r>
            <a:endParaRPr lang="en-US" sz="1800" dirty="0"/>
          </a:p>
        </p:txBody>
      </p:sp>
      <p:sp>
        <p:nvSpPr>
          <p:cNvPr id="30" name="Flow desc 4"/>
          <p:cNvSpPr txBox="1"/>
          <p:nvPr/>
        </p:nvSpPr>
        <p:spPr>
          <a:xfrm>
            <a:off x="9452381" y="2807208"/>
            <a:ext cx="1916354" cy="566928"/>
          </a:xfrm>
          <a:prstGeom prst="rect">
            <a:avLst/>
          </a:prstGeom>
          <a:noFill/>
          <a:ln/>
        </p:spPr>
        <p:txBody>
          <a:bodyPr wrap="square" lIns="0" tIns="0" rIns="0" bIns="0" rtlCol="0" anchor="t"/>
          <a:lstStyle/>
          <a:p>
            <a:pPr indent="0" marL="0">
              <a:buNone/>
            </a:pPr>
            <a:r>
              <a:rPr lang="en-US" sz="1300" dirty="0">
                <a:solidFill>
                  <a:schemeClr val="tx2"/>
                </a:solidFill>
              </a:rPr>
              <a:t>GridSearchCV with 5-fold cross-validation</a:t>
            </a:r>
            <a:endParaRPr lang="en-US" sz="1300" dirty="0"/>
          </a:p>
        </p:txBody>
      </p:sp>
      <p:sp>
        <p:nvSpPr>
          <p:cNvPr id="31" name="Flow card 5"/>
          <p:cNvSpPr/>
          <p:nvPr/>
        </p:nvSpPr>
        <p:spPr>
          <a:xfrm>
            <a:off x="1986877" y="3794760"/>
            <a:ext cx="2464994" cy="2011680"/>
          </a:xfrm>
          <a:prstGeom prst="roundRect">
            <a:avLst>
              <a:gd name="adj" fmla="val 3636"/>
            </a:avLst>
          </a:prstGeom>
          <a:solidFill>
            <a:schemeClr val="bg2"/>
          </a:solidFill>
          <a:ln w="12700">
            <a:solidFill>
              <a:schemeClr val="bg2"/>
            </a:solidFill>
            <a:prstDash val="solid"/>
          </a:ln>
        </p:spPr>
      </p:sp>
      <p:sp>
        <p:nvSpPr>
          <p:cNvPr id="32" name="Flow 5 circle"/>
          <p:cNvSpPr/>
          <p:nvPr/>
        </p:nvSpPr>
        <p:spPr>
          <a:xfrm>
            <a:off x="2261197" y="4069080"/>
            <a:ext cx="640080" cy="640080"/>
          </a:xfrm>
          <a:prstGeom prst="ellipse">
            <a:avLst/>
          </a:prstGeom>
          <a:solidFill>
            <a:schemeClr val="accent1"/>
          </a:solidFill>
          <a:ln w="12700">
            <a:solidFill>
              <a:schemeClr val="accent1"/>
            </a:solidFill>
            <a:prstDash val="solid"/>
          </a:ln>
        </p:spPr>
      </p:sp>
      <p:pic>
        <p:nvPicPr>
          <p:cNvPr id="33" name="Flow 5 icon" descr="preencoded.png">    </p:cNvPr>
          <p:cNvPicPr>
            <a:picLocks noChangeAspect="1"/>
          </p:cNvPicPr>
          <p:nvPr/>
        </p:nvPicPr>
        <p:blipFill>
          <a:blip r:embed="rId5"/>
          <a:stretch>
            <a:fillRect/>
          </a:stretch>
        </p:blipFill>
        <p:spPr>
          <a:xfrm>
            <a:off x="2427618" y="4235501"/>
            <a:ext cx="307238" cy="307238"/>
          </a:xfrm>
          <a:prstGeom prst="rect">
            <a:avLst/>
          </a:prstGeom>
        </p:spPr>
      </p:pic>
      <p:sp>
        <p:nvSpPr>
          <p:cNvPr id="34" name="Flow number 5"/>
          <p:cNvSpPr txBox="1"/>
          <p:nvPr/>
        </p:nvSpPr>
        <p:spPr>
          <a:xfrm>
            <a:off x="3720351" y="408736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5</a:t>
            </a:r>
            <a:endParaRPr lang="en-US" sz="2200" dirty="0"/>
          </a:p>
        </p:txBody>
      </p:sp>
      <p:sp>
        <p:nvSpPr>
          <p:cNvPr id="35" name="Flow title 5"/>
          <p:cNvSpPr txBox="1"/>
          <p:nvPr/>
        </p:nvSpPr>
        <p:spPr>
          <a:xfrm>
            <a:off x="2261197" y="4818888"/>
            <a:ext cx="1916354" cy="365760"/>
          </a:xfrm>
          <a:prstGeom prst="rect">
            <a:avLst/>
          </a:prstGeom>
          <a:noFill/>
          <a:ln/>
        </p:spPr>
        <p:txBody>
          <a:bodyPr wrap="square" lIns="0" tIns="0" rIns="0" bIns="0" rtlCol="0" anchor="t"/>
          <a:lstStyle/>
          <a:p>
            <a:pPr indent="0" marL="0">
              <a:buNone/>
            </a:pPr>
            <a:r>
              <a:rPr lang="en-US" sz="1800" b="1" dirty="0">
                <a:solidFill>
                  <a:schemeClr val="tx1"/>
                </a:solidFill>
              </a:rPr>
              <a:t>Pick the model</a:t>
            </a:r>
            <a:endParaRPr lang="en-US" sz="1800" dirty="0"/>
          </a:p>
        </p:txBody>
      </p:sp>
      <p:sp>
        <p:nvSpPr>
          <p:cNvPr id="36" name="Flow desc 5"/>
          <p:cNvSpPr txBox="1"/>
          <p:nvPr/>
        </p:nvSpPr>
        <p:spPr>
          <a:xfrm>
            <a:off x="2261197" y="5184648"/>
            <a:ext cx="1916354" cy="566928"/>
          </a:xfrm>
          <a:prstGeom prst="rect">
            <a:avLst/>
          </a:prstGeom>
          <a:noFill/>
          <a:ln/>
        </p:spPr>
        <p:txBody>
          <a:bodyPr wrap="square" lIns="0" tIns="0" rIns="0" bIns="0" rtlCol="0" anchor="t"/>
          <a:lstStyle/>
          <a:p>
            <a:pPr indent="0" marL="0">
              <a:buNone/>
            </a:pPr>
            <a:r>
              <a:rPr lang="en-US" sz="1300" dirty="0">
                <a:solidFill>
                  <a:schemeClr val="tx2"/>
                </a:solidFill>
              </a:rPr>
              <a:t>One-standard-error rule on CV RMSE</a:t>
            </a:r>
            <a:endParaRPr lang="en-US" sz="1300" dirty="0"/>
          </a:p>
        </p:txBody>
      </p:sp>
      <p:sp>
        <p:nvSpPr>
          <p:cNvPr id="37" name="Flow arrow 5"/>
          <p:cNvSpPr/>
          <p:nvPr/>
        </p:nvSpPr>
        <p:spPr>
          <a:xfrm rot="5400000">
            <a:off x="4570743" y="4663440"/>
            <a:ext cx="182880" cy="274320"/>
          </a:xfrm>
          <a:prstGeom prst="triangle">
            <a:avLst/>
          </a:prstGeom>
          <a:solidFill>
            <a:schemeClr val="accent1"/>
          </a:solidFill>
          <a:ln w="12700">
            <a:solidFill>
              <a:schemeClr val="accent1"/>
            </a:solidFill>
            <a:prstDash val="solid"/>
          </a:ln>
        </p:spPr>
      </p:sp>
      <p:sp>
        <p:nvSpPr>
          <p:cNvPr id="38" name="Flow card 6"/>
          <p:cNvSpPr/>
          <p:nvPr/>
        </p:nvSpPr>
        <p:spPr>
          <a:xfrm>
            <a:off x="4863351" y="3794760"/>
            <a:ext cx="2464994" cy="2011680"/>
          </a:xfrm>
          <a:prstGeom prst="roundRect">
            <a:avLst>
              <a:gd name="adj" fmla="val 3636"/>
            </a:avLst>
          </a:prstGeom>
          <a:solidFill>
            <a:schemeClr val="bg2"/>
          </a:solidFill>
          <a:ln w="12700">
            <a:solidFill>
              <a:schemeClr val="bg2"/>
            </a:solidFill>
            <a:prstDash val="solid"/>
          </a:ln>
        </p:spPr>
      </p:sp>
      <p:sp>
        <p:nvSpPr>
          <p:cNvPr id="39" name="Flow 6 circle"/>
          <p:cNvSpPr/>
          <p:nvPr/>
        </p:nvSpPr>
        <p:spPr>
          <a:xfrm>
            <a:off x="5137671" y="4069080"/>
            <a:ext cx="640080" cy="640080"/>
          </a:xfrm>
          <a:prstGeom prst="ellipse">
            <a:avLst/>
          </a:prstGeom>
          <a:solidFill>
            <a:schemeClr val="accent1"/>
          </a:solidFill>
          <a:ln w="12700">
            <a:solidFill>
              <a:schemeClr val="accent1"/>
            </a:solidFill>
            <a:prstDash val="solid"/>
          </a:ln>
        </p:spPr>
      </p:sp>
      <p:pic>
        <p:nvPicPr>
          <p:cNvPr id="40" name="Flow 6 icon" descr="preencoded.png">    </p:cNvPr>
          <p:cNvPicPr>
            <a:picLocks noChangeAspect="1"/>
          </p:cNvPicPr>
          <p:nvPr/>
        </p:nvPicPr>
        <p:blipFill>
          <a:blip r:embed="rId6"/>
          <a:stretch>
            <a:fillRect/>
          </a:stretch>
        </p:blipFill>
        <p:spPr>
          <a:xfrm>
            <a:off x="5304092" y="4235501"/>
            <a:ext cx="307238" cy="307238"/>
          </a:xfrm>
          <a:prstGeom prst="rect">
            <a:avLst/>
          </a:prstGeom>
        </p:spPr>
      </p:pic>
      <p:sp>
        <p:nvSpPr>
          <p:cNvPr id="41" name="Flow number 6"/>
          <p:cNvSpPr txBox="1"/>
          <p:nvPr/>
        </p:nvSpPr>
        <p:spPr>
          <a:xfrm>
            <a:off x="6596825" y="408736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6</a:t>
            </a:r>
            <a:endParaRPr lang="en-US" sz="2200" dirty="0"/>
          </a:p>
        </p:txBody>
      </p:sp>
      <p:sp>
        <p:nvSpPr>
          <p:cNvPr id="42" name="Flow title 6"/>
          <p:cNvSpPr txBox="1"/>
          <p:nvPr/>
        </p:nvSpPr>
        <p:spPr>
          <a:xfrm>
            <a:off x="5137671" y="4818888"/>
            <a:ext cx="1916354" cy="365760"/>
          </a:xfrm>
          <a:prstGeom prst="rect">
            <a:avLst/>
          </a:prstGeom>
          <a:noFill/>
          <a:ln/>
        </p:spPr>
        <p:txBody>
          <a:bodyPr wrap="square" lIns="0" tIns="0" rIns="0" bIns="0" rtlCol="0" anchor="t"/>
          <a:lstStyle/>
          <a:p>
            <a:pPr indent="0" marL="0">
              <a:buNone/>
            </a:pPr>
            <a:r>
              <a:rPr lang="en-US" sz="1800" b="1" dirty="0">
                <a:solidFill>
                  <a:schemeClr val="tx1"/>
                </a:solidFill>
              </a:rPr>
              <a:t>Evaluate</a:t>
            </a:r>
            <a:endParaRPr lang="en-US" sz="1800" dirty="0"/>
          </a:p>
        </p:txBody>
      </p:sp>
      <p:sp>
        <p:nvSpPr>
          <p:cNvPr id="43" name="Flow desc 6"/>
          <p:cNvSpPr txBox="1"/>
          <p:nvPr/>
        </p:nvSpPr>
        <p:spPr>
          <a:xfrm>
            <a:off x="5137671" y="5184648"/>
            <a:ext cx="1916354" cy="566928"/>
          </a:xfrm>
          <a:prstGeom prst="rect">
            <a:avLst/>
          </a:prstGeom>
          <a:noFill/>
          <a:ln/>
        </p:spPr>
        <p:txBody>
          <a:bodyPr wrap="square" lIns="0" tIns="0" rIns="0" bIns="0" rtlCol="0" anchor="t"/>
          <a:lstStyle/>
          <a:p>
            <a:pPr indent="0" marL="0">
              <a:buNone/>
            </a:pPr>
            <a:r>
              <a:rPr lang="en-US" sz="1300" dirty="0">
                <a:solidFill>
                  <a:schemeClr val="tx2"/>
                </a:solidFill>
              </a:rPr>
              <a:t>MAE, MSE, RMSE and R² on the 101 test rows</a:t>
            </a:r>
            <a:endParaRPr lang="en-US" sz="1300" dirty="0"/>
          </a:p>
        </p:txBody>
      </p:sp>
      <p:sp>
        <p:nvSpPr>
          <p:cNvPr id="44" name="Flow arrow 6"/>
          <p:cNvSpPr/>
          <p:nvPr/>
        </p:nvSpPr>
        <p:spPr>
          <a:xfrm rot="5400000">
            <a:off x="7447217" y="4663440"/>
            <a:ext cx="182880" cy="274320"/>
          </a:xfrm>
          <a:prstGeom prst="triangle">
            <a:avLst/>
          </a:prstGeom>
          <a:solidFill>
            <a:schemeClr val="accent1"/>
          </a:solidFill>
          <a:ln w="12700">
            <a:solidFill>
              <a:schemeClr val="accent1"/>
            </a:solidFill>
            <a:prstDash val="solid"/>
          </a:ln>
        </p:spPr>
      </p:sp>
      <p:sp>
        <p:nvSpPr>
          <p:cNvPr id="45" name="Flow card 7"/>
          <p:cNvSpPr/>
          <p:nvPr/>
        </p:nvSpPr>
        <p:spPr>
          <a:xfrm>
            <a:off x="7739825" y="3794760"/>
            <a:ext cx="2464994" cy="2011680"/>
          </a:xfrm>
          <a:prstGeom prst="roundRect">
            <a:avLst>
              <a:gd name="adj" fmla="val 3636"/>
            </a:avLst>
          </a:prstGeom>
          <a:solidFill>
            <a:schemeClr val="bg2"/>
          </a:solidFill>
          <a:ln w="12700">
            <a:solidFill>
              <a:schemeClr val="bg2"/>
            </a:solidFill>
            <a:prstDash val="solid"/>
          </a:ln>
        </p:spPr>
      </p:sp>
      <p:sp>
        <p:nvSpPr>
          <p:cNvPr id="46" name="Flow 7 circle"/>
          <p:cNvSpPr/>
          <p:nvPr/>
        </p:nvSpPr>
        <p:spPr>
          <a:xfrm>
            <a:off x="8014145" y="4069080"/>
            <a:ext cx="640080" cy="640080"/>
          </a:xfrm>
          <a:prstGeom prst="ellipse">
            <a:avLst/>
          </a:prstGeom>
          <a:solidFill>
            <a:schemeClr val="accent1"/>
          </a:solidFill>
          <a:ln w="12700">
            <a:solidFill>
              <a:schemeClr val="accent1"/>
            </a:solidFill>
            <a:prstDash val="solid"/>
          </a:ln>
        </p:spPr>
      </p:sp>
      <p:pic>
        <p:nvPicPr>
          <p:cNvPr id="47" name="Flow 7 icon" descr="preencoded.png">    </p:cNvPr>
          <p:cNvPicPr>
            <a:picLocks noChangeAspect="1"/>
          </p:cNvPicPr>
          <p:nvPr/>
        </p:nvPicPr>
        <p:blipFill>
          <a:blip r:embed="rId7"/>
          <a:stretch>
            <a:fillRect/>
          </a:stretch>
        </p:blipFill>
        <p:spPr>
          <a:xfrm>
            <a:off x="8180565" y="4235501"/>
            <a:ext cx="307238" cy="307238"/>
          </a:xfrm>
          <a:prstGeom prst="rect">
            <a:avLst/>
          </a:prstGeom>
        </p:spPr>
      </p:pic>
      <p:sp>
        <p:nvSpPr>
          <p:cNvPr id="48" name="Flow number 7"/>
          <p:cNvSpPr txBox="1"/>
          <p:nvPr/>
        </p:nvSpPr>
        <p:spPr>
          <a:xfrm>
            <a:off x="9473298" y="4087368"/>
            <a:ext cx="457200" cy="457200"/>
          </a:xfrm>
          <a:prstGeom prst="rect">
            <a:avLst/>
          </a:prstGeom>
          <a:noFill/>
          <a:ln/>
        </p:spPr>
        <p:txBody>
          <a:bodyPr wrap="square" lIns="0" tIns="0" rIns="0" bIns="0" rtlCol="0" anchor="t"/>
          <a:lstStyle/>
          <a:p>
            <a:pPr algn="r" indent="0" marL="0">
              <a:buNone/>
            </a:pPr>
            <a:r>
              <a:rPr lang="en-US" sz="2200" b="1" dirty="0">
                <a:solidFill>
                  <a:schemeClr val="accent4"/>
                </a:solidFill>
              </a:rPr>
              <a:t>7</a:t>
            </a:r>
            <a:endParaRPr lang="en-US" sz="2200" dirty="0"/>
          </a:p>
        </p:txBody>
      </p:sp>
      <p:sp>
        <p:nvSpPr>
          <p:cNvPr id="49" name="Flow title 7"/>
          <p:cNvSpPr txBox="1"/>
          <p:nvPr/>
        </p:nvSpPr>
        <p:spPr>
          <a:xfrm>
            <a:off x="8014145" y="4818888"/>
            <a:ext cx="1916354" cy="365760"/>
          </a:xfrm>
          <a:prstGeom prst="rect">
            <a:avLst/>
          </a:prstGeom>
          <a:noFill/>
          <a:ln/>
        </p:spPr>
        <p:txBody>
          <a:bodyPr wrap="square" lIns="0" tIns="0" rIns="0" bIns="0" rtlCol="0" anchor="t"/>
          <a:lstStyle/>
          <a:p>
            <a:pPr indent="0" marL="0">
              <a:buNone/>
            </a:pPr>
            <a:r>
              <a:rPr lang="en-US" sz="1800" b="1" dirty="0">
                <a:solidFill>
                  <a:schemeClr val="tx1"/>
                </a:solidFill>
              </a:rPr>
              <a:t>Save</a:t>
            </a:r>
            <a:endParaRPr lang="en-US" sz="1800" dirty="0"/>
          </a:p>
        </p:txBody>
      </p:sp>
      <p:sp>
        <p:nvSpPr>
          <p:cNvPr id="50" name="Flow desc 7"/>
          <p:cNvSpPr txBox="1"/>
          <p:nvPr/>
        </p:nvSpPr>
        <p:spPr>
          <a:xfrm>
            <a:off x="8014145" y="5184648"/>
            <a:ext cx="1916354" cy="566928"/>
          </a:xfrm>
          <a:prstGeom prst="rect">
            <a:avLst/>
          </a:prstGeom>
          <a:noFill/>
          <a:ln/>
        </p:spPr>
        <p:txBody>
          <a:bodyPr wrap="square" lIns="0" tIns="0" rIns="0" bIns="0" rtlCol="0" anchor="t"/>
          <a:lstStyle/>
          <a:p>
            <a:pPr indent="0" marL="0">
              <a:buNone/>
            </a:pPr>
            <a:r>
              <a:rPr lang="en-US" sz="1300" dirty="0">
                <a:solidFill>
                  <a:schemeClr val="tx2"/>
                </a:solidFill>
              </a:rPr>
              <a:t>Refit on all 503 rows, save with joblib</a:t>
            </a:r>
            <a:endParaRPr lang="en-US" sz="1300" dirty="0"/>
          </a:p>
        </p:txBody>
      </p:sp>
      <p:sp>
        <p:nvSpPr>
          <p:cNvPr id="51" name="Leakage note"/>
          <p:cNvSpPr txBox="1"/>
          <p:nvPr/>
        </p:nvSpPr>
        <p:spPr>
          <a:xfrm>
            <a:off x="548640" y="5925312"/>
            <a:ext cx="11094415" cy="365760"/>
          </a:xfrm>
          <a:prstGeom prst="rect">
            <a:avLst/>
          </a:prstGeom>
          <a:noFill/>
          <a:ln/>
        </p:spPr>
        <p:txBody>
          <a:bodyPr wrap="square" lIns="0" tIns="0" rIns="0" bIns="0" rtlCol="0" anchor="t"/>
          <a:lstStyle/>
          <a:p>
            <a:pPr indent="0" marL="0">
              <a:buNone/>
            </a:pPr>
            <a:r>
              <a:rPr lang="en-US" sz="1400" i="1" dirty="0">
                <a:solidFill>
                  <a:schemeClr val="tx2"/>
                </a:solidFill>
              </a:rPr>
              <a:t>Scaling and encoding sit inside the pipeline, so they are fitted on the training split only: no data leakage.</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Nine supervised algorithms compared</a:t>
            </a:r>
            <a:endParaRPr lang="en-US" sz="3200" dirty="0"/>
          </a:p>
        </p:txBody>
      </p:sp>
      <p:graphicFrame>
        <p:nvGraphicFramePr>
          <p:cNvPr id="17" name="Model comparison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91840"/>
                <a:gridCol w="3044952"/>
                <a:gridCol w="1828800"/>
                <a:gridCol w="1463040"/>
                <a:gridCol w="1463040"/>
              </a:tblGrid>
              <a:tr h="429768">
                <a:tc>
                  <a:txBody>
                    <a:bodyPr/>
                    <a:lstStyle/>
                    <a:p>
                      <a:pPr indent="0" marL="0">
                        <a:buNone/>
                      </a:pPr>
                      <a:r>
                        <a:rPr lang="en-US" sz="1500" b="1" dirty="0">
                          <a:solidFill>
                            <a:schemeClr val="bg1"/>
                          </a:solidFill>
                        </a:rPr>
                        <a:t>Model</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Family and unit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CV RMSE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Test RMSE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Test R²</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r>
              <a:tr h="429768">
                <a:tc>
                  <a:txBody>
                    <a:bodyPr/>
                    <a:lstStyle/>
                    <a:p>
                      <a:pPr algn="l" indent="0" marL="0">
                        <a:buNone/>
                      </a:pPr>
                      <a:r>
                        <a:rPr lang="en-US" sz="1500" b="1" dirty="0">
                          <a:solidFill>
                            <a:schemeClr val="tx1"/>
                          </a:solidFill>
                        </a:rPr>
                        <a:t>SVR (linear kernel)</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SVM, Unit III</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47.32 ± 6.73</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44.12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0.929</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algn="l" indent="0" marL="0">
                        <a:buNone/>
                      </a:pPr>
                      <a:r>
                        <a:rPr lang="en-US" sz="1500" b="1" dirty="0">
                          <a:solidFill>
                            <a:schemeClr val="bg1"/>
                          </a:solidFill>
                        </a:rPr>
                        <a:t>Linear Regression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l" indent="0" marL="0">
                        <a:buNone/>
                      </a:pPr>
                      <a:r>
                        <a:rPr lang="en-US" sz="1500" b="1" dirty="0">
                          <a:solidFill>
                            <a:schemeClr val="bg1"/>
                          </a:solidFill>
                        </a:rPr>
                        <a:t>Linear model, Unit III</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500" b="1" dirty="0">
                          <a:solidFill>
                            <a:schemeClr val="bg1"/>
                          </a:solidFill>
                        </a:rPr>
                        <a:t>47.88 ± 6.32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500" b="1" dirty="0">
                          <a:solidFill>
                            <a:schemeClr val="bg1"/>
                          </a:solidFill>
                        </a:rPr>
                        <a:t>44.12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500" b="1" dirty="0">
                          <a:solidFill>
                            <a:schemeClr val="bg1"/>
                          </a:solidFill>
                        </a:rPr>
                        <a:t>0.929</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r>
              <a:tr h="429768">
                <a:tc>
                  <a:txBody>
                    <a:bodyPr/>
                    <a:lstStyle/>
                    <a:p>
                      <a:pPr algn="l" indent="0" marL="0">
                        <a:buNone/>
                      </a:pPr>
                      <a:r>
                        <a:rPr lang="en-US" sz="1500" b="1" dirty="0">
                          <a:solidFill>
                            <a:schemeClr val="tx1"/>
                          </a:solidFill>
                        </a:rPr>
                        <a:t>Ridge Regression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Linear + L2, Unit III / V</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47.88 ± 6.32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44.12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0.929</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algn="l" indent="0" marL="0">
                        <a:buNone/>
                      </a:pPr>
                      <a:r>
                        <a:rPr lang="en-US" sz="1500" b="1" dirty="0">
                          <a:solidFill>
                            <a:schemeClr val="tx1"/>
                          </a:solidFill>
                        </a:rPr>
                        <a:t>Gradient Boosting</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1"/>
                          </a:solidFill>
                        </a:rPr>
                        <a:t>Boosting, Unit V</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55.67 ± 4.52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59.27</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0.871</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algn="l" indent="0" marL="0">
                        <a:buNone/>
                      </a:pPr>
                      <a:r>
                        <a:rPr lang="en-US" sz="1500" b="1" dirty="0">
                          <a:solidFill>
                            <a:schemeClr val="tx1"/>
                          </a:solidFill>
                        </a:rPr>
                        <a:t>Bagging</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Bagging, Unit V</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69.12 ± 4.65</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69.69</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0.822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algn="l" indent="0" marL="0">
                        <a:buNone/>
                      </a:pPr>
                      <a:r>
                        <a:rPr lang="en-US" sz="1500" b="1" dirty="0">
                          <a:solidFill>
                            <a:schemeClr val="tx1"/>
                          </a:solidFill>
                        </a:rPr>
                        <a:t>Random Forest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1"/>
                          </a:solidFill>
                        </a:rPr>
                        <a:t>Bagging, Unit V</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69.22 ± 4.70</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70.26</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0.819</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algn="l" indent="0" marL="0">
                        <a:buNone/>
                      </a:pPr>
                      <a:r>
                        <a:rPr lang="en-US" sz="1500" b="1" dirty="0">
                          <a:solidFill>
                            <a:schemeClr val="tx1"/>
                          </a:solidFill>
                        </a:rPr>
                        <a:t>AdaBoost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Boosting, Unit V</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76.08 ± 5.52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80.42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0.763</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algn="l" indent="0" marL="0">
                        <a:buNone/>
                      </a:pPr>
                      <a:r>
                        <a:rPr lang="en-US" sz="1500" b="1" dirty="0">
                          <a:solidFill>
                            <a:schemeClr val="tx1"/>
                          </a:solidFill>
                        </a:rPr>
                        <a:t>KNN (k = 7, distance-weighted)</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1"/>
                          </a:solidFill>
                        </a:rPr>
                        <a:t>Instance-based, Unit II</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82.71 ± 7.39</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74.22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dirty="0">
                          <a:solidFill>
                            <a:schemeClr val="tx1"/>
                          </a:solidFill>
                        </a:rPr>
                        <a:t>0.798</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algn="l" indent="0" marL="0">
                        <a:buNone/>
                      </a:pPr>
                      <a:r>
                        <a:rPr lang="en-US" sz="1500" b="1" dirty="0">
                          <a:solidFill>
                            <a:schemeClr val="tx1"/>
                          </a:solidFill>
                        </a:rPr>
                        <a:t>Decision Tree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1"/>
                          </a:solidFill>
                        </a:rPr>
                        <a:t>Tree, Unit V</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98.43 ± 3.07</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94.68</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dirty="0">
                          <a:solidFill>
                            <a:schemeClr val="tx1"/>
                          </a:solidFill>
                        </a:rPr>
                        <a:t>0.672</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Comparison caption"/>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300" i="1" dirty="0">
                <a:solidFill>
                  <a:schemeClr val="tx2"/>
                </a:solidFill>
              </a:rPr>
              <a:t>Highlighted: the final model. CV RMSE is the 5-fold mean ± standard deviation on 402 training PCs; test scores use the 101 held-out PCs.</a:t>
            </a:r>
            <a:endParaRPr lang="en-US" sz="13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Overfitting check: training vs test R²</a:t>
            </a:r>
            <a:endParaRPr lang="en-US" sz="3200" dirty="0"/>
          </a:p>
        </p:txBody>
      </p:sp>
      <p:graphicFrame>
        <p:nvGraphicFramePr>
          <p:cNvPr id="4" name="Overfitting chart" descr=""/>
          <p:cNvGraphicFramePr/>
          <p:nvPr/>
        </p:nvGraphicFramePr>
        <p:xfrm>
          <a:off x="548640" y="1371600"/>
          <a:ext cx="7589520" cy="4800600"/>
        </p:xfrm>
        <a:graphic xmlns:a="http://schemas.openxmlformats.org/drawingml/2006/main">
          <a:graphicData uri="http://schemas.openxmlformats.org/drawingml/2006/chart">
            <c:chart xmlns:c="http://schemas.openxmlformats.org/drawingml/2006/chart" r:id="rId1"/>
          </a:graphicData>
        </a:graphic>
      </p:graphicFrame>
      <p:sp>
        <p:nvSpPr>
          <p:cNvPr id="5" name="Overfit note 1 circle"/>
          <p:cNvSpPr/>
          <p:nvPr/>
        </p:nvSpPr>
        <p:spPr>
          <a:xfrm>
            <a:off x="8412480" y="1600200"/>
            <a:ext cx="685800" cy="685800"/>
          </a:xfrm>
          <a:prstGeom prst="ellipse">
            <a:avLst/>
          </a:prstGeom>
          <a:solidFill>
            <a:schemeClr val="accent2"/>
          </a:solidFill>
          <a:ln w="12700">
            <a:solidFill>
              <a:schemeClr val="accent2"/>
            </a:solidFill>
            <a:prstDash val="solid"/>
          </a:ln>
        </p:spPr>
      </p:sp>
      <p:pic>
        <p:nvPicPr>
          <p:cNvPr id="6" name="Overfit note 1 icon" descr="preencoded.png">    </p:cNvPr>
          <p:cNvPicPr>
            <a:picLocks noChangeAspect="1"/>
          </p:cNvPicPr>
          <p:nvPr/>
        </p:nvPicPr>
        <p:blipFill>
          <a:blip r:embed="rId2"/>
          <a:stretch>
            <a:fillRect/>
          </a:stretch>
        </p:blipFill>
        <p:spPr>
          <a:xfrm>
            <a:off x="8590788" y="1778508"/>
            <a:ext cx="329184" cy="329184"/>
          </a:xfrm>
          <a:prstGeom prst="rect">
            <a:avLst/>
          </a:prstGeom>
        </p:spPr>
      </p:pic>
      <p:sp>
        <p:nvSpPr>
          <p:cNvPr id="7" name="Overfit title 1"/>
          <p:cNvSpPr txBox="1"/>
          <p:nvPr/>
        </p:nvSpPr>
        <p:spPr>
          <a:xfrm>
            <a:off x="9281160" y="1581912"/>
            <a:ext cx="2377440" cy="384048"/>
          </a:xfrm>
          <a:prstGeom prst="rect">
            <a:avLst/>
          </a:prstGeom>
          <a:noFill/>
          <a:ln/>
        </p:spPr>
        <p:txBody>
          <a:bodyPr wrap="square" lIns="0" tIns="0" rIns="0" bIns="0" rtlCol="0" anchor="t"/>
          <a:lstStyle/>
          <a:p>
            <a:pPr indent="0" marL="0">
              <a:buNone/>
            </a:pPr>
            <a:r>
              <a:rPr lang="en-US" sz="1700" b="1" dirty="0">
                <a:solidFill>
                  <a:schemeClr val="tx1"/>
                </a:solidFill>
              </a:rPr>
              <a:t>Linear models generalize</a:t>
            </a:r>
            <a:endParaRPr lang="en-US" sz="1700" dirty="0"/>
          </a:p>
        </p:txBody>
      </p:sp>
      <p:sp>
        <p:nvSpPr>
          <p:cNvPr id="8" name="Overfit desc 1"/>
          <p:cNvSpPr txBox="1"/>
          <p:nvPr/>
        </p:nvSpPr>
        <p:spPr>
          <a:xfrm>
            <a:off x="9281160" y="1984248"/>
            <a:ext cx="2377440" cy="868680"/>
          </a:xfrm>
          <a:prstGeom prst="rect">
            <a:avLst/>
          </a:prstGeom>
          <a:noFill/>
          <a:ln/>
        </p:spPr>
        <p:txBody>
          <a:bodyPr wrap="square" lIns="0" tIns="0" rIns="0" bIns="0" rtlCol="0" anchor="t"/>
          <a:lstStyle/>
          <a:p>
            <a:pPr indent="0" marL="0">
              <a:buNone/>
            </a:pPr>
            <a:r>
              <a:rPr lang="en-US" sz="1400" dirty="0">
                <a:solidFill>
                  <a:schemeClr val="tx2"/>
                </a:solidFill>
              </a:rPr>
              <a:t>Training 0.92, test 0.93: no gap, low variance</a:t>
            </a:r>
            <a:endParaRPr lang="en-US" sz="1400" dirty="0"/>
          </a:p>
        </p:txBody>
      </p:sp>
      <p:sp>
        <p:nvSpPr>
          <p:cNvPr id="9" name="Overfit note 2 circle"/>
          <p:cNvSpPr/>
          <p:nvPr/>
        </p:nvSpPr>
        <p:spPr>
          <a:xfrm>
            <a:off x="8412480" y="3108960"/>
            <a:ext cx="685800" cy="685800"/>
          </a:xfrm>
          <a:prstGeom prst="ellipse">
            <a:avLst/>
          </a:prstGeom>
          <a:solidFill>
            <a:schemeClr val="accent6"/>
          </a:solidFill>
          <a:ln w="12700">
            <a:solidFill>
              <a:schemeClr val="accent6"/>
            </a:solidFill>
            <a:prstDash val="solid"/>
          </a:ln>
        </p:spPr>
      </p:sp>
      <p:pic>
        <p:nvPicPr>
          <p:cNvPr id="10" name="Overfit note 2 icon" descr="preencoded.png">    </p:cNvPr>
          <p:cNvPicPr>
            <a:picLocks noChangeAspect="1"/>
          </p:cNvPicPr>
          <p:nvPr/>
        </p:nvPicPr>
        <p:blipFill>
          <a:blip r:embed="rId3"/>
          <a:stretch>
            <a:fillRect/>
          </a:stretch>
        </p:blipFill>
        <p:spPr>
          <a:xfrm>
            <a:off x="8590788" y="3287268"/>
            <a:ext cx="329184" cy="329184"/>
          </a:xfrm>
          <a:prstGeom prst="rect">
            <a:avLst/>
          </a:prstGeom>
        </p:spPr>
      </p:pic>
      <p:sp>
        <p:nvSpPr>
          <p:cNvPr id="11" name="Overfit title 2"/>
          <p:cNvSpPr txBox="1"/>
          <p:nvPr/>
        </p:nvSpPr>
        <p:spPr>
          <a:xfrm>
            <a:off x="9281160" y="3090672"/>
            <a:ext cx="2377440" cy="384048"/>
          </a:xfrm>
          <a:prstGeom prst="rect">
            <a:avLst/>
          </a:prstGeom>
          <a:noFill/>
          <a:ln/>
        </p:spPr>
        <p:txBody>
          <a:bodyPr wrap="square" lIns="0" tIns="0" rIns="0" bIns="0" rtlCol="0" anchor="t"/>
          <a:lstStyle/>
          <a:p>
            <a:pPr indent="0" marL="0">
              <a:buNone/>
            </a:pPr>
            <a:r>
              <a:rPr lang="en-US" sz="1700" b="1" dirty="0">
                <a:solidFill>
                  <a:schemeClr val="tx1"/>
                </a:solidFill>
              </a:rPr>
              <a:t>kNN overfits</a:t>
            </a:r>
            <a:endParaRPr lang="en-US" sz="1700" dirty="0"/>
          </a:p>
        </p:txBody>
      </p:sp>
      <p:sp>
        <p:nvSpPr>
          <p:cNvPr id="12" name="Overfit desc 2"/>
          <p:cNvSpPr txBox="1"/>
          <p:nvPr/>
        </p:nvSpPr>
        <p:spPr>
          <a:xfrm>
            <a:off x="9281160" y="3493008"/>
            <a:ext cx="2377440" cy="868680"/>
          </a:xfrm>
          <a:prstGeom prst="rect">
            <a:avLst/>
          </a:prstGeom>
          <a:noFill/>
          <a:ln/>
        </p:spPr>
        <p:txBody>
          <a:bodyPr wrap="square" lIns="0" tIns="0" rIns="0" bIns="0" rtlCol="0" anchor="t"/>
          <a:lstStyle/>
          <a:p>
            <a:pPr indent="0" marL="0">
              <a:buNone/>
            </a:pPr>
            <a:r>
              <a:rPr lang="en-US" sz="1400" dirty="0">
                <a:solidFill>
                  <a:schemeClr val="tx2"/>
                </a:solidFill>
              </a:rPr>
              <a:t>Training 1.00, test 0.80: it memorizes the training PCs</a:t>
            </a:r>
            <a:endParaRPr lang="en-US" sz="1400" dirty="0"/>
          </a:p>
        </p:txBody>
      </p:sp>
      <p:sp>
        <p:nvSpPr>
          <p:cNvPr id="13" name="Overfit note 3 circle"/>
          <p:cNvSpPr/>
          <p:nvPr/>
        </p:nvSpPr>
        <p:spPr>
          <a:xfrm>
            <a:off x="8412480" y="4617720"/>
            <a:ext cx="685800" cy="685800"/>
          </a:xfrm>
          <a:prstGeom prst="ellipse">
            <a:avLst/>
          </a:prstGeom>
          <a:solidFill>
            <a:schemeClr val="accent3"/>
          </a:solidFill>
          <a:ln w="12700">
            <a:solidFill>
              <a:schemeClr val="accent3"/>
            </a:solidFill>
            <a:prstDash val="solid"/>
          </a:ln>
        </p:spPr>
      </p:sp>
      <p:pic>
        <p:nvPicPr>
          <p:cNvPr id="14" name="Overfit note 3 icon" descr="preencoded.png">    </p:cNvPr>
          <p:cNvPicPr>
            <a:picLocks noChangeAspect="1"/>
          </p:cNvPicPr>
          <p:nvPr/>
        </p:nvPicPr>
        <p:blipFill>
          <a:blip r:embed="rId4"/>
          <a:stretch>
            <a:fillRect/>
          </a:stretch>
        </p:blipFill>
        <p:spPr>
          <a:xfrm>
            <a:off x="8590788" y="4796028"/>
            <a:ext cx="329184" cy="329184"/>
          </a:xfrm>
          <a:prstGeom prst="rect">
            <a:avLst/>
          </a:prstGeom>
        </p:spPr>
      </p:pic>
      <p:sp>
        <p:nvSpPr>
          <p:cNvPr id="15" name="Overfit title 3"/>
          <p:cNvSpPr txBox="1"/>
          <p:nvPr/>
        </p:nvSpPr>
        <p:spPr>
          <a:xfrm>
            <a:off x="9281160" y="4599432"/>
            <a:ext cx="2377440" cy="384048"/>
          </a:xfrm>
          <a:prstGeom prst="rect">
            <a:avLst/>
          </a:prstGeom>
          <a:noFill/>
          <a:ln/>
        </p:spPr>
        <p:txBody>
          <a:bodyPr wrap="square" lIns="0" tIns="0" rIns="0" bIns="0" rtlCol="0" anchor="t"/>
          <a:lstStyle/>
          <a:p>
            <a:pPr indent="0" marL="0">
              <a:buNone/>
            </a:pPr>
            <a:r>
              <a:rPr lang="en-US" sz="1700" b="1" dirty="0">
                <a:solidFill>
                  <a:schemeClr val="tx1"/>
                </a:solidFill>
              </a:rPr>
              <a:t>Ensembles help trees</a:t>
            </a:r>
            <a:endParaRPr lang="en-US" sz="1700" dirty="0"/>
          </a:p>
        </p:txBody>
      </p:sp>
      <p:sp>
        <p:nvSpPr>
          <p:cNvPr id="16" name="Overfit desc 3"/>
          <p:cNvSpPr txBox="1"/>
          <p:nvPr/>
        </p:nvSpPr>
        <p:spPr>
          <a:xfrm>
            <a:off x="9281160" y="5001768"/>
            <a:ext cx="2377440" cy="868680"/>
          </a:xfrm>
          <a:prstGeom prst="rect">
            <a:avLst/>
          </a:prstGeom>
          <a:noFill/>
          <a:ln/>
        </p:spPr>
        <p:txBody>
          <a:bodyPr wrap="square" lIns="0" tIns="0" rIns="0" bIns="0" rtlCol="0" anchor="t"/>
          <a:lstStyle/>
          <a:p>
            <a:pPr indent="0" marL="0">
              <a:buNone/>
            </a:pPr>
            <a:r>
              <a:rPr lang="en-US" sz="1400" dirty="0">
                <a:solidFill>
                  <a:schemeClr val="tx2"/>
                </a:solidFill>
              </a:rPr>
              <a:t>Bagging and boosting beat a single tree (0.67) but still overfit</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Regularization and choosing the final model</a:t>
            </a:r>
            <a:endParaRPr lang="en-US" sz="3200" dirty="0"/>
          </a:p>
        </p:txBody>
      </p:sp>
      <p:graphicFrame>
        <p:nvGraphicFramePr>
          <p:cNvPr id="4" name="Ridge alpha chart" descr=""/>
          <p:cNvGraphicFramePr/>
          <p:nvPr/>
        </p:nvGraphicFramePr>
        <p:xfrm>
          <a:off x="548640" y="1371600"/>
          <a:ext cx="6035040" cy="4800600"/>
        </p:xfrm>
        <a:graphic xmlns:a="http://schemas.openxmlformats.org/drawingml/2006/main">
          <a:graphicData uri="http://schemas.openxmlformats.org/drawingml/2006/chart">
            <c:chart xmlns:c="http://schemas.openxmlformats.org/drawingml/2006/chart" r:id="rId1"/>
          </a:graphicData>
        </a:graphic>
      </p:graphicFrame>
      <p:sp>
        <p:nvSpPr>
          <p:cNvPr id="5" name="One SE rule card"/>
          <p:cNvSpPr/>
          <p:nvPr/>
        </p:nvSpPr>
        <p:spPr>
          <a:xfrm>
            <a:off x="6949440" y="1371600"/>
            <a:ext cx="4690872" cy="4800600"/>
          </a:xfrm>
          <a:prstGeom prst="roundRect">
            <a:avLst>
              <a:gd name="adj" fmla="val 1559"/>
            </a:avLst>
          </a:prstGeom>
          <a:solidFill>
            <a:schemeClr val="bg2"/>
          </a:solidFill>
          <a:ln w="12700">
            <a:solidFill>
              <a:schemeClr val="bg2"/>
            </a:solidFill>
            <a:prstDash val="solid"/>
          </a:ln>
        </p:spPr>
      </p:sp>
      <p:sp>
        <p:nvSpPr>
          <p:cNvPr id="6" name="One SE title"/>
          <p:cNvSpPr txBox="1"/>
          <p:nvPr/>
        </p:nvSpPr>
        <p:spPr>
          <a:xfrm>
            <a:off x="7269480" y="1600200"/>
            <a:ext cx="4114800" cy="411480"/>
          </a:xfrm>
          <a:prstGeom prst="rect">
            <a:avLst/>
          </a:prstGeom>
          <a:noFill/>
          <a:ln/>
        </p:spPr>
        <p:txBody>
          <a:bodyPr wrap="square" lIns="0" tIns="0" rIns="0" bIns="0" rtlCol="0" anchor="t"/>
          <a:lstStyle/>
          <a:p>
            <a:pPr indent="0" marL="0">
              <a:buNone/>
            </a:pPr>
            <a:r>
              <a:rPr lang="en-US" sz="2000" b="1" dirty="0">
                <a:solidFill>
                  <a:schemeClr val="tx1"/>
                </a:solidFill>
              </a:rPr>
              <a:t>One-standard-error rule</a:t>
            </a:r>
            <a:endParaRPr lang="en-US" sz="2000" dirty="0"/>
          </a:p>
        </p:txBody>
      </p:sp>
      <p:sp>
        <p:nvSpPr>
          <p:cNvPr id="7" name="One SE desc"/>
          <p:cNvSpPr txBox="1"/>
          <p:nvPr/>
        </p:nvSpPr>
        <p:spPr>
          <a:xfrm>
            <a:off x="7269480" y="2057400"/>
            <a:ext cx="4114800" cy="640080"/>
          </a:xfrm>
          <a:prstGeom prst="rect">
            <a:avLst/>
          </a:prstGeom>
          <a:noFill/>
          <a:ln/>
        </p:spPr>
        <p:txBody>
          <a:bodyPr wrap="square" lIns="0" tIns="0" rIns="0" bIns="0" rtlCol="0" anchor="t"/>
          <a:lstStyle/>
          <a:p>
            <a:pPr indent="0" marL="0">
              <a:buNone/>
            </a:pPr>
            <a:r>
              <a:rPr lang="en-US" sz="1400" dirty="0">
                <a:solidFill>
                  <a:schemeClr val="tx2"/>
                </a:solidFill>
              </a:rPr>
              <a:t>Pick the simplest model whose CV RMSE is within one standard error of the best.</a:t>
            </a:r>
            <a:endParaRPr lang="en-US" sz="1400" dirty="0"/>
          </a:p>
        </p:txBody>
      </p:sp>
      <p:sp>
        <p:nvSpPr>
          <p:cNvPr id="8" name="Tied model 1"/>
          <p:cNvSpPr/>
          <p:nvPr/>
        </p:nvSpPr>
        <p:spPr>
          <a:xfrm>
            <a:off x="7269480" y="2834640"/>
            <a:ext cx="4069080" cy="457200"/>
          </a:xfrm>
          <a:prstGeom prst="roundRect">
            <a:avLst>
              <a:gd name="adj" fmla="val 12000"/>
            </a:avLst>
          </a:prstGeom>
          <a:solidFill>
            <a:schemeClr val="bg1"/>
          </a:solidFill>
          <a:ln w="12700">
            <a:solidFill>
              <a:schemeClr val="bg1"/>
            </a:solidFill>
            <a:prstDash val="solid"/>
          </a:ln>
        </p:spPr>
      </p:sp>
      <p:sp>
        <p:nvSpPr>
          <p:cNvPr id="9" name="Tied model name 1"/>
          <p:cNvSpPr txBox="1"/>
          <p:nvPr/>
        </p:nvSpPr>
        <p:spPr>
          <a:xfrm>
            <a:off x="7452360" y="28346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SVR (linear kernel)</a:t>
            </a:r>
            <a:endParaRPr lang="en-US" sz="1500" dirty="0"/>
          </a:p>
        </p:txBody>
      </p:sp>
      <p:sp>
        <p:nvSpPr>
          <p:cNvPr id="10" name="Tied model value 1"/>
          <p:cNvSpPr txBox="1"/>
          <p:nvPr/>
        </p:nvSpPr>
        <p:spPr>
          <a:xfrm>
            <a:off x="10058400" y="2834640"/>
            <a:ext cx="1143000" cy="457200"/>
          </a:xfrm>
          <a:prstGeom prst="rect">
            <a:avLst/>
          </a:prstGeom>
          <a:noFill/>
          <a:ln/>
        </p:spPr>
        <p:txBody>
          <a:bodyPr wrap="square" lIns="0" tIns="0" rIns="0" bIns="0" rtlCol="0" anchor="ctr"/>
          <a:lstStyle/>
          <a:p>
            <a:pPr algn="r" indent="0" marL="0">
              <a:buNone/>
            </a:pPr>
            <a:r>
              <a:rPr lang="en-US" sz="1500" b="1" dirty="0">
                <a:solidFill>
                  <a:schemeClr val="tx1"/>
                </a:solidFill>
              </a:rPr>
              <a:t>47.32</a:t>
            </a:r>
            <a:endParaRPr lang="en-US" sz="1500" dirty="0"/>
          </a:p>
        </p:txBody>
      </p:sp>
      <p:sp>
        <p:nvSpPr>
          <p:cNvPr id="11" name="Tied model 2"/>
          <p:cNvSpPr/>
          <p:nvPr/>
        </p:nvSpPr>
        <p:spPr>
          <a:xfrm>
            <a:off x="7269480" y="3401568"/>
            <a:ext cx="4069080" cy="457200"/>
          </a:xfrm>
          <a:prstGeom prst="roundRect">
            <a:avLst>
              <a:gd name="adj" fmla="val 12000"/>
            </a:avLst>
          </a:prstGeom>
          <a:solidFill>
            <a:schemeClr val="accent1"/>
          </a:solidFill>
          <a:ln w="12700">
            <a:solidFill>
              <a:schemeClr val="accent1"/>
            </a:solidFill>
            <a:prstDash val="solid"/>
          </a:ln>
        </p:spPr>
      </p:sp>
      <p:sp>
        <p:nvSpPr>
          <p:cNvPr id="12" name="Tied model name 2"/>
          <p:cNvSpPr txBox="1"/>
          <p:nvPr/>
        </p:nvSpPr>
        <p:spPr>
          <a:xfrm>
            <a:off x="7452360" y="3401568"/>
            <a:ext cx="2743200" cy="457200"/>
          </a:xfrm>
          <a:prstGeom prst="rect">
            <a:avLst/>
          </a:prstGeom>
          <a:noFill/>
          <a:ln/>
        </p:spPr>
        <p:txBody>
          <a:bodyPr wrap="square" lIns="0" tIns="0" rIns="0" bIns="0" rtlCol="0" anchor="ctr"/>
          <a:lstStyle/>
          <a:p>
            <a:pPr indent="0" marL="0">
              <a:buNone/>
            </a:pPr>
            <a:r>
              <a:rPr lang="en-US" sz="1500" b="1" dirty="0">
                <a:solidFill>
                  <a:schemeClr val="bg1"/>
                </a:solidFill>
              </a:rPr>
              <a:t>Linear Regression</a:t>
            </a:r>
            <a:endParaRPr lang="en-US" sz="1500" dirty="0"/>
          </a:p>
        </p:txBody>
      </p:sp>
      <p:sp>
        <p:nvSpPr>
          <p:cNvPr id="13" name="Tied model value 2"/>
          <p:cNvSpPr txBox="1"/>
          <p:nvPr/>
        </p:nvSpPr>
        <p:spPr>
          <a:xfrm>
            <a:off x="10058400" y="3401568"/>
            <a:ext cx="1143000" cy="457200"/>
          </a:xfrm>
          <a:prstGeom prst="rect">
            <a:avLst/>
          </a:prstGeom>
          <a:noFill/>
          <a:ln/>
        </p:spPr>
        <p:txBody>
          <a:bodyPr wrap="square" lIns="0" tIns="0" rIns="0" bIns="0" rtlCol="0" anchor="ctr"/>
          <a:lstStyle/>
          <a:p>
            <a:pPr algn="r" indent="0" marL="0">
              <a:buNone/>
            </a:pPr>
            <a:r>
              <a:rPr lang="en-US" sz="1500" b="1" dirty="0">
                <a:solidFill>
                  <a:schemeClr val="bg1"/>
                </a:solidFill>
              </a:rPr>
              <a:t>47.88</a:t>
            </a:r>
            <a:endParaRPr lang="en-US" sz="1500" dirty="0"/>
          </a:p>
        </p:txBody>
      </p:sp>
      <p:sp>
        <p:nvSpPr>
          <p:cNvPr id="14" name="Tied model 3"/>
          <p:cNvSpPr/>
          <p:nvPr/>
        </p:nvSpPr>
        <p:spPr>
          <a:xfrm>
            <a:off x="7269480" y="3968496"/>
            <a:ext cx="4069080" cy="457200"/>
          </a:xfrm>
          <a:prstGeom prst="roundRect">
            <a:avLst>
              <a:gd name="adj" fmla="val 12000"/>
            </a:avLst>
          </a:prstGeom>
          <a:solidFill>
            <a:schemeClr val="bg1"/>
          </a:solidFill>
          <a:ln w="12700">
            <a:solidFill>
              <a:schemeClr val="bg1"/>
            </a:solidFill>
            <a:prstDash val="solid"/>
          </a:ln>
        </p:spPr>
      </p:sp>
      <p:sp>
        <p:nvSpPr>
          <p:cNvPr id="15" name="Tied model name 3"/>
          <p:cNvSpPr txBox="1"/>
          <p:nvPr/>
        </p:nvSpPr>
        <p:spPr>
          <a:xfrm>
            <a:off x="7452360" y="3968496"/>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Ridge Regression</a:t>
            </a:r>
            <a:endParaRPr lang="en-US" sz="1500" dirty="0"/>
          </a:p>
        </p:txBody>
      </p:sp>
      <p:sp>
        <p:nvSpPr>
          <p:cNvPr id="16" name="Tied model value 3"/>
          <p:cNvSpPr txBox="1"/>
          <p:nvPr/>
        </p:nvSpPr>
        <p:spPr>
          <a:xfrm>
            <a:off x="10058400" y="3968496"/>
            <a:ext cx="1143000" cy="457200"/>
          </a:xfrm>
          <a:prstGeom prst="rect">
            <a:avLst/>
          </a:prstGeom>
          <a:noFill/>
          <a:ln/>
        </p:spPr>
        <p:txBody>
          <a:bodyPr wrap="square" lIns="0" tIns="0" rIns="0" bIns="0" rtlCol="0" anchor="ctr"/>
          <a:lstStyle/>
          <a:p>
            <a:pPr algn="r" indent="0" marL="0">
              <a:buNone/>
            </a:pPr>
            <a:r>
              <a:rPr lang="en-US" sz="1500" b="1" dirty="0">
                <a:solidFill>
                  <a:schemeClr val="tx1"/>
                </a:solidFill>
              </a:rPr>
              <a:t>47.88</a:t>
            </a:r>
            <a:endParaRPr lang="en-US" sz="1500" dirty="0"/>
          </a:p>
        </p:txBody>
      </p:sp>
      <p:sp>
        <p:nvSpPr>
          <p:cNvPr id="17" name="One SE threshold"/>
          <p:cNvSpPr txBox="1"/>
          <p:nvPr/>
        </p:nvSpPr>
        <p:spPr>
          <a:xfrm>
            <a:off x="7269480" y="4572000"/>
            <a:ext cx="4114800" cy="365760"/>
          </a:xfrm>
          <a:prstGeom prst="rect">
            <a:avLst/>
          </a:prstGeom>
          <a:noFill/>
          <a:ln/>
        </p:spPr>
        <p:txBody>
          <a:bodyPr wrap="square" lIns="0" tIns="0" rIns="0" bIns="0" rtlCol="0" anchor="t"/>
          <a:lstStyle/>
          <a:p>
            <a:pPr indent="0" marL="0">
              <a:buNone/>
            </a:pPr>
            <a:r>
              <a:rPr lang="en-US" sz="1400" b="1" dirty="0">
                <a:solidFill>
                  <a:schemeClr val="tx1"/>
                </a:solidFill>
              </a:rPr>
              <a:t>Threshold: </a:t>
            </a:r>
            <a:pPr indent="0" marL="0">
              <a:buNone/>
            </a:pPr>
            <a:r>
              <a:rPr lang="en-US" sz="1400" dirty="0">
                <a:solidFill>
                  <a:schemeClr val="tx1"/>
                </a:solidFill>
              </a:rPr>
              <a:t>47.32 + 6.73 ÷ √5 = 50.33</a:t>
            </a:r>
            <a:endParaRPr lang="en-US" sz="1400" dirty="0"/>
          </a:p>
        </p:txBody>
      </p:sp>
      <p:sp>
        <p:nvSpPr>
          <p:cNvPr id="18" name="One SE conclusion"/>
          <p:cNvSpPr txBox="1"/>
          <p:nvPr/>
        </p:nvSpPr>
        <p:spPr>
          <a:xfrm>
            <a:off x="7269480" y="5029200"/>
            <a:ext cx="4114800" cy="822960"/>
          </a:xfrm>
          <a:prstGeom prst="rect">
            <a:avLst/>
          </a:prstGeom>
          <a:noFill/>
          <a:ln/>
        </p:spPr>
        <p:txBody>
          <a:bodyPr wrap="square" lIns="0" tIns="0" rIns="0" bIns="0" rtlCol="0" anchor="t"/>
          <a:lstStyle/>
          <a:p>
            <a:pPr indent="0" marL="0">
              <a:buNone/>
            </a:pPr>
            <a:r>
              <a:rPr lang="en-US" sz="1400" dirty="0">
                <a:solidFill>
                  <a:schemeClr val="tx2"/>
                </a:solidFill>
              </a:rPr>
              <a:t>All three are tied, so we keep the simplest and most explainable: Linear Regression.</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How Linear Regression works</a:t>
            </a:r>
            <a:endParaRPr lang="en-US" sz="3200" dirty="0"/>
          </a:p>
        </p:txBody>
      </p:sp>
      <p:sp>
        <p:nvSpPr>
          <p:cNvPr id="4" name="Equation card"/>
          <p:cNvSpPr/>
          <p:nvPr/>
        </p:nvSpPr>
        <p:spPr>
          <a:xfrm>
            <a:off x="548640" y="1371600"/>
            <a:ext cx="11094415" cy="1463040"/>
          </a:xfrm>
          <a:prstGeom prst="roundRect">
            <a:avLst>
              <a:gd name="adj" fmla="val 5000"/>
            </a:avLst>
          </a:prstGeom>
          <a:solidFill>
            <a:schemeClr val="tx1"/>
          </a:solidFill>
          <a:ln w="12700">
            <a:solidFill>
              <a:schemeClr val="tx1"/>
            </a:solidFill>
            <a:prstDash val="solid"/>
          </a:ln>
        </p:spPr>
      </p:sp>
      <p:sp>
        <p:nvSpPr>
          <p:cNvPr id="5" name="Equation"/>
          <p:cNvSpPr txBox="1"/>
          <p:nvPr/>
        </p:nvSpPr>
        <p:spPr>
          <a:xfrm>
            <a:off x="822960" y="1508760"/>
            <a:ext cx="10545775" cy="685800"/>
          </a:xfrm>
          <a:prstGeom prst="rect">
            <a:avLst/>
          </a:prstGeom>
          <a:noFill/>
          <a:ln/>
        </p:spPr>
        <p:txBody>
          <a:bodyPr wrap="square" lIns="0" tIns="0" rIns="0" bIns="0" rtlCol="0" anchor="ctr"/>
          <a:lstStyle/>
          <a:p>
            <a:pPr algn="ctr" indent="0" marL="0">
              <a:buNone/>
            </a:pPr>
            <a:r>
              <a:rPr lang="en-US" sz="2100" b="1" dirty="0">
                <a:solidFill>
                  <a:schemeClr val="bg1"/>
                </a:solidFill>
              </a:rPr>
              <a:t>Score = b₀ + b₁·RAM + b₂·Cores + b₃·GPU + b₄·Storage + b₅·Clock + b₆·Age + b₇·Temp + b₈·OS</a:t>
            </a:r>
            <a:endParaRPr lang="en-US" sz="2100" dirty="0"/>
          </a:p>
        </p:txBody>
      </p:sp>
      <p:sp>
        <p:nvSpPr>
          <p:cNvPr id="6" name="Equation note"/>
          <p:cNvSpPr txBox="1"/>
          <p:nvPr/>
        </p:nvSpPr>
        <p:spPr>
          <a:xfrm>
            <a:off x="914400" y="2240280"/>
            <a:ext cx="10362895" cy="411480"/>
          </a:xfrm>
          <a:prstGeom prst="rect">
            <a:avLst/>
          </a:prstGeom>
          <a:noFill/>
          <a:ln/>
        </p:spPr>
        <p:txBody>
          <a:bodyPr wrap="square" lIns="0" tIns="0" rIns="0" bIns="0" rtlCol="0" anchor="t"/>
          <a:lstStyle/>
          <a:p>
            <a:pPr algn="ctr" indent="0" marL="0">
              <a:buNone/>
            </a:pPr>
            <a:r>
              <a:rPr lang="en-US" sz="1400" dirty="0">
                <a:solidFill>
                  <a:schemeClr val="bg2"/>
                </a:solidFill>
              </a:rPr>
              <a:t>b₀ is the intercept; b₁ ... b₈ are the weights the model learns from the 402 training PCs</a:t>
            </a:r>
            <a:endParaRPr lang="en-US" sz="1400" dirty="0"/>
          </a:p>
        </p:txBody>
      </p:sp>
      <p:sp>
        <p:nvSpPr>
          <p:cNvPr id="7" name="LR point 1 circle"/>
          <p:cNvSpPr/>
          <p:nvPr/>
        </p:nvSpPr>
        <p:spPr>
          <a:xfrm>
            <a:off x="548640" y="3108960"/>
            <a:ext cx="685800" cy="685800"/>
          </a:xfrm>
          <a:prstGeom prst="ellipse">
            <a:avLst/>
          </a:prstGeom>
          <a:solidFill>
            <a:schemeClr val="accent2"/>
          </a:solidFill>
          <a:ln w="12700">
            <a:solidFill>
              <a:schemeClr val="accent2"/>
            </a:solidFill>
            <a:prstDash val="solid"/>
          </a:ln>
        </p:spPr>
      </p:sp>
      <p:pic>
        <p:nvPicPr>
          <p:cNvPr id="8" name="LR point 1 icon" descr="preencoded.png">    </p:cNvPr>
          <p:cNvPicPr>
            <a:picLocks noChangeAspect="1"/>
          </p:cNvPicPr>
          <p:nvPr/>
        </p:nvPicPr>
        <p:blipFill>
          <a:blip r:embed="rId1"/>
          <a:stretch>
            <a:fillRect/>
          </a:stretch>
        </p:blipFill>
        <p:spPr>
          <a:xfrm>
            <a:off x="726948" y="3287268"/>
            <a:ext cx="329184" cy="329184"/>
          </a:xfrm>
          <a:prstGeom prst="rect">
            <a:avLst/>
          </a:prstGeom>
        </p:spPr>
      </p:pic>
      <p:sp>
        <p:nvSpPr>
          <p:cNvPr id="9" name="LR title 1"/>
          <p:cNvSpPr txBox="1"/>
          <p:nvPr/>
        </p:nvSpPr>
        <p:spPr>
          <a:xfrm>
            <a:off x="1417320" y="3090672"/>
            <a:ext cx="4495648" cy="384048"/>
          </a:xfrm>
          <a:prstGeom prst="rect">
            <a:avLst/>
          </a:prstGeom>
          <a:noFill/>
          <a:ln/>
        </p:spPr>
        <p:txBody>
          <a:bodyPr wrap="square" lIns="0" tIns="0" rIns="0" bIns="0" rtlCol="0" anchor="t"/>
          <a:lstStyle/>
          <a:p>
            <a:pPr indent="0" marL="0">
              <a:buNone/>
            </a:pPr>
            <a:r>
              <a:rPr lang="en-US" sz="1800" b="1" dirty="0">
                <a:solidFill>
                  <a:schemeClr val="tx1"/>
                </a:solidFill>
              </a:rPr>
              <a:t>Ordinary least squares</a:t>
            </a:r>
            <a:endParaRPr lang="en-US" sz="1800" dirty="0"/>
          </a:p>
        </p:txBody>
      </p:sp>
      <p:sp>
        <p:nvSpPr>
          <p:cNvPr id="10" name="LR desc 1"/>
          <p:cNvSpPr txBox="1"/>
          <p:nvPr/>
        </p:nvSpPr>
        <p:spPr>
          <a:xfrm>
            <a:off x="1417320" y="3493008"/>
            <a:ext cx="4495648" cy="822960"/>
          </a:xfrm>
          <a:prstGeom prst="rect">
            <a:avLst/>
          </a:prstGeom>
          <a:noFill/>
          <a:ln/>
        </p:spPr>
        <p:txBody>
          <a:bodyPr wrap="square" lIns="0" tIns="0" rIns="0" bIns="0" rtlCol="0" anchor="t"/>
          <a:lstStyle/>
          <a:p>
            <a:pPr indent="0" marL="0">
              <a:buNone/>
            </a:pPr>
            <a:r>
              <a:rPr lang="en-US" sz="1400" dirty="0">
                <a:solidFill>
                  <a:schemeClr val="tx2"/>
                </a:solidFill>
              </a:rPr>
              <a:t>Chooses the weights that minimize Σ (actual − predicted)² over the training data</a:t>
            </a:r>
            <a:endParaRPr lang="en-US" sz="1400" dirty="0"/>
          </a:p>
        </p:txBody>
      </p:sp>
      <p:sp>
        <p:nvSpPr>
          <p:cNvPr id="11" name="LR point 2 circle"/>
          <p:cNvSpPr/>
          <p:nvPr/>
        </p:nvSpPr>
        <p:spPr>
          <a:xfrm>
            <a:off x="6233008" y="3108960"/>
            <a:ext cx="685800" cy="685800"/>
          </a:xfrm>
          <a:prstGeom prst="ellipse">
            <a:avLst/>
          </a:prstGeom>
          <a:solidFill>
            <a:schemeClr val="accent2"/>
          </a:solidFill>
          <a:ln w="12700">
            <a:solidFill>
              <a:schemeClr val="accent2"/>
            </a:solidFill>
            <a:prstDash val="solid"/>
          </a:ln>
        </p:spPr>
      </p:sp>
      <p:pic>
        <p:nvPicPr>
          <p:cNvPr id="12" name="LR point 2 icon" descr="preencoded.png">    </p:cNvPr>
          <p:cNvPicPr>
            <a:picLocks noChangeAspect="1"/>
          </p:cNvPicPr>
          <p:nvPr/>
        </p:nvPicPr>
        <p:blipFill>
          <a:blip r:embed="rId2"/>
          <a:stretch>
            <a:fillRect/>
          </a:stretch>
        </p:blipFill>
        <p:spPr>
          <a:xfrm>
            <a:off x="6411316" y="3287268"/>
            <a:ext cx="329184" cy="329184"/>
          </a:xfrm>
          <a:prstGeom prst="rect">
            <a:avLst/>
          </a:prstGeom>
        </p:spPr>
      </p:pic>
      <p:sp>
        <p:nvSpPr>
          <p:cNvPr id="13" name="LR title 2"/>
          <p:cNvSpPr txBox="1"/>
          <p:nvPr/>
        </p:nvSpPr>
        <p:spPr>
          <a:xfrm>
            <a:off x="7101688" y="3090672"/>
            <a:ext cx="4495648" cy="384048"/>
          </a:xfrm>
          <a:prstGeom prst="rect">
            <a:avLst/>
          </a:prstGeom>
          <a:noFill/>
          <a:ln/>
        </p:spPr>
        <p:txBody>
          <a:bodyPr wrap="square" lIns="0" tIns="0" rIns="0" bIns="0" rtlCol="0" anchor="t"/>
          <a:lstStyle/>
          <a:p>
            <a:pPr indent="0" marL="0">
              <a:buNone/>
            </a:pPr>
            <a:r>
              <a:rPr lang="en-US" sz="1800" b="1" dirty="0">
                <a:solidFill>
                  <a:schemeClr val="tx1"/>
                </a:solidFill>
              </a:rPr>
              <a:t>Same as MLE (Unit II)</a:t>
            </a:r>
            <a:endParaRPr lang="en-US" sz="1800" dirty="0"/>
          </a:p>
        </p:txBody>
      </p:sp>
      <p:sp>
        <p:nvSpPr>
          <p:cNvPr id="14" name="LR desc 2"/>
          <p:cNvSpPr txBox="1"/>
          <p:nvPr/>
        </p:nvSpPr>
        <p:spPr>
          <a:xfrm>
            <a:off x="7101688" y="3493008"/>
            <a:ext cx="4495648" cy="822960"/>
          </a:xfrm>
          <a:prstGeom prst="rect">
            <a:avLst/>
          </a:prstGeom>
          <a:noFill/>
          <a:ln/>
        </p:spPr>
        <p:txBody>
          <a:bodyPr wrap="square" lIns="0" tIns="0" rIns="0" bIns="0" rtlCol="0" anchor="t"/>
          <a:lstStyle/>
          <a:p>
            <a:pPr indent="0" marL="0">
              <a:buNone/>
            </a:pPr>
            <a:r>
              <a:rPr lang="en-US" sz="1400" dirty="0">
                <a:solidFill>
                  <a:schemeClr val="tx2"/>
                </a:solidFill>
              </a:rPr>
              <a:t>With Gaussian noise, least squares is the maximum-likelihood estimate of the weights</a:t>
            </a:r>
            <a:endParaRPr lang="en-US" sz="1400" dirty="0"/>
          </a:p>
        </p:txBody>
      </p:sp>
      <p:sp>
        <p:nvSpPr>
          <p:cNvPr id="15" name="LR point 3 circle"/>
          <p:cNvSpPr/>
          <p:nvPr/>
        </p:nvSpPr>
        <p:spPr>
          <a:xfrm>
            <a:off x="548640" y="4663440"/>
            <a:ext cx="685800" cy="685800"/>
          </a:xfrm>
          <a:prstGeom prst="ellipse">
            <a:avLst/>
          </a:prstGeom>
          <a:solidFill>
            <a:schemeClr val="accent2"/>
          </a:solidFill>
          <a:ln w="12700">
            <a:solidFill>
              <a:schemeClr val="accent2"/>
            </a:solidFill>
            <a:prstDash val="solid"/>
          </a:ln>
        </p:spPr>
      </p:sp>
      <p:pic>
        <p:nvPicPr>
          <p:cNvPr id="16" name="LR point 3 icon" descr="preencoded.png">    </p:cNvPr>
          <p:cNvPicPr>
            <a:picLocks noChangeAspect="1"/>
          </p:cNvPicPr>
          <p:nvPr/>
        </p:nvPicPr>
        <p:blipFill>
          <a:blip r:embed="rId3"/>
          <a:stretch>
            <a:fillRect/>
          </a:stretch>
        </p:blipFill>
        <p:spPr>
          <a:xfrm>
            <a:off x="726948" y="4841748"/>
            <a:ext cx="329184" cy="329184"/>
          </a:xfrm>
          <a:prstGeom prst="rect">
            <a:avLst/>
          </a:prstGeom>
        </p:spPr>
      </p:pic>
      <p:sp>
        <p:nvSpPr>
          <p:cNvPr id="17" name="LR title 3"/>
          <p:cNvSpPr txBox="1"/>
          <p:nvPr/>
        </p:nvSpPr>
        <p:spPr>
          <a:xfrm>
            <a:off x="1417320" y="4645152"/>
            <a:ext cx="4495648" cy="384048"/>
          </a:xfrm>
          <a:prstGeom prst="rect">
            <a:avLst/>
          </a:prstGeom>
          <a:noFill/>
          <a:ln/>
        </p:spPr>
        <p:txBody>
          <a:bodyPr wrap="square" lIns="0" tIns="0" rIns="0" bIns="0" rtlCol="0" anchor="t"/>
          <a:lstStyle/>
          <a:p>
            <a:pPr indent="0" marL="0">
              <a:buNone/>
            </a:pPr>
            <a:r>
              <a:rPr lang="en-US" sz="1800" b="1" dirty="0">
                <a:solidFill>
                  <a:schemeClr val="tx1"/>
                </a:solidFill>
              </a:rPr>
              <a:t>Easy to explain</a:t>
            </a:r>
            <a:endParaRPr lang="en-US" sz="1800" dirty="0"/>
          </a:p>
        </p:txBody>
      </p:sp>
      <p:sp>
        <p:nvSpPr>
          <p:cNvPr id="18" name="LR desc 3"/>
          <p:cNvSpPr txBox="1"/>
          <p:nvPr/>
        </p:nvSpPr>
        <p:spPr>
          <a:xfrm>
            <a:off x="1417320" y="5047488"/>
            <a:ext cx="4495648" cy="822960"/>
          </a:xfrm>
          <a:prstGeom prst="rect">
            <a:avLst/>
          </a:prstGeom>
          <a:noFill/>
          <a:ln/>
        </p:spPr>
        <p:txBody>
          <a:bodyPr wrap="square" lIns="0" tIns="0" rIns="0" bIns="0" rtlCol="0" anchor="t"/>
          <a:lstStyle/>
          <a:p>
            <a:pPr indent="0" marL="0">
              <a:buNone/>
            </a:pPr>
            <a:r>
              <a:rPr lang="en-US" sz="1400" dirty="0">
                <a:solidFill>
                  <a:schemeClr val="tx2"/>
                </a:solidFill>
              </a:rPr>
              <a:t>Each weight is the effect of one attribute: +95 points per standard deviation of RAM, −43 for age</a:t>
            </a:r>
            <a:endParaRPr lang="en-US" sz="1400" dirty="0"/>
          </a:p>
        </p:txBody>
      </p:sp>
      <p:sp>
        <p:nvSpPr>
          <p:cNvPr id="19" name="LR point 4 circle"/>
          <p:cNvSpPr/>
          <p:nvPr/>
        </p:nvSpPr>
        <p:spPr>
          <a:xfrm>
            <a:off x="6233008" y="4663440"/>
            <a:ext cx="685800" cy="685800"/>
          </a:xfrm>
          <a:prstGeom prst="ellipse">
            <a:avLst/>
          </a:prstGeom>
          <a:solidFill>
            <a:schemeClr val="accent2"/>
          </a:solidFill>
          <a:ln w="12700">
            <a:solidFill>
              <a:schemeClr val="accent2"/>
            </a:solidFill>
            <a:prstDash val="solid"/>
          </a:ln>
        </p:spPr>
      </p:sp>
      <p:pic>
        <p:nvPicPr>
          <p:cNvPr id="20" name="LR point 4 icon" descr="preencoded.png">    </p:cNvPr>
          <p:cNvPicPr>
            <a:picLocks noChangeAspect="1"/>
          </p:cNvPicPr>
          <p:nvPr/>
        </p:nvPicPr>
        <p:blipFill>
          <a:blip r:embed="rId4"/>
          <a:stretch>
            <a:fillRect/>
          </a:stretch>
        </p:blipFill>
        <p:spPr>
          <a:xfrm>
            <a:off x="6411316" y="4841748"/>
            <a:ext cx="329184" cy="329184"/>
          </a:xfrm>
          <a:prstGeom prst="rect">
            <a:avLst/>
          </a:prstGeom>
        </p:spPr>
      </p:pic>
      <p:sp>
        <p:nvSpPr>
          <p:cNvPr id="21" name="LR title 4"/>
          <p:cNvSpPr txBox="1"/>
          <p:nvPr/>
        </p:nvSpPr>
        <p:spPr>
          <a:xfrm>
            <a:off x="7101688" y="4645152"/>
            <a:ext cx="4495648" cy="384048"/>
          </a:xfrm>
          <a:prstGeom prst="rect">
            <a:avLst/>
          </a:prstGeom>
          <a:noFill/>
          <a:ln/>
        </p:spPr>
        <p:txBody>
          <a:bodyPr wrap="square" lIns="0" tIns="0" rIns="0" bIns="0" rtlCol="0" anchor="t"/>
          <a:lstStyle/>
          <a:p>
            <a:pPr indent="0" marL="0">
              <a:buNone/>
            </a:pPr>
            <a:r>
              <a:rPr lang="en-US" sz="1800" b="1" dirty="0">
                <a:solidFill>
                  <a:schemeClr val="tx1"/>
                </a:solidFill>
              </a:rPr>
              <a:t>Fast in the app</a:t>
            </a:r>
            <a:endParaRPr lang="en-US" sz="1800" dirty="0"/>
          </a:p>
        </p:txBody>
      </p:sp>
      <p:sp>
        <p:nvSpPr>
          <p:cNvPr id="22" name="LR desc 4"/>
          <p:cNvSpPr txBox="1"/>
          <p:nvPr/>
        </p:nvSpPr>
        <p:spPr>
          <a:xfrm>
            <a:off x="7101688" y="5047488"/>
            <a:ext cx="4495648" cy="822960"/>
          </a:xfrm>
          <a:prstGeom prst="rect">
            <a:avLst/>
          </a:prstGeom>
          <a:noFill/>
          <a:ln/>
        </p:spPr>
        <p:txBody>
          <a:bodyPr wrap="square" lIns="0" tIns="0" rIns="0" bIns="0" rtlCol="0" anchor="t"/>
          <a:lstStyle/>
          <a:p>
            <a:pPr indent="0" marL="0">
              <a:buNone/>
            </a:pPr>
            <a:r>
              <a:rPr lang="en-US" sz="1400" dirty="0">
                <a:solidFill>
                  <a:schemeClr val="tx2"/>
                </a:solidFill>
              </a:rPr>
              <a:t>A prediction is just 9 multiplications, so the score updates instantly</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Linear Regression: R² of 0.929 on unseen PCs</a:t>
            </a:r>
            <a:endParaRPr lang="en-US" sz="3200" dirty="0"/>
          </a:p>
        </p:txBody>
      </p:sp>
      <p:sp>
        <p:nvSpPr>
          <p:cNvPr id="4" name="R2 value"/>
          <p:cNvSpPr txBox="1"/>
          <p:nvPr/>
        </p:nvSpPr>
        <p:spPr>
          <a:xfrm>
            <a:off x="548640" y="1463040"/>
            <a:ext cx="3291840" cy="822960"/>
          </a:xfrm>
          <a:prstGeom prst="rect">
            <a:avLst/>
          </a:prstGeom>
          <a:noFill/>
          <a:ln/>
        </p:spPr>
        <p:txBody>
          <a:bodyPr wrap="square" lIns="0" tIns="0" rIns="0" bIns="0" rtlCol="0" anchor="t"/>
          <a:lstStyle/>
          <a:p>
            <a:pPr indent="0" marL="0">
              <a:buNone/>
            </a:pPr>
            <a:r>
              <a:rPr lang="en-US" sz="5400" b="1" dirty="0">
                <a:solidFill>
                  <a:schemeClr val="accent1"/>
                </a:solidFill>
              </a:rPr>
              <a:t>0.929</a:t>
            </a:r>
            <a:endParaRPr lang="en-US" sz="5400" dirty="0"/>
          </a:p>
        </p:txBody>
      </p:sp>
      <p:sp>
        <p:nvSpPr>
          <p:cNvPr id="5" name="R2 label"/>
          <p:cNvSpPr txBox="1"/>
          <p:nvPr/>
        </p:nvSpPr>
        <p:spPr>
          <a:xfrm>
            <a:off x="548640" y="2331720"/>
            <a:ext cx="3291840" cy="548640"/>
          </a:xfrm>
          <a:prstGeom prst="rect">
            <a:avLst/>
          </a:prstGeom>
          <a:noFill/>
          <a:ln/>
        </p:spPr>
        <p:txBody>
          <a:bodyPr wrap="square" lIns="0" tIns="0" rIns="0" bIns="0" rtlCol="0" anchor="t"/>
          <a:lstStyle/>
          <a:p>
            <a:pPr indent="0" marL="0">
              <a:buNone/>
            </a:pPr>
            <a:r>
              <a:rPr lang="en-US" sz="1400" dirty="0">
                <a:solidFill>
                  <a:schemeClr val="tx2"/>
                </a:solidFill>
              </a:rPr>
              <a:t>R² on the test set</a:t>
            </a:r>
            <a:endParaRPr lang="en-US" sz="1400" dirty="0"/>
          </a:p>
        </p:txBody>
      </p:sp>
      <p:sp>
        <p:nvSpPr>
          <p:cNvPr id="6" name="MAE value"/>
          <p:cNvSpPr txBox="1"/>
          <p:nvPr/>
        </p:nvSpPr>
        <p:spPr>
          <a:xfrm>
            <a:off x="548640" y="3017520"/>
            <a:ext cx="3291840" cy="822960"/>
          </a:xfrm>
          <a:prstGeom prst="rect">
            <a:avLst/>
          </a:prstGeom>
          <a:noFill/>
          <a:ln/>
        </p:spPr>
        <p:txBody>
          <a:bodyPr wrap="square" lIns="0" tIns="0" rIns="0" bIns="0" rtlCol="0" anchor="t"/>
          <a:lstStyle/>
          <a:p>
            <a:pPr indent="0" marL="0">
              <a:buNone/>
            </a:pPr>
            <a:r>
              <a:rPr lang="en-US" sz="5400" b="1" dirty="0">
                <a:solidFill>
                  <a:schemeClr val="tx1"/>
                </a:solidFill>
              </a:rPr>
              <a:t>33.8</a:t>
            </a:r>
            <a:endParaRPr lang="en-US" sz="5400" dirty="0"/>
          </a:p>
        </p:txBody>
      </p:sp>
      <p:sp>
        <p:nvSpPr>
          <p:cNvPr id="7" name="MAE label"/>
          <p:cNvSpPr txBox="1"/>
          <p:nvPr/>
        </p:nvSpPr>
        <p:spPr>
          <a:xfrm>
            <a:off x="548640" y="3886200"/>
            <a:ext cx="3291840" cy="548640"/>
          </a:xfrm>
          <a:prstGeom prst="rect">
            <a:avLst/>
          </a:prstGeom>
          <a:noFill/>
          <a:ln/>
        </p:spPr>
        <p:txBody>
          <a:bodyPr wrap="square" lIns="0" tIns="0" rIns="0" bIns="0" rtlCol="0" anchor="t"/>
          <a:lstStyle/>
          <a:p>
            <a:pPr indent="0" marL="0">
              <a:buNone/>
            </a:pPr>
            <a:r>
              <a:rPr lang="en-US" sz="1400" dirty="0">
                <a:solidFill>
                  <a:schemeClr val="tx2"/>
                </a:solidFill>
              </a:rPr>
              <a:t>mean absolute error (points)</a:t>
            </a:r>
            <a:endParaRPr lang="en-US" sz="1400" dirty="0"/>
          </a:p>
        </p:txBody>
      </p:sp>
      <p:sp>
        <p:nvSpPr>
          <p:cNvPr id="8" name="RMSE value"/>
          <p:cNvSpPr txBox="1"/>
          <p:nvPr/>
        </p:nvSpPr>
        <p:spPr>
          <a:xfrm>
            <a:off x="548640" y="4572000"/>
            <a:ext cx="3291840" cy="822960"/>
          </a:xfrm>
          <a:prstGeom prst="rect">
            <a:avLst/>
          </a:prstGeom>
          <a:noFill/>
          <a:ln/>
        </p:spPr>
        <p:txBody>
          <a:bodyPr wrap="square" lIns="0" tIns="0" rIns="0" bIns="0" rtlCol="0" anchor="t"/>
          <a:lstStyle/>
          <a:p>
            <a:pPr indent="0" marL="0">
              <a:buNone/>
            </a:pPr>
            <a:r>
              <a:rPr lang="en-US" sz="5400" b="1" dirty="0">
                <a:solidFill>
                  <a:schemeClr val="tx1"/>
                </a:solidFill>
              </a:rPr>
              <a:t>44.1</a:t>
            </a:r>
            <a:endParaRPr lang="en-US" sz="5400" dirty="0"/>
          </a:p>
        </p:txBody>
      </p:sp>
      <p:sp>
        <p:nvSpPr>
          <p:cNvPr id="9" name="RMSE label"/>
          <p:cNvSpPr txBox="1"/>
          <p:nvPr/>
        </p:nvSpPr>
        <p:spPr>
          <a:xfrm>
            <a:off x="548640" y="5440680"/>
            <a:ext cx="3291840" cy="548640"/>
          </a:xfrm>
          <a:prstGeom prst="rect">
            <a:avLst/>
          </a:prstGeom>
          <a:noFill/>
          <a:ln/>
        </p:spPr>
        <p:txBody>
          <a:bodyPr wrap="square" lIns="0" tIns="0" rIns="0" bIns="0" rtlCol="0" anchor="t"/>
          <a:lstStyle/>
          <a:p>
            <a:pPr indent="0" marL="0">
              <a:buNone/>
            </a:pPr>
            <a:r>
              <a:rPr lang="en-US" sz="1400" dirty="0">
                <a:solidFill>
                  <a:schemeClr val="tx2"/>
                </a:solidFill>
              </a:rPr>
              <a:t>root mean squared error (points)</a:t>
            </a:r>
            <a:endParaRPr lang="en-US" sz="1400" dirty="0"/>
          </a:p>
        </p:txBody>
      </p:sp>
      <p:graphicFrame>
        <p:nvGraphicFramePr>
          <p:cNvPr id="10" name="Actual vs predicted chart" descr=""/>
          <p:cNvGraphicFramePr/>
          <p:nvPr/>
        </p:nvGraphicFramePr>
        <p:xfrm>
          <a:off x="4206240" y="1325880"/>
          <a:ext cx="7434072" cy="48920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Why the simplest model works best</a:t>
            </a:r>
            <a:endParaRPr lang="en-US" sz="3200" dirty="0"/>
          </a:p>
        </p:txBody>
      </p:sp>
      <p:graphicFrame>
        <p:nvGraphicFramePr>
          <p:cNvPr id="4" name="Coefficient chart" descr=""/>
          <p:cNvGraphicFramePr/>
          <p:nvPr/>
        </p:nvGraphicFramePr>
        <p:xfrm>
          <a:off x="548640" y="1371600"/>
          <a:ext cx="6949440" cy="4800600"/>
        </p:xfrm>
        <a:graphic xmlns:a="http://schemas.openxmlformats.org/drawingml/2006/main">
          <a:graphicData uri="http://schemas.openxmlformats.org/drawingml/2006/chart">
            <c:chart xmlns:c="http://schemas.openxmlformats.org/drawingml/2006/chart" r:id="rId1"/>
          </a:graphicData>
        </a:graphic>
      </p:graphicFrame>
      <p:sp>
        <p:nvSpPr>
          <p:cNvPr id="5" name="Why note 1 circle"/>
          <p:cNvSpPr/>
          <p:nvPr/>
        </p:nvSpPr>
        <p:spPr>
          <a:xfrm>
            <a:off x="7909560" y="1600200"/>
            <a:ext cx="731520" cy="731520"/>
          </a:xfrm>
          <a:prstGeom prst="ellipse">
            <a:avLst/>
          </a:prstGeom>
          <a:solidFill>
            <a:schemeClr val="accent2"/>
          </a:solidFill>
          <a:ln w="12700">
            <a:solidFill>
              <a:schemeClr val="accent2"/>
            </a:solidFill>
            <a:prstDash val="solid"/>
          </a:ln>
        </p:spPr>
      </p:sp>
      <p:pic>
        <p:nvPicPr>
          <p:cNvPr id="6" name="Why note 1 icon" descr="preencoded.png">    </p:cNvPr>
          <p:cNvPicPr>
            <a:picLocks noChangeAspect="1"/>
          </p:cNvPicPr>
          <p:nvPr/>
        </p:nvPicPr>
        <p:blipFill>
          <a:blip r:embed="rId2"/>
          <a:stretch>
            <a:fillRect/>
          </a:stretch>
        </p:blipFill>
        <p:spPr>
          <a:xfrm>
            <a:off x="8099755" y="1790395"/>
            <a:ext cx="351130" cy="351130"/>
          </a:xfrm>
          <a:prstGeom prst="rect">
            <a:avLst/>
          </a:prstGeom>
        </p:spPr>
      </p:pic>
      <p:sp>
        <p:nvSpPr>
          <p:cNvPr id="7" name="Why title 1"/>
          <p:cNvSpPr txBox="1"/>
          <p:nvPr/>
        </p:nvSpPr>
        <p:spPr>
          <a:xfrm>
            <a:off x="8823960" y="1581912"/>
            <a:ext cx="2834640" cy="384048"/>
          </a:xfrm>
          <a:prstGeom prst="rect">
            <a:avLst/>
          </a:prstGeom>
          <a:noFill/>
          <a:ln/>
        </p:spPr>
        <p:txBody>
          <a:bodyPr wrap="square" lIns="0" tIns="0" rIns="0" bIns="0" rtlCol="0" anchor="t"/>
          <a:lstStyle/>
          <a:p>
            <a:pPr indent="0" marL="0">
              <a:buNone/>
            </a:pPr>
            <a:r>
              <a:rPr lang="en-US" sz="1800" b="1" dirty="0">
                <a:solidFill>
                  <a:schemeClr val="tx1"/>
                </a:solidFill>
              </a:rPr>
              <a:t>Additive effects</a:t>
            </a:r>
            <a:endParaRPr lang="en-US" sz="1800" dirty="0"/>
          </a:p>
        </p:txBody>
      </p:sp>
      <p:sp>
        <p:nvSpPr>
          <p:cNvPr id="8" name="Why desc 1"/>
          <p:cNvSpPr txBox="1"/>
          <p:nvPr/>
        </p:nvSpPr>
        <p:spPr>
          <a:xfrm>
            <a:off x="8823960" y="1984248"/>
            <a:ext cx="2834640" cy="868680"/>
          </a:xfrm>
          <a:prstGeom prst="rect">
            <a:avLst/>
          </a:prstGeom>
          <a:noFill/>
          <a:ln/>
        </p:spPr>
        <p:txBody>
          <a:bodyPr wrap="square" lIns="0" tIns="0" rIns="0" bIns="0" rtlCol="0" anchor="t"/>
          <a:lstStyle/>
          <a:p>
            <a:pPr indent="0" marL="0">
              <a:buNone/>
            </a:pPr>
            <a:r>
              <a:rPr lang="en-US" sz="1400" dirty="0">
                <a:solidFill>
                  <a:schemeClr val="tx2"/>
                </a:solidFill>
              </a:rPr>
              <a:t>Each part adds to the score on its own, with almost no interactions</a:t>
            </a:r>
            <a:endParaRPr lang="en-US" sz="1400" dirty="0"/>
          </a:p>
        </p:txBody>
      </p:sp>
      <p:sp>
        <p:nvSpPr>
          <p:cNvPr id="9" name="Why note 2 circle"/>
          <p:cNvSpPr/>
          <p:nvPr/>
        </p:nvSpPr>
        <p:spPr>
          <a:xfrm>
            <a:off x="7909560" y="3108960"/>
            <a:ext cx="731520" cy="731520"/>
          </a:xfrm>
          <a:prstGeom prst="ellipse">
            <a:avLst/>
          </a:prstGeom>
          <a:solidFill>
            <a:schemeClr val="accent2"/>
          </a:solidFill>
          <a:ln w="12700">
            <a:solidFill>
              <a:schemeClr val="accent2"/>
            </a:solidFill>
            <a:prstDash val="solid"/>
          </a:ln>
        </p:spPr>
      </p:sp>
      <p:pic>
        <p:nvPicPr>
          <p:cNvPr id="10" name="Why note 2 icon" descr="preencoded.png">    </p:cNvPr>
          <p:cNvPicPr>
            <a:picLocks noChangeAspect="1"/>
          </p:cNvPicPr>
          <p:nvPr/>
        </p:nvPicPr>
        <p:blipFill>
          <a:blip r:embed="rId3"/>
          <a:stretch>
            <a:fillRect/>
          </a:stretch>
        </p:blipFill>
        <p:spPr>
          <a:xfrm>
            <a:off x="8099755" y="3299155"/>
            <a:ext cx="351130" cy="351130"/>
          </a:xfrm>
          <a:prstGeom prst="rect">
            <a:avLst/>
          </a:prstGeom>
        </p:spPr>
      </p:pic>
      <p:sp>
        <p:nvSpPr>
          <p:cNvPr id="11" name="Why title 2"/>
          <p:cNvSpPr txBox="1"/>
          <p:nvPr/>
        </p:nvSpPr>
        <p:spPr>
          <a:xfrm>
            <a:off x="8823960" y="3090672"/>
            <a:ext cx="2834640" cy="384048"/>
          </a:xfrm>
          <a:prstGeom prst="rect">
            <a:avLst/>
          </a:prstGeom>
          <a:noFill/>
          <a:ln/>
        </p:spPr>
        <p:txBody>
          <a:bodyPr wrap="square" lIns="0" tIns="0" rIns="0" bIns="0" rtlCol="0" anchor="t"/>
          <a:lstStyle/>
          <a:p>
            <a:pPr indent="0" marL="0">
              <a:buNone/>
            </a:pPr>
            <a:r>
              <a:rPr lang="en-US" sz="1800" b="1" dirty="0">
                <a:solidFill>
                  <a:schemeClr val="tx1"/>
                </a:solidFill>
              </a:rPr>
              <a:t>Near-linear data</a:t>
            </a:r>
            <a:endParaRPr lang="en-US" sz="1800" dirty="0"/>
          </a:p>
        </p:txBody>
      </p:sp>
      <p:sp>
        <p:nvSpPr>
          <p:cNvPr id="12" name="Why desc 2"/>
          <p:cNvSpPr txBox="1"/>
          <p:nvPr/>
        </p:nvSpPr>
        <p:spPr>
          <a:xfrm>
            <a:off x="8823960" y="3493008"/>
            <a:ext cx="2834640" cy="868680"/>
          </a:xfrm>
          <a:prstGeom prst="rect">
            <a:avLst/>
          </a:prstGeom>
          <a:noFill/>
          <a:ln/>
        </p:spPr>
        <p:txBody>
          <a:bodyPr wrap="square" lIns="0" tIns="0" rIns="0" bIns="0" rtlCol="0" anchor="t"/>
          <a:lstStyle/>
          <a:p>
            <a:pPr indent="0" marL="0">
              <a:buNone/>
            </a:pPr>
            <a:r>
              <a:rPr lang="en-US" sz="1400" dirty="0">
                <a:solidFill>
                  <a:schemeClr val="tx2"/>
                </a:solidFill>
              </a:rPr>
              <a:t>Score rises steadily with RAM, cores, GPU and clock</a:t>
            </a:r>
            <a:endParaRPr lang="en-US" sz="1400" dirty="0"/>
          </a:p>
        </p:txBody>
      </p:sp>
      <p:sp>
        <p:nvSpPr>
          <p:cNvPr id="13" name="Why note 3 circle"/>
          <p:cNvSpPr/>
          <p:nvPr/>
        </p:nvSpPr>
        <p:spPr>
          <a:xfrm>
            <a:off x="7909560" y="4617720"/>
            <a:ext cx="731520" cy="731520"/>
          </a:xfrm>
          <a:prstGeom prst="ellipse">
            <a:avLst/>
          </a:prstGeom>
          <a:solidFill>
            <a:schemeClr val="accent2"/>
          </a:solidFill>
          <a:ln w="12700">
            <a:solidFill>
              <a:schemeClr val="accent2"/>
            </a:solidFill>
            <a:prstDash val="solid"/>
          </a:ln>
        </p:spPr>
      </p:sp>
      <p:pic>
        <p:nvPicPr>
          <p:cNvPr id="14" name="Why note 3 icon" descr="preencoded.png">    </p:cNvPr>
          <p:cNvPicPr>
            <a:picLocks noChangeAspect="1"/>
          </p:cNvPicPr>
          <p:nvPr/>
        </p:nvPicPr>
        <p:blipFill>
          <a:blip r:embed="rId4"/>
          <a:stretch>
            <a:fillRect/>
          </a:stretch>
        </p:blipFill>
        <p:spPr>
          <a:xfrm>
            <a:off x="8099755" y="4807915"/>
            <a:ext cx="351130" cy="351130"/>
          </a:xfrm>
          <a:prstGeom prst="rect">
            <a:avLst/>
          </a:prstGeom>
        </p:spPr>
      </p:pic>
      <p:sp>
        <p:nvSpPr>
          <p:cNvPr id="15" name="Why title 3"/>
          <p:cNvSpPr txBox="1"/>
          <p:nvPr/>
        </p:nvSpPr>
        <p:spPr>
          <a:xfrm>
            <a:off x="8823960" y="4599432"/>
            <a:ext cx="2834640" cy="384048"/>
          </a:xfrm>
          <a:prstGeom prst="rect">
            <a:avLst/>
          </a:prstGeom>
          <a:noFill/>
          <a:ln/>
        </p:spPr>
        <p:txBody>
          <a:bodyPr wrap="square" lIns="0" tIns="0" rIns="0" bIns="0" rtlCol="0" anchor="t"/>
          <a:lstStyle/>
          <a:p>
            <a:pPr indent="0" marL="0">
              <a:buNone/>
            </a:pPr>
            <a:r>
              <a:rPr lang="en-US" sz="1800" b="1" dirty="0">
                <a:solidFill>
                  <a:schemeClr val="tx1"/>
                </a:solidFill>
              </a:rPr>
              <a:t>Small dataset</a:t>
            </a:r>
            <a:endParaRPr lang="en-US" sz="1800" dirty="0"/>
          </a:p>
        </p:txBody>
      </p:sp>
      <p:sp>
        <p:nvSpPr>
          <p:cNvPr id="16" name="Why desc 3"/>
          <p:cNvSpPr txBox="1"/>
          <p:nvPr/>
        </p:nvSpPr>
        <p:spPr>
          <a:xfrm>
            <a:off x="8823960" y="5001768"/>
            <a:ext cx="2834640" cy="868680"/>
          </a:xfrm>
          <a:prstGeom prst="rect">
            <a:avLst/>
          </a:prstGeom>
          <a:noFill/>
          <a:ln/>
        </p:spPr>
        <p:txBody>
          <a:bodyPr wrap="square" lIns="0" tIns="0" rIns="0" bIns="0" rtlCol="0" anchor="t"/>
          <a:lstStyle/>
          <a:p>
            <a:pPr indent="0" marL="0">
              <a:buNone/>
            </a:pPr>
            <a:r>
              <a:rPr lang="en-US" sz="1400" dirty="0">
                <a:solidFill>
                  <a:schemeClr val="tx2"/>
                </a:solidFill>
              </a:rPr>
              <a:t>With 402 training rows, simple models generalize better than deep trees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05</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The PC Builder App</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Pick real parts, see the predicted score update live</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How the app works</a:t>
            </a:r>
            <a:endParaRPr lang="en-US" sz="3200" dirty="0"/>
          </a:p>
        </p:txBody>
      </p:sp>
      <p:sp>
        <p:nvSpPr>
          <p:cNvPr id="4" name="Arch card 1"/>
          <p:cNvSpPr/>
          <p:nvPr/>
        </p:nvSpPr>
        <p:spPr>
          <a:xfrm>
            <a:off x="548640" y="1508760"/>
            <a:ext cx="1926275" cy="2011680"/>
          </a:xfrm>
          <a:prstGeom prst="roundRect">
            <a:avLst>
              <a:gd name="adj" fmla="val 3798"/>
            </a:avLst>
          </a:prstGeom>
          <a:solidFill>
            <a:schemeClr val="bg2"/>
          </a:solidFill>
          <a:ln w="12700">
            <a:solidFill>
              <a:schemeClr val="bg2"/>
            </a:solidFill>
            <a:prstDash val="solid"/>
          </a:ln>
        </p:spPr>
      </p:sp>
      <p:sp>
        <p:nvSpPr>
          <p:cNvPr id="5" name="Arch 1 circle"/>
          <p:cNvSpPr/>
          <p:nvPr/>
        </p:nvSpPr>
        <p:spPr>
          <a:xfrm>
            <a:off x="1168878" y="1737360"/>
            <a:ext cx="685800" cy="685800"/>
          </a:xfrm>
          <a:prstGeom prst="ellipse">
            <a:avLst/>
          </a:prstGeom>
          <a:solidFill>
            <a:schemeClr val="accent1"/>
          </a:solidFill>
          <a:ln w="12700">
            <a:solidFill>
              <a:schemeClr val="accent1"/>
            </a:solidFill>
            <a:prstDash val="solid"/>
          </a:ln>
        </p:spPr>
      </p:sp>
      <p:pic>
        <p:nvPicPr>
          <p:cNvPr id="6" name="Arch 1 icon" descr="preencoded.png">    </p:cNvPr>
          <p:cNvPicPr>
            <a:picLocks noChangeAspect="1"/>
          </p:cNvPicPr>
          <p:nvPr/>
        </p:nvPicPr>
        <p:blipFill>
          <a:blip r:embed="rId1"/>
          <a:stretch>
            <a:fillRect/>
          </a:stretch>
        </p:blipFill>
        <p:spPr>
          <a:xfrm>
            <a:off x="1347186" y="1915668"/>
            <a:ext cx="329184" cy="329184"/>
          </a:xfrm>
          <a:prstGeom prst="rect">
            <a:avLst/>
          </a:prstGeom>
        </p:spPr>
      </p:pic>
      <p:sp>
        <p:nvSpPr>
          <p:cNvPr id="7" name="Arch title 1"/>
          <p:cNvSpPr txBox="1"/>
          <p:nvPr/>
        </p:nvSpPr>
        <p:spPr>
          <a:xfrm>
            <a:off x="685800" y="2514600"/>
            <a:ext cx="1651955" cy="365760"/>
          </a:xfrm>
          <a:prstGeom prst="rect">
            <a:avLst/>
          </a:prstGeom>
          <a:noFill/>
          <a:ln/>
        </p:spPr>
        <p:txBody>
          <a:bodyPr wrap="square" lIns="0" tIns="0" rIns="0" bIns="0" rtlCol="0" anchor="t"/>
          <a:lstStyle/>
          <a:p>
            <a:pPr algn="ctr" indent="0" marL="0">
              <a:buNone/>
            </a:pPr>
            <a:r>
              <a:rPr lang="en-US" sz="1700" b="1" dirty="0">
                <a:solidFill>
                  <a:schemeClr val="tx1"/>
                </a:solidFill>
              </a:rPr>
              <a:t>Pick parts</a:t>
            </a:r>
            <a:endParaRPr lang="en-US" sz="1700" dirty="0"/>
          </a:p>
        </p:txBody>
      </p:sp>
      <p:sp>
        <p:nvSpPr>
          <p:cNvPr id="8" name="Arch desc 1"/>
          <p:cNvSpPr txBox="1"/>
          <p:nvPr/>
        </p:nvSpPr>
        <p:spPr>
          <a:xfrm>
            <a:off x="685800" y="2880360"/>
            <a:ext cx="1651955" cy="594360"/>
          </a:xfrm>
          <a:prstGeom prst="rect">
            <a:avLst/>
          </a:prstGeom>
          <a:noFill/>
          <a:ln/>
        </p:spPr>
        <p:txBody>
          <a:bodyPr wrap="square" lIns="0" tIns="0" rIns="0" bIns="0" rtlCol="0" anchor="t"/>
          <a:lstStyle/>
          <a:p>
            <a:pPr algn="ctr" indent="0" marL="0">
              <a:buNone/>
            </a:pPr>
            <a:r>
              <a:rPr lang="en-US" sz="1300" dirty="0">
                <a:solidFill>
                  <a:schemeClr val="tx2"/>
                </a:solidFill>
              </a:rPr>
              <a:t>Streamlit web UI (app.py)</a:t>
            </a:r>
            <a:endParaRPr lang="en-US" sz="1300" dirty="0"/>
          </a:p>
        </p:txBody>
      </p:sp>
      <p:sp>
        <p:nvSpPr>
          <p:cNvPr id="9" name="Arch arrow 1"/>
          <p:cNvSpPr/>
          <p:nvPr/>
        </p:nvSpPr>
        <p:spPr>
          <a:xfrm rot="5400000">
            <a:off x="2566355" y="2377440"/>
            <a:ext cx="182880" cy="256032"/>
          </a:xfrm>
          <a:prstGeom prst="triangle">
            <a:avLst/>
          </a:prstGeom>
          <a:solidFill>
            <a:schemeClr val="accent4"/>
          </a:solidFill>
          <a:ln w="12700">
            <a:solidFill>
              <a:schemeClr val="accent4"/>
            </a:solidFill>
            <a:prstDash val="solid"/>
          </a:ln>
        </p:spPr>
      </p:sp>
      <p:sp>
        <p:nvSpPr>
          <p:cNvPr id="10" name="Arch card 2"/>
          <p:cNvSpPr/>
          <p:nvPr/>
        </p:nvSpPr>
        <p:spPr>
          <a:xfrm>
            <a:off x="2840675" y="1508760"/>
            <a:ext cx="1926275" cy="2011680"/>
          </a:xfrm>
          <a:prstGeom prst="roundRect">
            <a:avLst>
              <a:gd name="adj" fmla="val 3798"/>
            </a:avLst>
          </a:prstGeom>
          <a:solidFill>
            <a:schemeClr val="bg2"/>
          </a:solidFill>
          <a:ln w="12700">
            <a:solidFill>
              <a:schemeClr val="bg2"/>
            </a:solidFill>
            <a:prstDash val="solid"/>
          </a:ln>
        </p:spPr>
      </p:sp>
      <p:sp>
        <p:nvSpPr>
          <p:cNvPr id="11" name="Arch 2 circle"/>
          <p:cNvSpPr/>
          <p:nvPr/>
        </p:nvSpPr>
        <p:spPr>
          <a:xfrm>
            <a:off x="3460913" y="1737360"/>
            <a:ext cx="685800" cy="685800"/>
          </a:xfrm>
          <a:prstGeom prst="ellipse">
            <a:avLst/>
          </a:prstGeom>
          <a:solidFill>
            <a:schemeClr val="accent1"/>
          </a:solidFill>
          <a:ln w="12700">
            <a:solidFill>
              <a:schemeClr val="accent1"/>
            </a:solidFill>
            <a:prstDash val="solid"/>
          </a:ln>
        </p:spPr>
      </p:sp>
      <p:pic>
        <p:nvPicPr>
          <p:cNvPr id="12" name="Arch 2 icon" descr="preencoded.png">    </p:cNvPr>
          <p:cNvPicPr>
            <a:picLocks noChangeAspect="1"/>
          </p:cNvPicPr>
          <p:nvPr/>
        </p:nvPicPr>
        <p:blipFill>
          <a:blip r:embed="rId2"/>
          <a:stretch>
            <a:fillRect/>
          </a:stretch>
        </p:blipFill>
        <p:spPr>
          <a:xfrm>
            <a:off x="3639221" y="1915668"/>
            <a:ext cx="329184" cy="329184"/>
          </a:xfrm>
          <a:prstGeom prst="rect">
            <a:avLst/>
          </a:prstGeom>
        </p:spPr>
      </p:pic>
      <p:sp>
        <p:nvSpPr>
          <p:cNvPr id="13" name="Arch title 2"/>
          <p:cNvSpPr txBox="1"/>
          <p:nvPr/>
        </p:nvSpPr>
        <p:spPr>
          <a:xfrm>
            <a:off x="2977835" y="2514600"/>
            <a:ext cx="1651955" cy="365760"/>
          </a:xfrm>
          <a:prstGeom prst="rect">
            <a:avLst/>
          </a:prstGeom>
          <a:noFill/>
          <a:ln/>
        </p:spPr>
        <p:txBody>
          <a:bodyPr wrap="square" lIns="0" tIns="0" rIns="0" bIns="0" rtlCol="0" anchor="t"/>
          <a:lstStyle/>
          <a:p>
            <a:pPr algn="ctr" indent="0" marL="0">
              <a:buNone/>
            </a:pPr>
            <a:r>
              <a:rPr lang="en-US" sz="1700" b="1" dirty="0">
                <a:solidFill>
                  <a:schemeClr val="tx1"/>
                </a:solidFill>
              </a:rPr>
              <a:t>Filter &amp; check</a:t>
            </a:r>
            <a:endParaRPr lang="en-US" sz="1700" dirty="0"/>
          </a:p>
        </p:txBody>
      </p:sp>
      <p:sp>
        <p:nvSpPr>
          <p:cNvPr id="14" name="Arch desc 2"/>
          <p:cNvSpPr txBox="1"/>
          <p:nvPr/>
        </p:nvSpPr>
        <p:spPr>
          <a:xfrm>
            <a:off x="2977835" y="2880360"/>
            <a:ext cx="1651955" cy="594360"/>
          </a:xfrm>
          <a:prstGeom prst="rect">
            <a:avLst/>
          </a:prstGeom>
          <a:noFill/>
          <a:ln/>
        </p:spPr>
        <p:txBody>
          <a:bodyPr wrap="square" lIns="0" tIns="0" rIns="0" bIns="0" rtlCol="0" anchor="t"/>
          <a:lstStyle/>
          <a:p>
            <a:pPr algn="ctr" indent="0" marL="0">
              <a:buNone/>
            </a:pPr>
            <a:r>
              <a:rPr lang="en-US" sz="1300" dirty="0">
                <a:solidFill>
                  <a:schemeClr val="tx2"/>
                </a:solidFill>
              </a:rPr>
              <a:t>222-part catalog + compatibility rules</a:t>
            </a:r>
            <a:endParaRPr lang="en-US" sz="1300" dirty="0"/>
          </a:p>
        </p:txBody>
      </p:sp>
      <p:sp>
        <p:nvSpPr>
          <p:cNvPr id="15" name="Arch arrow 2"/>
          <p:cNvSpPr/>
          <p:nvPr/>
        </p:nvSpPr>
        <p:spPr>
          <a:xfrm rot="5400000">
            <a:off x="4858390" y="2377440"/>
            <a:ext cx="182880" cy="256032"/>
          </a:xfrm>
          <a:prstGeom prst="triangle">
            <a:avLst/>
          </a:prstGeom>
          <a:solidFill>
            <a:schemeClr val="accent4"/>
          </a:solidFill>
          <a:ln w="12700">
            <a:solidFill>
              <a:schemeClr val="accent4"/>
            </a:solidFill>
            <a:prstDash val="solid"/>
          </a:ln>
        </p:spPr>
      </p:sp>
      <p:sp>
        <p:nvSpPr>
          <p:cNvPr id="16" name="Arch card 3"/>
          <p:cNvSpPr/>
          <p:nvPr/>
        </p:nvSpPr>
        <p:spPr>
          <a:xfrm>
            <a:off x="5132710" y="1508760"/>
            <a:ext cx="1926275" cy="2011680"/>
          </a:xfrm>
          <a:prstGeom prst="roundRect">
            <a:avLst>
              <a:gd name="adj" fmla="val 3798"/>
            </a:avLst>
          </a:prstGeom>
          <a:solidFill>
            <a:schemeClr val="bg2"/>
          </a:solidFill>
          <a:ln w="12700">
            <a:solidFill>
              <a:schemeClr val="bg2"/>
            </a:solidFill>
            <a:prstDash val="solid"/>
          </a:ln>
        </p:spPr>
      </p:sp>
      <p:sp>
        <p:nvSpPr>
          <p:cNvPr id="17" name="Arch 3 circle"/>
          <p:cNvSpPr/>
          <p:nvPr/>
        </p:nvSpPr>
        <p:spPr>
          <a:xfrm>
            <a:off x="5752948" y="1737360"/>
            <a:ext cx="685800" cy="685800"/>
          </a:xfrm>
          <a:prstGeom prst="ellipse">
            <a:avLst/>
          </a:prstGeom>
          <a:solidFill>
            <a:schemeClr val="accent1"/>
          </a:solidFill>
          <a:ln w="12700">
            <a:solidFill>
              <a:schemeClr val="accent1"/>
            </a:solidFill>
            <a:prstDash val="solid"/>
          </a:ln>
        </p:spPr>
      </p:sp>
      <p:pic>
        <p:nvPicPr>
          <p:cNvPr id="18" name="Arch 3 icon" descr="preencoded.png">    </p:cNvPr>
          <p:cNvPicPr>
            <a:picLocks noChangeAspect="1"/>
          </p:cNvPicPr>
          <p:nvPr/>
        </p:nvPicPr>
        <p:blipFill>
          <a:blip r:embed="rId3"/>
          <a:stretch>
            <a:fillRect/>
          </a:stretch>
        </p:blipFill>
        <p:spPr>
          <a:xfrm>
            <a:off x="5931256" y="1915668"/>
            <a:ext cx="329184" cy="329184"/>
          </a:xfrm>
          <a:prstGeom prst="rect">
            <a:avLst/>
          </a:prstGeom>
        </p:spPr>
      </p:pic>
      <p:sp>
        <p:nvSpPr>
          <p:cNvPr id="19" name="Arch title 3"/>
          <p:cNvSpPr txBox="1"/>
          <p:nvPr/>
        </p:nvSpPr>
        <p:spPr>
          <a:xfrm>
            <a:off x="5269870" y="2514600"/>
            <a:ext cx="1651955" cy="365760"/>
          </a:xfrm>
          <a:prstGeom prst="rect">
            <a:avLst/>
          </a:prstGeom>
          <a:noFill/>
          <a:ln/>
        </p:spPr>
        <p:txBody>
          <a:bodyPr wrap="square" lIns="0" tIns="0" rIns="0" bIns="0" rtlCol="0" anchor="t"/>
          <a:lstStyle/>
          <a:p>
            <a:pPr algn="ctr" indent="0" marL="0">
              <a:buNone/>
            </a:pPr>
            <a:r>
              <a:rPr lang="en-US" sz="1700" b="1" dirty="0">
                <a:solidFill>
                  <a:schemeClr val="tx1"/>
                </a:solidFill>
              </a:rPr>
              <a:t>Map to inputs</a:t>
            </a:r>
            <a:endParaRPr lang="en-US" sz="1700" dirty="0"/>
          </a:p>
        </p:txBody>
      </p:sp>
      <p:sp>
        <p:nvSpPr>
          <p:cNvPr id="20" name="Arch desc 3"/>
          <p:cNvSpPr txBox="1"/>
          <p:nvPr/>
        </p:nvSpPr>
        <p:spPr>
          <a:xfrm>
            <a:off x="5269870" y="2880360"/>
            <a:ext cx="1651955" cy="594360"/>
          </a:xfrm>
          <a:prstGeom prst="rect">
            <a:avLst/>
          </a:prstGeom>
          <a:noFill/>
          <a:ln/>
        </p:spPr>
        <p:txBody>
          <a:bodyPr wrap="square" lIns="0" tIns="0" rIns="0" bIns="0" rtlCol="0" anchor="t"/>
          <a:lstStyle/>
          <a:p>
            <a:pPr algn="ctr" indent="0" marL="0">
              <a:buNone/>
            </a:pPr>
            <a:r>
              <a:rPr lang="en-US" sz="1300" dirty="0">
                <a:solidFill>
                  <a:schemeClr val="tx2"/>
                </a:solidFill>
              </a:rPr>
              <a:t>8 model attributes + estimated temperature</a:t>
            </a:r>
            <a:endParaRPr lang="en-US" sz="1300" dirty="0"/>
          </a:p>
        </p:txBody>
      </p:sp>
      <p:sp>
        <p:nvSpPr>
          <p:cNvPr id="21" name="Arch arrow 3"/>
          <p:cNvSpPr/>
          <p:nvPr/>
        </p:nvSpPr>
        <p:spPr>
          <a:xfrm rot="5400000">
            <a:off x="7150425" y="2377440"/>
            <a:ext cx="182880" cy="256032"/>
          </a:xfrm>
          <a:prstGeom prst="triangle">
            <a:avLst/>
          </a:prstGeom>
          <a:solidFill>
            <a:schemeClr val="accent4"/>
          </a:solidFill>
          <a:ln w="12700">
            <a:solidFill>
              <a:schemeClr val="accent4"/>
            </a:solidFill>
            <a:prstDash val="solid"/>
          </a:ln>
        </p:spPr>
      </p:sp>
      <p:sp>
        <p:nvSpPr>
          <p:cNvPr id="22" name="Arch card 4"/>
          <p:cNvSpPr/>
          <p:nvPr/>
        </p:nvSpPr>
        <p:spPr>
          <a:xfrm>
            <a:off x="7424745" y="1508760"/>
            <a:ext cx="1926275" cy="2011680"/>
          </a:xfrm>
          <a:prstGeom prst="roundRect">
            <a:avLst>
              <a:gd name="adj" fmla="val 3798"/>
            </a:avLst>
          </a:prstGeom>
          <a:solidFill>
            <a:schemeClr val="accent1"/>
          </a:solidFill>
          <a:ln w="12700">
            <a:solidFill>
              <a:schemeClr val="accent1"/>
            </a:solidFill>
            <a:prstDash val="solid"/>
          </a:ln>
        </p:spPr>
      </p:sp>
      <p:sp>
        <p:nvSpPr>
          <p:cNvPr id="23" name="Arch 4 circle"/>
          <p:cNvSpPr/>
          <p:nvPr/>
        </p:nvSpPr>
        <p:spPr>
          <a:xfrm>
            <a:off x="8044983" y="1737360"/>
            <a:ext cx="685800" cy="685800"/>
          </a:xfrm>
          <a:prstGeom prst="ellipse">
            <a:avLst/>
          </a:prstGeom>
          <a:solidFill>
            <a:schemeClr val="tx1"/>
          </a:solidFill>
          <a:ln w="12700">
            <a:solidFill>
              <a:schemeClr val="tx1"/>
            </a:solidFill>
            <a:prstDash val="solid"/>
          </a:ln>
        </p:spPr>
      </p:sp>
      <p:pic>
        <p:nvPicPr>
          <p:cNvPr id="24" name="Arch 4 icon" descr="preencoded.png">    </p:cNvPr>
          <p:cNvPicPr>
            <a:picLocks noChangeAspect="1"/>
          </p:cNvPicPr>
          <p:nvPr/>
        </p:nvPicPr>
        <p:blipFill>
          <a:blip r:embed="rId4"/>
          <a:stretch>
            <a:fillRect/>
          </a:stretch>
        </p:blipFill>
        <p:spPr>
          <a:xfrm>
            <a:off x="8223291" y="1915668"/>
            <a:ext cx="329184" cy="329184"/>
          </a:xfrm>
          <a:prstGeom prst="rect">
            <a:avLst/>
          </a:prstGeom>
        </p:spPr>
      </p:pic>
      <p:sp>
        <p:nvSpPr>
          <p:cNvPr id="25" name="Arch title 4"/>
          <p:cNvSpPr txBox="1"/>
          <p:nvPr/>
        </p:nvSpPr>
        <p:spPr>
          <a:xfrm>
            <a:off x="7561905" y="2514600"/>
            <a:ext cx="1651955" cy="365760"/>
          </a:xfrm>
          <a:prstGeom prst="rect">
            <a:avLst/>
          </a:prstGeom>
          <a:noFill/>
          <a:ln/>
        </p:spPr>
        <p:txBody>
          <a:bodyPr wrap="square" lIns="0" tIns="0" rIns="0" bIns="0" rtlCol="0" anchor="t"/>
          <a:lstStyle/>
          <a:p>
            <a:pPr algn="ctr" indent="0" marL="0">
              <a:buNone/>
            </a:pPr>
            <a:r>
              <a:rPr lang="en-US" sz="1700" b="1" dirty="0">
                <a:solidFill>
                  <a:schemeClr val="bg1"/>
                </a:solidFill>
              </a:rPr>
              <a:t>ML model</a:t>
            </a:r>
            <a:endParaRPr lang="en-US" sz="1700" dirty="0"/>
          </a:p>
        </p:txBody>
      </p:sp>
      <p:sp>
        <p:nvSpPr>
          <p:cNvPr id="26" name="Arch desc 4"/>
          <p:cNvSpPr txBox="1"/>
          <p:nvPr/>
        </p:nvSpPr>
        <p:spPr>
          <a:xfrm>
            <a:off x="7561905" y="2880360"/>
            <a:ext cx="1651955" cy="594360"/>
          </a:xfrm>
          <a:prstGeom prst="rect">
            <a:avLst/>
          </a:prstGeom>
          <a:noFill/>
          <a:ln/>
        </p:spPr>
        <p:txBody>
          <a:bodyPr wrap="square" lIns="0" tIns="0" rIns="0" bIns="0" rtlCol="0" anchor="t"/>
          <a:lstStyle/>
          <a:p>
            <a:pPr algn="ctr" indent="0" marL="0">
              <a:buNone/>
            </a:pPr>
            <a:r>
              <a:rPr lang="en-US" sz="1300" dirty="0">
                <a:solidFill>
                  <a:schemeClr val="bg1"/>
                </a:solidFill>
              </a:rPr>
              <a:t>Saved Linear Regression pipeline</a:t>
            </a:r>
            <a:endParaRPr lang="en-US" sz="1300" dirty="0"/>
          </a:p>
        </p:txBody>
      </p:sp>
      <p:sp>
        <p:nvSpPr>
          <p:cNvPr id="27" name="Arch arrow 4"/>
          <p:cNvSpPr/>
          <p:nvPr/>
        </p:nvSpPr>
        <p:spPr>
          <a:xfrm rot="5400000">
            <a:off x="9442460" y="2377440"/>
            <a:ext cx="182880" cy="256032"/>
          </a:xfrm>
          <a:prstGeom prst="triangle">
            <a:avLst/>
          </a:prstGeom>
          <a:solidFill>
            <a:schemeClr val="accent4"/>
          </a:solidFill>
          <a:ln w="12700">
            <a:solidFill>
              <a:schemeClr val="accent4"/>
            </a:solidFill>
            <a:prstDash val="solid"/>
          </a:ln>
        </p:spPr>
      </p:sp>
      <p:sp>
        <p:nvSpPr>
          <p:cNvPr id="28" name="Arch card 5"/>
          <p:cNvSpPr/>
          <p:nvPr/>
        </p:nvSpPr>
        <p:spPr>
          <a:xfrm>
            <a:off x="9716780" y="1508760"/>
            <a:ext cx="1926275" cy="2011680"/>
          </a:xfrm>
          <a:prstGeom prst="roundRect">
            <a:avLst>
              <a:gd name="adj" fmla="val 3798"/>
            </a:avLst>
          </a:prstGeom>
          <a:solidFill>
            <a:schemeClr val="bg2"/>
          </a:solidFill>
          <a:ln w="12700">
            <a:solidFill>
              <a:schemeClr val="bg2"/>
            </a:solidFill>
            <a:prstDash val="solid"/>
          </a:ln>
        </p:spPr>
      </p:sp>
      <p:sp>
        <p:nvSpPr>
          <p:cNvPr id="29" name="Arch 5 circle"/>
          <p:cNvSpPr/>
          <p:nvPr/>
        </p:nvSpPr>
        <p:spPr>
          <a:xfrm>
            <a:off x="10337018" y="1737360"/>
            <a:ext cx="685800" cy="685800"/>
          </a:xfrm>
          <a:prstGeom prst="ellipse">
            <a:avLst/>
          </a:prstGeom>
          <a:solidFill>
            <a:schemeClr val="accent1"/>
          </a:solidFill>
          <a:ln w="12700">
            <a:solidFill>
              <a:schemeClr val="accent1"/>
            </a:solidFill>
            <a:prstDash val="solid"/>
          </a:ln>
        </p:spPr>
      </p:sp>
      <p:pic>
        <p:nvPicPr>
          <p:cNvPr id="30" name="Arch 5 icon" descr="preencoded.png">    </p:cNvPr>
          <p:cNvPicPr>
            <a:picLocks noChangeAspect="1"/>
          </p:cNvPicPr>
          <p:nvPr/>
        </p:nvPicPr>
        <p:blipFill>
          <a:blip r:embed="rId5"/>
          <a:stretch>
            <a:fillRect/>
          </a:stretch>
        </p:blipFill>
        <p:spPr>
          <a:xfrm>
            <a:off x="10515326" y="1915668"/>
            <a:ext cx="329184" cy="329184"/>
          </a:xfrm>
          <a:prstGeom prst="rect">
            <a:avLst/>
          </a:prstGeom>
        </p:spPr>
      </p:pic>
      <p:sp>
        <p:nvSpPr>
          <p:cNvPr id="31" name="Arch title 5"/>
          <p:cNvSpPr txBox="1"/>
          <p:nvPr/>
        </p:nvSpPr>
        <p:spPr>
          <a:xfrm>
            <a:off x="9853940" y="2514600"/>
            <a:ext cx="1651955" cy="365760"/>
          </a:xfrm>
          <a:prstGeom prst="rect">
            <a:avLst/>
          </a:prstGeom>
          <a:noFill/>
          <a:ln/>
        </p:spPr>
        <p:txBody>
          <a:bodyPr wrap="square" lIns="0" tIns="0" rIns="0" bIns="0" rtlCol="0" anchor="t"/>
          <a:lstStyle/>
          <a:p>
            <a:pPr algn="ctr" indent="0" marL="0">
              <a:buNone/>
            </a:pPr>
            <a:r>
              <a:rPr lang="en-US" sz="1700" b="1" dirty="0">
                <a:solidFill>
                  <a:schemeClr val="tx1"/>
                </a:solidFill>
              </a:rPr>
              <a:t>Live score</a:t>
            </a:r>
            <a:endParaRPr lang="en-US" sz="1700" dirty="0"/>
          </a:p>
        </p:txBody>
      </p:sp>
      <p:sp>
        <p:nvSpPr>
          <p:cNvPr id="32" name="Arch desc 5"/>
          <p:cNvSpPr txBox="1"/>
          <p:nvPr/>
        </p:nvSpPr>
        <p:spPr>
          <a:xfrm>
            <a:off x="9853940" y="2880360"/>
            <a:ext cx="1651955" cy="594360"/>
          </a:xfrm>
          <a:prstGeom prst="rect">
            <a:avLst/>
          </a:prstGeom>
          <a:noFill/>
          <a:ln/>
        </p:spPr>
        <p:txBody>
          <a:bodyPr wrap="square" lIns="0" tIns="0" rIns="0" bIns="0" rtlCol="0" anchor="t"/>
          <a:lstStyle/>
          <a:p>
            <a:pPr algn="ctr" indent="0" marL="0">
              <a:buNone/>
            </a:pPr>
            <a:r>
              <a:rPr lang="en-US" sz="1300" dirty="0">
                <a:solidFill>
                  <a:schemeClr val="tx2"/>
                </a:solidFill>
              </a:rPr>
              <a:t>0-1000 with change indicator</a:t>
            </a:r>
            <a:endParaRPr lang="en-US" sz="1300" dirty="0"/>
          </a:p>
        </p:txBody>
      </p:sp>
      <p:sp>
        <p:nvSpPr>
          <p:cNvPr id="33" name="Side connector 1"/>
          <p:cNvSpPr/>
          <p:nvPr/>
        </p:nvSpPr>
        <p:spPr>
          <a:xfrm>
            <a:off x="6095848" y="3520440"/>
            <a:ext cx="0" cy="822960"/>
          </a:xfrm>
          <a:prstGeom prst="line">
            <a:avLst/>
          </a:prstGeom>
          <a:noFill/>
          <a:ln w="19050">
            <a:solidFill>
              <a:schemeClr val="accent4"/>
            </a:solidFill>
            <a:prstDash val="solid"/>
            <a:tailEnd type="triangle"/>
          </a:ln>
        </p:spPr>
      </p:sp>
      <p:sp>
        <p:nvSpPr>
          <p:cNvPr id="34" name="Side card 1"/>
          <p:cNvSpPr/>
          <p:nvPr/>
        </p:nvSpPr>
        <p:spPr>
          <a:xfrm>
            <a:off x="1645920" y="4343400"/>
            <a:ext cx="4572000" cy="1463040"/>
          </a:xfrm>
          <a:prstGeom prst="roundRect">
            <a:avLst>
              <a:gd name="adj" fmla="val 5000"/>
            </a:avLst>
          </a:prstGeom>
          <a:solidFill>
            <a:schemeClr val="bg2"/>
          </a:solidFill>
          <a:ln w="12700">
            <a:solidFill>
              <a:schemeClr val="bg2"/>
            </a:solidFill>
            <a:prstDash val="solid"/>
          </a:ln>
        </p:spPr>
      </p:sp>
      <p:sp>
        <p:nvSpPr>
          <p:cNvPr id="35" name="Side 1 circle"/>
          <p:cNvSpPr/>
          <p:nvPr/>
        </p:nvSpPr>
        <p:spPr>
          <a:xfrm>
            <a:off x="1920240" y="4727448"/>
            <a:ext cx="685800" cy="685800"/>
          </a:xfrm>
          <a:prstGeom prst="ellipse">
            <a:avLst/>
          </a:prstGeom>
          <a:solidFill>
            <a:schemeClr val="accent2"/>
          </a:solidFill>
          <a:ln w="12700">
            <a:solidFill>
              <a:schemeClr val="accent2"/>
            </a:solidFill>
            <a:prstDash val="solid"/>
          </a:ln>
        </p:spPr>
      </p:sp>
      <p:pic>
        <p:nvPicPr>
          <p:cNvPr id="36" name="Side 1 icon" descr="preencoded.png">    </p:cNvPr>
          <p:cNvPicPr>
            <a:picLocks noChangeAspect="1"/>
          </p:cNvPicPr>
          <p:nvPr/>
        </p:nvPicPr>
        <p:blipFill>
          <a:blip r:embed="rId6"/>
          <a:stretch>
            <a:fillRect/>
          </a:stretch>
        </p:blipFill>
        <p:spPr>
          <a:xfrm>
            <a:off x="2098548" y="4905756"/>
            <a:ext cx="329184" cy="329184"/>
          </a:xfrm>
          <a:prstGeom prst="rect">
            <a:avLst/>
          </a:prstGeom>
        </p:spPr>
      </p:pic>
      <p:sp>
        <p:nvSpPr>
          <p:cNvPr id="37" name="Side title 1"/>
          <p:cNvSpPr txBox="1"/>
          <p:nvPr/>
        </p:nvSpPr>
        <p:spPr>
          <a:xfrm>
            <a:off x="2834640" y="4572000"/>
            <a:ext cx="3154680" cy="365760"/>
          </a:xfrm>
          <a:prstGeom prst="rect">
            <a:avLst/>
          </a:prstGeom>
          <a:noFill/>
          <a:ln/>
        </p:spPr>
        <p:txBody>
          <a:bodyPr wrap="square" lIns="0" tIns="0" rIns="0" bIns="0" rtlCol="0" anchor="t"/>
          <a:lstStyle/>
          <a:p>
            <a:pPr indent="0" marL="0">
              <a:buNone/>
            </a:pPr>
            <a:r>
              <a:rPr lang="en-US" sz="1700" b="1" dirty="0">
                <a:solidFill>
                  <a:schemeClr val="tx1"/>
                </a:solidFill>
              </a:rPr>
              <a:t>Game FPS estimator</a:t>
            </a:r>
            <a:endParaRPr lang="en-US" sz="1700" dirty="0"/>
          </a:p>
        </p:txBody>
      </p:sp>
      <p:sp>
        <p:nvSpPr>
          <p:cNvPr id="38" name="Side desc 1"/>
          <p:cNvSpPr txBox="1"/>
          <p:nvPr/>
        </p:nvSpPr>
        <p:spPr>
          <a:xfrm>
            <a:off x="2834640" y="4965192"/>
            <a:ext cx="3154680" cy="731520"/>
          </a:xfrm>
          <a:prstGeom prst="rect">
            <a:avLst/>
          </a:prstGeom>
          <a:noFill/>
          <a:ln/>
        </p:spPr>
        <p:txBody>
          <a:bodyPr wrap="square" lIns="0" tIns="0" rIns="0" bIns="0" rtlCol="0" anchor="t"/>
          <a:lstStyle/>
          <a:p>
            <a:pPr indent="0" marL="0">
              <a:buNone/>
            </a:pPr>
            <a:r>
              <a:rPr lang="en-US" sz="1300" dirty="0">
                <a:solidFill>
                  <a:schemeClr val="tx2"/>
                </a:solidFill>
              </a:rPr>
              <a:t>fps.py: 12 games at 1080p, 1440p and 4K from GPU and CPU gaming ratings</a:t>
            </a:r>
            <a:endParaRPr lang="en-US" sz="1300" dirty="0"/>
          </a:p>
        </p:txBody>
      </p:sp>
      <p:sp>
        <p:nvSpPr>
          <p:cNvPr id="39" name="Side connector 2"/>
          <p:cNvSpPr/>
          <p:nvPr/>
        </p:nvSpPr>
        <p:spPr>
          <a:xfrm>
            <a:off x="10679918" y="3520440"/>
            <a:ext cx="0" cy="822960"/>
          </a:xfrm>
          <a:prstGeom prst="line">
            <a:avLst/>
          </a:prstGeom>
          <a:noFill/>
          <a:ln w="19050">
            <a:solidFill>
              <a:schemeClr val="accent4"/>
            </a:solidFill>
            <a:prstDash val="solid"/>
            <a:tailEnd type="triangle"/>
          </a:ln>
        </p:spPr>
      </p:sp>
      <p:sp>
        <p:nvSpPr>
          <p:cNvPr id="40" name="Side card 2"/>
          <p:cNvSpPr/>
          <p:nvPr/>
        </p:nvSpPr>
        <p:spPr>
          <a:xfrm>
            <a:off x="6400800" y="4343400"/>
            <a:ext cx="4572000" cy="1463040"/>
          </a:xfrm>
          <a:prstGeom prst="roundRect">
            <a:avLst>
              <a:gd name="adj" fmla="val 5000"/>
            </a:avLst>
          </a:prstGeom>
          <a:solidFill>
            <a:schemeClr val="bg2"/>
          </a:solidFill>
          <a:ln w="12700">
            <a:solidFill>
              <a:schemeClr val="bg2"/>
            </a:solidFill>
            <a:prstDash val="solid"/>
          </a:ln>
        </p:spPr>
      </p:sp>
      <p:sp>
        <p:nvSpPr>
          <p:cNvPr id="41" name="Side 2 circle"/>
          <p:cNvSpPr/>
          <p:nvPr/>
        </p:nvSpPr>
        <p:spPr>
          <a:xfrm>
            <a:off x="6675120" y="4727448"/>
            <a:ext cx="685800" cy="685800"/>
          </a:xfrm>
          <a:prstGeom prst="ellipse">
            <a:avLst/>
          </a:prstGeom>
          <a:solidFill>
            <a:schemeClr val="accent2"/>
          </a:solidFill>
          <a:ln w="12700">
            <a:solidFill>
              <a:schemeClr val="accent2"/>
            </a:solidFill>
            <a:prstDash val="solid"/>
          </a:ln>
        </p:spPr>
      </p:sp>
      <p:pic>
        <p:nvPicPr>
          <p:cNvPr id="42" name="Side 2 icon" descr="preencoded.png">    </p:cNvPr>
          <p:cNvPicPr>
            <a:picLocks noChangeAspect="1"/>
          </p:cNvPicPr>
          <p:nvPr/>
        </p:nvPicPr>
        <p:blipFill>
          <a:blip r:embed="rId7"/>
          <a:stretch>
            <a:fillRect/>
          </a:stretch>
        </p:blipFill>
        <p:spPr>
          <a:xfrm>
            <a:off x="6853428" y="4905756"/>
            <a:ext cx="329184" cy="329184"/>
          </a:xfrm>
          <a:prstGeom prst="rect">
            <a:avLst/>
          </a:prstGeom>
        </p:spPr>
      </p:pic>
      <p:sp>
        <p:nvSpPr>
          <p:cNvPr id="43" name="Side title 2"/>
          <p:cNvSpPr txBox="1"/>
          <p:nvPr/>
        </p:nvSpPr>
        <p:spPr>
          <a:xfrm>
            <a:off x="7589520" y="4572000"/>
            <a:ext cx="3154680" cy="365760"/>
          </a:xfrm>
          <a:prstGeom prst="rect">
            <a:avLst/>
          </a:prstGeom>
          <a:noFill/>
          <a:ln/>
        </p:spPr>
        <p:txBody>
          <a:bodyPr wrap="square" lIns="0" tIns="0" rIns="0" bIns="0" rtlCol="0" anchor="t"/>
          <a:lstStyle/>
          <a:p>
            <a:pPr indent="0" marL="0">
              <a:buNone/>
            </a:pPr>
            <a:r>
              <a:rPr lang="en-US" sz="1700" b="1" dirty="0">
                <a:solidFill>
                  <a:schemeClr val="tx1"/>
                </a:solidFill>
              </a:rPr>
              <a:t>Excel report</a:t>
            </a:r>
            <a:endParaRPr lang="en-US" sz="1700" dirty="0"/>
          </a:p>
        </p:txBody>
      </p:sp>
      <p:sp>
        <p:nvSpPr>
          <p:cNvPr id="44" name="Side desc 2"/>
          <p:cNvSpPr txBox="1"/>
          <p:nvPr/>
        </p:nvSpPr>
        <p:spPr>
          <a:xfrm>
            <a:off x="7589520" y="4965192"/>
            <a:ext cx="3154680" cy="731520"/>
          </a:xfrm>
          <a:prstGeom prst="rect">
            <a:avLst/>
          </a:prstGeom>
          <a:noFill/>
          <a:ln/>
        </p:spPr>
        <p:txBody>
          <a:bodyPr wrap="square" lIns="0" tIns="0" rIns="0" bIns="0" rtlCol="0" anchor="t"/>
          <a:lstStyle/>
          <a:p>
            <a:pPr indent="0" marL="0">
              <a:buNone/>
            </a:pPr>
            <a:r>
              <a:rPr lang="en-US" sz="1300" dirty="0">
                <a:solidFill>
                  <a:schemeClr val="tx2"/>
                </a:solidFill>
              </a:rPr>
              <a:t>export.py: score, parts, FPS and model inputs in a 4-sheet workbook</a:t>
            </a:r>
            <a:endParaRPr lang="en-US" sz="13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Every choice filters the next part</a:t>
            </a:r>
            <a:endParaRPr lang="en-US" sz="3200" dirty="0"/>
          </a:p>
        </p:txBody>
      </p:sp>
      <p:sp>
        <p:nvSpPr>
          <p:cNvPr id="4" name="Chain chip 1"/>
          <p:cNvSpPr/>
          <p:nvPr/>
        </p:nvSpPr>
        <p:spPr>
          <a:xfrm>
            <a:off x="548640" y="1417320"/>
            <a:ext cx="1582369" cy="731520"/>
          </a:xfrm>
          <a:prstGeom prst="roundRect">
            <a:avLst>
              <a:gd name="adj" fmla="val 12500"/>
            </a:avLst>
          </a:prstGeom>
          <a:solidFill>
            <a:schemeClr val="accent1"/>
          </a:solidFill>
          <a:ln w="12700">
            <a:solidFill>
              <a:schemeClr val="accent1"/>
            </a:solidFill>
            <a:prstDash val="solid"/>
          </a:ln>
        </p:spPr>
      </p:sp>
      <p:sp>
        <p:nvSpPr>
          <p:cNvPr id="5" name="Chain text 1"/>
          <p:cNvSpPr txBox="1"/>
          <p:nvPr/>
        </p:nvSpPr>
        <p:spPr>
          <a:xfrm>
            <a:off x="548640" y="1417320"/>
            <a:ext cx="1582369" cy="731520"/>
          </a:xfrm>
          <a:prstGeom prst="rect">
            <a:avLst/>
          </a:prstGeom>
          <a:noFill/>
          <a:ln/>
        </p:spPr>
        <p:txBody>
          <a:bodyPr wrap="square" lIns="0" tIns="0" rIns="0" bIns="0" rtlCol="0" anchor="ctr"/>
          <a:lstStyle/>
          <a:p>
            <a:pPr algn="ctr" indent="0" marL="0">
              <a:buNone/>
            </a:pPr>
            <a:r>
              <a:rPr lang="en-US" sz="1500" b="1" dirty="0">
                <a:solidFill>
                  <a:schemeClr val="bg1"/>
                </a:solidFill>
              </a:rPr>
              <a:t>AMD</a:t>
            </a:r>
            <a:endParaRPr lang="en-US" sz="1500" dirty="0"/>
          </a:p>
        </p:txBody>
      </p:sp>
      <p:sp>
        <p:nvSpPr>
          <p:cNvPr id="6" name="Chain arrow 1"/>
          <p:cNvSpPr/>
          <p:nvPr/>
        </p:nvSpPr>
        <p:spPr>
          <a:xfrm rot="5400000">
            <a:off x="2204161" y="1673352"/>
            <a:ext cx="182880" cy="219456"/>
          </a:xfrm>
          <a:prstGeom prst="triangle">
            <a:avLst/>
          </a:prstGeom>
          <a:solidFill>
            <a:schemeClr val="accent4"/>
          </a:solidFill>
          <a:ln w="12700">
            <a:solidFill>
              <a:schemeClr val="accent4"/>
            </a:solidFill>
            <a:prstDash val="solid"/>
          </a:ln>
        </p:spPr>
      </p:sp>
      <p:sp>
        <p:nvSpPr>
          <p:cNvPr id="7" name="Chain chip 2"/>
          <p:cNvSpPr/>
          <p:nvPr/>
        </p:nvSpPr>
        <p:spPr>
          <a:xfrm>
            <a:off x="2451049" y="1417320"/>
            <a:ext cx="1582369" cy="731520"/>
          </a:xfrm>
          <a:prstGeom prst="roundRect">
            <a:avLst>
              <a:gd name="adj" fmla="val 12500"/>
            </a:avLst>
          </a:prstGeom>
          <a:solidFill>
            <a:schemeClr val="tx1"/>
          </a:solidFill>
          <a:ln w="12700">
            <a:solidFill>
              <a:schemeClr val="tx1"/>
            </a:solidFill>
            <a:prstDash val="solid"/>
          </a:ln>
        </p:spPr>
      </p:sp>
      <p:sp>
        <p:nvSpPr>
          <p:cNvPr id="8" name="Chain text 2"/>
          <p:cNvSpPr txBox="1"/>
          <p:nvPr/>
        </p:nvSpPr>
        <p:spPr>
          <a:xfrm>
            <a:off x="2451049" y="1417320"/>
            <a:ext cx="1582369" cy="731520"/>
          </a:xfrm>
          <a:prstGeom prst="rect">
            <a:avLst/>
          </a:prstGeom>
          <a:noFill/>
          <a:ln/>
        </p:spPr>
        <p:txBody>
          <a:bodyPr wrap="square" lIns="0" tIns="0" rIns="0" bIns="0" rtlCol="0" anchor="ctr"/>
          <a:lstStyle/>
          <a:p>
            <a:pPr algn="ctr" indent="0" marL="0">
              <a:buNone/>
            </a:pPr>
            <a:r>
              <a:rPr lang="en-US" sz="1500" b="1" dirty="0">
                <a:solidFill>
                  <a:schemeClr val="bg1"/>
                </a:solidFill>
              </a:rPr>
              <a:t>Ryzen 7 7800X3D</a:t>
            </a:r>
            <a:endParaRPr lang="en-US" sz="1500" dirty="0"/>
          </a:p>
        </p:txBody>
      </p:sp>
      <p:sp>
        <p:nvSpPr>
          <p:cNvPr id="9" name="Chain arrow 2"/>
          <p:cNvSpPr/>
          <p:nvPr/>
        </p:nvSpPr>
        <p:spPr>
          <a:xfrm rot="5400000">
            <a:off x="4106570" y="1673352"/>
            <a:ext cx="182880" cy="219456"/>
          </a:xfrm>
          <a:prstGeom prst="triangle">
            <a:avLst/>
          </a:prstGeom>
          <a:solidFill>
            <a:schemeClr val="accent4"/>
          </a:solidFill>
          <a:ln w="12700">
            <a:solidFill>
              <a:schemeClr val="accent4"/>
            </a:solidFill>
            <a:prstDash val="solid"/>
          </a:ln>
        </p:spPr>
      </p:sp>
      <p:sp>
        <p:nvSpPr>
          <p:cNvPr id="10" name="Chain chip 3"/>
          <p:cNvSpPr/>
          <p:nvPr/>
        </p:nvSpPr>
        <p:spPr>
          <a:xfrm>
            <a:off x="4353458" y="1417320"/>
            <a:ext cx="1582369" cy="731520"/>
          </a:xfrm>
          <a:prstGeom prst="roundRect">
            <a:avLst>
              <a:gd name="adj" fmla="val 12500"/>
            </a:avLst>
          </a:prstGeom>
          <a:solidFill>
            <a:schemeClr val="accent1"/>
          </a:solidFill>
          <a:ln w="12700">
            <a:solidFill>
              <a:schemeClr val="accent1"/>
            </a:solidFill>
            <a:prstDash val="solid"/>
          </a:ln>
        </p:spPr>
      </p:sp>
      <p:sp>
        <p:nvSpPr>
          <p:cNvPr id="11" name="Chain text 3"/>
          <p:cNvSpPr txBox="1"/>
          <p:nvPr/>
        </p:nvSpPr>
        <p:spPr>
          <a:xfrm>
            <a:off x="4353458" y="1417320"/>
            <a:ext cx="1582369" cy="731520"/>
          </a:xfrm>
          <a:prstGeom prst="rect">
            <a:avLst/>
          </a:prstGeom>
          <a:noFill/>
          <a:ln/>
        </p:spPr>
        <p:txBody>
          <a:bodyPr wrap="square" lIns="0" tIns="0" rIns="0" bIns="0" rtlCol="0" anchor="ctr"/>
          <a:lstStyle/>
          <a:p>
            <a:pPr algn="ctr" indent="0" marL="0">
              <a:buNone/>
            </a:pPr>
            <a:r>
              <a:rPr lang="en-US" sz="1500" b="1" dirty="0">
                <a:solidFill>
                  <a:schemeClr val="bg1"/>
                </a:solidFill>
              </a:rPr>
              <a:t>Socket AM5</a:t>
            </a:r>
            <a:endParaRPr lang="en-US" sz="1500" dirty="0"/>
          </a:p>
        </p:txBody>
      </p:sp>
      <p:sp>
        <p:nvSpPr>
          <p:cNvPr id="12" name="Chain arrow 3"/>
          <p:cNvSpPr/>
          <p:nvPr/>
        </p:nvSpPr>
        <p:spPr>
          <a:xfrm rot="5400000">
            <a:off x="6008980" y="1673352"/>
            <a:ext cx="182880" cy="219456"/>
          </a:xfrm>
          <a:prstGeom prst="triangle">
            <a:avLst/>
          </a:prstGeom>
          <a:solidFill>
            <a:schemeClr val="accent4"/>
          </a:solidFill>
          <a:ln w="12700">
            <a:solidFill>
              <a:schemeClr val="accent4"/>
            </a:solidFill>
            <a:prstDash val="solid"/>
          </a:ln>
        </p:spPr>
      </p:sp>
      <p:sp>
        <p:nvSpPr>
          <p:cNvPr id="13" name="Chain chip 4"/>
          <p:cNvSpPr/>
          <p:nvPr/>
        </p:nvSpPr>
        <p:spPr>
          <a:xfrm>
            <a:off x="6255868" y="1417320"/>
            <a:ext cx="1582369" cy="731520"/>
          </a:xfrm>
          <a:prstGeom prst="roundRect">
            <a:avLst>
              <a:gd name="adj" fmla="val 12500"/>
            </a:avLst>
          </a:prstGeom>
          <a:solidFill>
            <a:schemeClr val="tx1"/>
          </a:solidFill>
          <a:ln w="12700">
            <a:solidFill>
              <a:schemeClr val="tx1"/>
            </a:solidFill>
            <a:prstDash val="solid"/>
          </a:ln>
        </p:spPr>
      </p:sp>
      <p:sp>
        <p:nvSpPr>
          <p:cNvPr id="14" name="Chain text 4"/>
          <p:cNvSpPr txBox="1"/>
          <p:nvPr/>
        </p:nvSpPr>
        <p:spPr>
          <a:xfrm>
            <a:off x="6255868" y="1417320"/>
            <a:ext cx="1582369" cy="731520"/>
          </a:xfrm>
          <a:prstGeom prst="rect">
            <a:avLst/>
          </a:prstGeom>
          <a:noFill/>
          <a:ln/>
        </p:spPr>
        <p:txBody>
          <a:bodyPr wrap="square" lIns="0" tIns="0" rIns="0" bIns="0" rtlCol="0" anchor="ctr"/>
          <a:lstStyle/>
          <a:p>
            <a:pPr algn="ctr" indent="0" marL="0">
              <a:buNone/>
            </a:pPr>
            <a:r>
              <a:rPr lang="en-US" sz="1500" b="1" dirty="0">
                <a:solidFill>
                  <a:schemeClr val="bg1"/>
                </a:solidFill>
              </a:rPr>
              <a:t>9 AM5 boards</a:t>
            </a:r>
            <a:endParaRPr lang="en-US" sz="1500" dirty="0"/>
          </a:p>
        </p:txBody>
      </p:sp>
      <p:sp>
        <p:nvSpPr>
          <p:cNvPr id="15" name="Chain arrow 4"/>
          <p:cNvSpPr/>
          <p:nvPr/>
        </p:nvSpPr>
        <p:spPr>
          <a:xfrm rot="5400000">
            <a:off x="7911389" y="1673352"/>
            <a:ext cx="182880" cy="219456"/>
          </a:xfrm>
          <a:prstGeom prst="triangle">
            <a:avLst/>
          </a:prstGeom>
          <a:solidFill>
            <a:schemeClr val="accent4"/>
          </a:solidFill>
          <a:ln w="12700">
            <a:solidFill>
              <a:schemeClr val="accent4"/>
            </a:solidFill>
            <a:prstDash val="solid"/>
          </a:ln>
        </p:spPr>
      </p:sp>
      <p:sp>
        <p:nvSpPr>
          <p:cNvPr id="16" name="Chain chip 5"/>
          <p:cNvSpPr/>
          <p:nvPr/>
        </p:nvSpPr>
        <p:spPr>
          <a:xfrm>
            <a:off x="8158277" y="1417320"/>
            <a:ext cx="1582369" cy="731520"/>
          </a:xfrm>
          <a:prstGeom prst="roundRect">
            <a:avLst>
              <a:gd name="adj" fmla="val 12500"/>
            </a:avLst>
          </a:prstGeom>
          <a:solidFill>
            <a:schemeClr val="accent1"/>
          </a:solidFill>
          <a:ln w="12700">
            <a:solidFill>
              <a:schemeClr val="accent1"/>
            </a:solidFill>
            <a:prstDash val="solid"/>
          </a:ln>
        </p:spPr>
      </p:sp>
      <p:sp>
        <p:nvSpPr>
          <p:cNvPr id="17" name="Chain text 5"/>
          <p:cNvSpPr txBox="1"/>
          <p:nvPr/>
        </p:nvSpPr>
        <p:spPr>
          <a:xfrm>
            <a:off x="8158277" y="1417320"/>
            <a:ext cx="1582369" cy="731520"/>
          </a:xfrm>
          <a:prstGeom prst="rect">
            <a:avLst/>
          </a:prstGeom>
          <a:noFill/>
          <a:ln/>
        </p:spPr>
        <p:txBody>
          <a:bodyPr wrap="square" lIns="0" tIns="0" rIns="0" bIns="0" rtlCol="0" anchor="ctr"/>
          <a:lstStyle/>
          <a:p>
            <a:pPr algn="ctr" indent="0" marL="0">
              <a:buNone/>
            </a:pPr>
            <a:r>
              <a:rPr lang="en-US" sz="1500" b="1" dirty="0">
                <a:solidFill>
                  <a:schemeClr val="bg1"/>
                </a:solidFill>
              </a:rPr>
              <a:t>DDR5 kits only</a:t>
            </a:r>
            <a:endParaRPr lang="en-US" sz="1500" dirty="0"/>
          </a:p>
        </p:txBody>
      </p:sp>
      <p:sp>
        <p:nvSpPr>
          <p:cNvPr id="18" name="Chain arrow 5"/>
          <p:cNvSpPr/>
          <p:nvPr/>
        </p:nvSpPr>
        <p:spPr>
          <a:xfrm rot="5400000">
            <a:off x="9813798" y="1673352"/>
            <a:ext cx="182880" cy="219456"/>
          </a:xfrm>
          <a:prstGeom prst="triangle">
            <a:avLst/>
          </a:prstGeom>
          <a:solidFill>
            <a:schemeClr val="accent4"/>
          </a:solidFill>
          <a:ln w="12700">
            <a:solidFill>
              <a:schemeClr val="accent4"/>
            </a:solidFill>
            <a:prstDash val="solid"/>
          </a:ln>
        </p:spPr>
      </p:sp>
      <p:sp>
        <p:nvSpPr>
          <p:cNvPr id="19" name="Chain chip 6"/>
          <p:cNvSpPr/>
          <p:nvPr/>
        </p:nvSpPr>
        <p:spPr>
          <a:xfrm>
            <a:off x="10060686" y="1417320"/>
            <a:ext cx="1582369" cy="731520"/>
          </a:xfrm>
          <a:prstGeom prst="roundRect">
            <a:avLst>
              <a:gd name="adj" fmla="val 12500"/>
            </a:avLst>
          </a:prstGeom>
          <a:solidFill>
            <a:schemeClr val="tx1"/>
          </a:solidFill>
          <a:ln w="12700">
            <a:solidFill>
              <a:schemeClr val="tx1"/>
            </a:solidFill>
            <a:prstDash val="solid"/>
          </a:ln>
        </p:spPr>
      </p:sp>
      <p:sp>
        <p:nvSpPr>
          <p:cNvPr id="20" name="Chain text 6"/>
          <p:cNvSpPr txBox="1"/>
          <p:nvPr/>
        </p:nvSpPr>
        <p:spPr>
          <a:xfrm>
            <a:off x="10060686" y="1417320"/>
            <a:ext cx="1582369" cy="731520"/>
          </a:xfrm>
          <a:prstGeom prst="rect">
            <a:avLst/>
          </a:prstGeom>
          <a:noFill/>
          <a:ln/>
        </p:spPr>
        <p:txBody>
          <a:bodyPr wrap="square" lIns="0" tIns="0" rIns="0" bIns="0" rtlCol="0" anchor="ctr"/>
          <a:lstStyle/>
          <a:p>
            <a:pPr algn="ctr" indent="0" marL="0">
              <a:buNone/>
            </a:pPr>
            <a:r>
              <a:rPr lang="en-US" sz="1500" b="1" dirty="0">
                <a:solidFill>
                  <a:schemeClr val="bg1"/>
                </a:solidFill>
              </a:rPr>
              <a:t>PSU ≥ 457 W</a:t>
            </a:r>
            <a:endParaRPr lang="en-US" sz="1500" dirty="0"/>
          </a:p>
        </p:txBody>
      </p:sp>
      <p:sp>
        <p:nvSpPr>
          <p:cNvPr id="21" name="Chain caption"/>
          <p:cNvSpPr txBox="1"/>
          <p:nvPr/>
        </p:nvSpPr>
        <p:spPr>
          <a:xfrm>
            <a:off x="548640" y="2240280"/>
            <a:ext cx="7315200" cy="320040"/>
          </a:xfrm>
          <a:prstGeom prst="rect">
            <a:avLst/>
          </a:prstGeom>
          <a:noFill/>
          <a:ln/>
        </p:spPr>
        <p:txBody>
          <a:bodyPr wrap="square" lIns="0" tIns="0" rIns="0" bIns="0" rtlCol="0" anchor="t"/>
          <a:lstStyle/>
          <a:p>
            <a:pPr indent="0" marL="0">
              <a:buNone/>
            </a:pPr>
            <a:r>
              <a:rPr lang="en-US" sz="1300" i="1" dirty="0">
                <a:solidFill>
                  <a:schemeClr val="tx2"/>
                </a:solidFill>
              </a:rPr>
              <a:t>Example: building an AMD gaming PC</a:t>
            </a:r>
            <a:endParaRPr lang="en-US" sz="1300" dirty="0"/>
          </a:p>
        </p:txBody>
      </p:sp>
      <p:graphicFrame>
        <p:nvGraphicFramePr>
          <p:cNvPr id="25" name="Filtering rules table"/>
          <p:cNvGraphicFramePr>
            <a:graphicFrameLocks noGrp="1"/>
          </p:cNvGraphicFramePr>
          <p:nvPr>
            <p:extLst>
              <p:ext uri="{D42A27DB-BD31-4B8C-83A1-F6EECF244321}">
                <p14:modId xmlns:p14="http://schemas.microsoft.com/office/powerpoint/2010/main" val="1579011935"/>
              </p:ext>
            </p:extLst>
          </p:nvPr>
        </p:nvGraphicFramePr>
        <p:xfrm>
          <a:off x="548640" y="2743200"/>
          <a:ext cx="11094415" cy="914400"/>
        </p:xfrm>
        <a:graphic>
          <a:graphicData uri="http://schemas.openxmlformats.org/drawingml/2006/table">
            <a:tbl>
              <a:tblPr/>
              <a:tblGrid>
                <a:gridCol w="5760720"/>
                <a:gridCol w="5330952"/>
              </a:tblGrid>
              <a:tr h="475488">
                <a:tc>
                  <a:txBody>
                    <a:bodyPr/>
                    <a:lstStyle/>
                    <a:p>
                      <a:pPr indent="0" marL="0">
                        <a:buNone/>
                      </a:pPr>
                      <a:r>
                        <a:rPr lang="en-US" sz="1500" b="1" dirty="0">
                          <a:solidFill>
                            <a:schemeClr val="bg1"/>
                          </a:solidFill>
                        </a:rPr>
                        <a:t>When you choose...</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...the app shows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r>
              <a:tr h="475488">
                <a:tc>
                  <a:txBody>
                    <a:bodyPr/>
                    <a:lstStyle/>
                    <a:p>
                      <a:pPr indent="0" marL="0">
                        <a:buNone/>
                      </a:pPr>
                      <a:r>
                        <a:rPr lang="en-US" sz="1500" b="1" dirty="0">
                          <a:solidFill>
                            <a:schemeClr val="tx1"/>
                          </a:solidFill>
                        </a:rPr>
                        <a:t>CPU brand (AMD / Intel)</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Only that brand's CPUs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500" b="1" dirty="0">
                          <a:solidFill>
                            <a:schemeClr val="tx1"/>
                          </a:solidFill>
                        </a:rPr>
                        <a:t>CPU socket (AM4, AM5, LGA1200, LGA1700, LGA1851)</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Only motherboards with that socket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500" b="1" dirty="0">
                          <a:solidFill>
                            <a:schemeClr val="tx1"/>
                          </a:solidFill>
                        </a:rPr>
                        <a:t>Motherboard memory type and slots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Only DDR4 or DDR5 kits, and how many kits fit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500" b="1" dirty="0">
                          <a:solidFill>
                            <a:schemeClr val="tx1"/>
                          </a:solidFill>
                        </a:rPr>
                        <a:t>CPU without integrated graphics / without a bundled cooler</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 graphics card becomes required / stock cooler removed</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500" b="1" dirty="0">
                          <a:solidFill>
                            <a:schemeClr val="tx1"/>
                          </a:solidFill>
                        </a:rPr>
                        <a:t>Motherboard form factor (ATX, Micro-ATX, Mini-ITX)</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Only cases the board fits in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500" b="1" dirty="0">
                          <a:solidFill>
                            <a:schemeClr val="tx1"/>
                          </a:solidFill>
                        </a:rPr>
                        <a:t>CPU + GPU power draw</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Only PSUs strong enough; recommended wattage preselected</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Built-in compatibility checks</a:t>
            </a:r>
            <a:endParaRPr lang="en-US" sz="3200" dirty="0"/>
          </a:p>
        </p:txBody>
      </p:sp>
      <p:sp>
        <p:nvSpPr>
          <p:cNvPr id="4" name="Check card 1"/>
          <p:cNvSpPr/>
          <p:nvPr/>
        </p:nvSpPr>
        <p:spPr>
          <a:xfrm>
            <a:off x="548640" y="1417320"/>
            <a:ext cx="2567864" cy="2194560"/>
          </a:xfrm>
          <a:prstGeom prst="roundRect">
            <a:avLst>
              <a:gd name="adj" fmla="val 3333"/>
            </a:avLst>
          </a:prstGeom>
          <a:solidFill>
            <a:schemeClr val="bg2"/>
          </a:solidFill>
          <a:ln w="12700">
            <a:solidFill>
              <a:schemeClr val="bg2"/>
            </a:solidFill>
            <a:prstDash val="solid"/>
          </a:ln>
        </p:spPr>
      </p:sp>
      <p:sp>
        <p:nvSpPr>
          <p:cNvPr id="5" name="Check 1 circle"/>
          <p:cNvSpPr/>
          <p:nvPr/>
        </p:nvSpPr>
        <p:spPr>
          <a:xfrm>
            <a:off x="822960" y="1691640"/>
            <a:ext cx="640080" cy="640080"/>
          </a:xfrm>
          <a:prstGeom prst="ellipse">
            <a:avLst/>
          </a:prstGeom>
          <a:solidFill>
            <a:schemeClr val="accent6"/>
          </a:solidFill>
          <a:ln w="12700">
            <a:solidFill>
              <a:schemeClr val="accent6"/>
            </a:solidFill>
            <a:prstDash val="solid"/>
          </a:ln>
        </p:spPr>
      </p:sp>
      <p:pic>
        <p:nvPicPr>
          <p:cNvPr id="6" name="Check 1 icon" descr="preencoded.png">    </p:cNvPr>
          <p:cNvPicPr>
            <a:picLocks noChangeAspect="1"/>
          </p:cNvPicPr>
          <p:nvPr/>
        </p:nvPicPr>
        <p:blipFill>
          <a:blip r:embed="rId1"/>
          <a:stretch>
            <a:fillRect/>
          </a:stretch>
        </p:blipFill>
        <p:spPr>
          <a:xfrm>
            <a:off x="989381" y="1858061"/>
            <a:ext cx="307238" cy="307238"/>
          </a:xfrm>
          <a:prstGeom prst="rect">
            <a:avLst/>
          </a:prstGeom>
        </p:spPr>
      </p:pic>
      <p:sp>
        <p:nvSpPr>
          <p:cNvPr id="7" name="Check kind 1"/>
          <p:cNvSpPr txBox="1"/>
          <p:nvPr/>
        </p:nvSpPr>
        <p:spPr>
          <a:xfrm>
            <a:off x="1554480" y="1856232"/>
            <a:ext cx="1333424" cy="320040"/>
          </a:xfrm>
          <a:prstGeom prst="rect">
            <a:avLst/>
          </a:prstGeom>
          <a:noFill/>
          <a:ln/>
        </p:spPr>
        <p:txBody>
          <a:bodyPr wrap="square" lIns="0" tIns="0" rIns="0" bIns="0" rtlCol="0" anchor="t"/>
          <a:lstStyle/>
          <a:p>
            <a:pPr indent="0" marL="0">
              <a:buNone/>
            </a:pPr>
            <a:r>
              <a:rPr lang="en-US" sz="1200" b="1" dirty="0">
                <a:solidFill>
                  <a:schemeClr val="accent6"/>
                </a:solidFill>
              </a:rPr>
              <a:t>Error</a:t>
            </a:r>
            <a:endParaRPr lang="en-US" sz="1200" dirty="0"/>
          </a:p>
        </p:txBody>
      </p:sp>
      <p:sp>
        <p:nvSpPr>
          <p:cNvPr id="8" name="Check title 1"/>
          <p:cNvSpPr txBox="1"/>
          <p:nvPr/>
        </p:nvSpPr>
        <p:spPr>
          <a:xfrm>
            <a:off x="822960" y="2468880"/>
            <a:ext cx="2019224" cy="365760"/>
          </a:xfrm>
          <a:prstGeom prst="rect">
            <a:avLst/>
          </a:prstGeom>
          <a:noFill/>
          <a:ln/>
        </p:spPr>
        <p:txBody>
          <a:bodyPr wrap="square" lIns="0" tIns="0" rIns="0" bIns="0" rtlCol="0" anchor="t"/>
          <a:lstStyle/>
          <a:p>
            <a:pPr indent="0" marL="0">
              <a:buNone/>
            </a:pPr>
            <a:r>
              <a:rPr lang="en-US" sz="1800" b="1" dirty="0">
                <a:solidFill>
                  <a:schemeClr val="tx1"/>
                </a:solidFill>
              </a:rPr>
              <a:t>CPU socket</a:t>
            </a:r>
            <a:endParaRPr lang="en-US" sz="1800" dirty="0"/>
          </a:p>
        </p:txBody>
      </p:sp>
      <p:sp>
        <p:nvSpPr>
          <p:cNvPr id="9" name="Check desc 1"/>
          <p:cNvSpPr txBox="1"/>
          <p:nvPr/>
        </p:nvSpPr>
        <p:spPr>
          <a:xfrm>
            <a:off x="822960" y="2852928"/>
            <a:ext cx="2019224" cy="685800"/>
          </a:xfrm>
          <a:prstGeom prst="rect">
            <a:avLst/>
          </a:prstGeom>
          <a:noFill/>
          <a:ln/>
        </p:spPr>
        <p:txBody>
          <a:bodyPr wrap="square" lIns="0" tIns="0" rIns="0" bIns="0" rtlCol="0" anchor="t"/>
          <a:lstStyle/>
          <a:p>
            <a:pPr indent="0" marL="0">
              <a:buNone/>
            </a:pPr>
            <a:r>
              <a:rPr lang="en-US" sz="1400" dirty="0">
                <a:solidFill>
                  <a:schemeClr val="tx2"/>
                </a:solidFill>
              </a:rPr>
              <a:t>CPU must match the motherboard socket</a:t>
            </a:r>
            <a:endParaRPr lang="en-US" sz="1400" dirty="0"/>
          </a:p>
        </p:txBody>
      </p:sp>
      <p:sp>
        <p:nvSpPr>
          <p:cNvPr id="10" name="Check card 2"/>
          <p:cNvSpPr/>
          <p:nvPr/>
        </p:nvSpPr>
        <p:spPr>
          <a:xfrm>
            <a:off x="3390824" y="1417320"/>
            <a:ext cx="2567864" cy="2194560"/>
          </a:xfrm>
          <a:prstGeom prst="roundRect">
            <a:avLst>
              <a:gd name="adj" fmla="val 3333"/>
            </a:avLst>
          </a:prstGeom>
          <a:solidFill>
            <a:schemeClr val="bg2"/>
          </a:solidFill>
          <a:ln w="12700">
            <a:solidFill>
              <a:schemeClr val="bg2"/>
            </a:solidFill>
            <a:prstDash val="solid"/>
          </a:ln>
        </p:spPr>
      </p:sp>
      <p:sp>
        <p:nvSpPr>
          <p:cNvPr id="11" name="Check 2 circle"/>
          <p:cNvSpPr/>
          <p:nvPr/>
        </p:nvSpPr>
        <p:spPr>
          <a:xfrm>
            <a:off x="3665144" y="1691640"/>
            <a:ext cx="640080" cy="640080"/>
          </a:xfrm>
          <a:prstGeom prst="ellipse">
            <a:avLst/>
          </a:prstGeom>
          <a:solidFill>
            <a:schemeClr val="accent6"/>
          </a:solidFill>
          <a:ln w="12700">
            <a:solidFill>
              <a:schemeClr val="accent6"/>
            </a:solidFill>
            <a:prstDash val="solid"/>
          </a:ln>
        </p:spPr>
      </p:sp>
      <p:pic>
        <p:nvPicPr>
          <p:cNvPr id="12" name="Check 2 icon" descr="preencoded.png">    </p:cNvPr>
          <p:cNvPicPr>
            <a:picLocks noChangeAspect="1"/>
          </p:cNvPicPr>
          <p:nvPr/>
        </p:nvPicPr>
        <p:blipFill>
          <a:blip r:embed="rId2"/>
          <a:stretch>
            <a:fillRect/>
          </a:stretch>
        </p:blipFill>
        <p:spPr>
          <a:xfrm>
            <a:off x="3831565" y="1858061"/>
            <a:ext cx="307238" cy="307238"/>
          </a:xfrm>
          <a:prstGeom prst="rect">
            <a:avLst/>
          </a:prstGeom>
        </p:spPr>
      </p:pic>
      <p:sp>
        <p:nvSpPr>
          <p:cNvPr id="13" name="Check kind 2"/>
          <p:cNvSpPr txBox="1"/>
          <p:nvPr/>
        </p:nvSpPr>
        <p:spPr>
          <a:xfrm>
            <a:off x="4396664" y="1856232"/>
            <a:ext cx="1333424" cy="320040"/>
          </a:xfrm>
          <a:prstGeom prst="rect">
            <a:avLst/>
          </a:prstGeom>
          <a:noFill/>
          <a:ln/>
        </p:spPr>
        <p:txBody>
          <a:bodyPr wrap="square" lIns="0" tIns="0" rIns="0" bIns="0" rtlCol="0" anchor="t"/>
          <a:lstStyle/>
          <a:p>
            <a:pPr indent="0" marL="0">
              <a:buNone/>
            </a:pPr>
            <a:r>
              <a:rPr lang="en-US" sz="1200" b="1" dirty="0">
                <a:solidFill>
                  <a:schemeClr val="accent6"/>
                </a:solidFill>
              </a:rPr>
              <a:t>Error</a:t>
            </a:r>
            <a:endParaRPr lang="en-US" sz="1200" dirty="0"/>
          </a:p>
        </p:txBody>
      </p:sp>
      <p:sp>
        <p:nvSpPr>
          <p:cNvPr id="14" name="Check title 2"/>
          <p:cNvSpPr txBox="1"/>
          <p:nvPr/>
        </p:nvSpPr>
        <p:spPr>
          <a:xfrm>
            <a:off x="3665144" y="2468880"/>
            <a:ext cx="2019224" cy="365760"/>
          </a:xfrm>
          <a:prstGeom prst="rect">
            <a:avLst/>
          </a:prstGeom>
          <a:noFill/>
          <a:ln/>
        </p:spPr>
        <p:txBody>
          <a:bodyPr wrap="square" lIns="0" tIns="0" rIns="0" bIns="0" rtlCol="0" anchor="t"/>
          <a:lstStyle/>
          <a:p>
            <a:pPr indent="0" marL="0">
              <a:buNone/>
            </a:pPr>
            <a:r>
              <a:rPr lang="en-US" sz="1800" b="1" dirty="0">
                <a:solidFill>
                  <a:schemeClr val="tx1"/>
                </a:solidFill>
              </a:rPr>
              <a:t>Memory type</a:t>
            </a:r>
            <a:endParaRPr lang="en-US" sz="1800" dirty="0"/>
          </a:p>
        </p:txBody>
      </p:sp>
      <p:sp>
        <p:nvSpPr>
          <p:cNvPr id="15" name="Check desc 2"/>
          <p:cNvSpPr txBox="1"/>
          <p:nvPr/>
        </p:nvSpPr>
        <p:spPr>
          <a:xfrm>
            <a:off x="3665144" y="2852928"/>
            <a:ext cx="2019224" cy="685800"/>
          </a:xfrm>
          <a:prstGeom prst="rect">
            <a:avLst/>
          </a:prstGeom>
          <a:noFill/>
          <a:ln/>
        </p:spPr>
        <p:txBody>
          <a:bodyPr wrap="square" lIns="0" tIns="0" rIns="0" bIns="0" rtlCol="0" anchor="t"/>
          <a:lstStyle/>
          <a:p>
            <a:pPr indent="0" marL="0">
              <a:buNone/>
            </a:pPr>
            <a:r>
              <a:rPr lang="en-US" sz="1400" dirty="0">
                <a:solidFill>
                  <a:schemeClr val="tx2"/>
                </a:solidFill>
              </a:rPr>
              <a:t>DDR4 / DDR5 must match the motherboard</a:t>
            </a:r>
            <a:endParaRPr lang="en-US" sz="1400" dirty="0"/>
          </a:p>
        </p:txBody>
      </p:sp>
      <p:sp>
        <p:nvSpPr>
          <p:cNvPr id="16" name="Check card 3"/>
          <p:cNvSpPr/>
          <p:nvPr/>
        </p:nvSpPr>
        <p:spPr>
          <a:xfrm>
            <a:off x="6233008" y="1417320"/>
            <a:ext cx="2567864" cy="2194560"/>
          </a:xfrm>
          <a:prstGeom prst="roundRect">
            <a:avLst>
              <a:gd name="adj" fmla="val 3333"/>
            </a:avLst>
          </a:prstGeom>
          <a:solidFill>
            <a:schemeClr val="bg2"/>
          </a:solidFill>
          <a:ln w="12700">
            <a:solidFill>
              <a:schemeClr val="bg2"/>
            </a:solidFill>
            <a:prstDash val="solid"/>
          </a:ln>
        </p:spPr>
      </p:sp>
      <p:sp>
        <p:nvSpPr>
          <p:cNvPr id="17" name="Check 3 circle"/>
          <p:cNvSpPr/>
          <p:nvPr/>
        </p:nvSpPr>
        <p:spPr>
          <a:xfrm>
            <a:off x="6507328" y="1691640"/>
            <a:ext cx="640080" cy="640080"/>
          </a:xfrm>
          <a:prstGeom prst="ellipse">
            <a:avLst/>
          </a:prstGeom>
          <a:solidFill>
            <a:schemeClr val="accent6"/>
          </a:solidFill>
          <a:ln w="12700">
            <a:solidFill>
              <a:schemeClr val="accent6"/>
            </a:solidFill>
            <a:prstDash val="solid"/>
          </a:ln>
        </p:spPr>
      </p:sp>
      <p:pic>
        <p:nvPicPr>
          <p:cNvPr id="18" name="Check 3 icon" descr="preencoded.png">    </p:cNvPr>
          <p:cNvPicPr>
            <a:picLocks noChangeAspect="1"/>
          </p:cNvPicPr>
          <p:nvPr/>
        </p:nvPicPr>
        <p:blipFill>
          <a:blip r:embed="rId3"/>
          <a:stretch>
            <a:fillRect/>
          </a:stretch>
        </p:blipFill>
        <p:spPr>
          <a:xfrm>
            <a:off x="6673748" y="1858061"/>
            <a:ext cx="307238" cy="307238"/>
          </a:xfrm>
          <a:prstGeom prst="rect">
            <a:avLst/>
          </a:prstGeom>
        </p:spPr>
      </p:pic>
      <p:sp>
        <p:nvSpPr>
          <p:cNvPr id="19" name="Check kind 3"/>
          <p:cNvSpPr txBox="1"/>
          <p:nvPr/>
        </p:nvSpPr>
        <p:spPr>
          <a:xfrm>
            <a:off x="7238848" y="1856232"/>
            <a:ext cx="1333424" cy="320040"/>
          </a:xfrm>
          <a:prstGeom prst="rect">
            <a:avLst/>
          </a:prstGeom>
          <a:noFill/>
          <a:ln/>
        </p:spPr>
        <p:txBody>
          <a:bodyPr wrap="square" lIns="0" tIns="0" rIns="0" bIns="0" rtlCol="0" anchor="t"/>
          <a:lstStyle/>
          <a:p>
            <a:pPr indent="0" marL="0">
              <a:buNone/>
            </a:pPr>
            <a:r>
              <a:rPr lang="en-US" sz="1200" b="1" dirty="0">
                <a:solidFill>
                  <a:schemeClr val="accent6"/>
                </a:solidFill>
              </a:rPr>
              <a:t>Error</a:t>
            </a:r>
            <a:endParaRPr lang="en-US" sz="1200" dirty="0"/>
          </a:p>
        </p:txBody>
      </p:sp>
      <p:sp>
        <p:nvSpPr>
          <p:cNvPr id="20" name="Check title 3"/>
          <p:cNvSpPr txBox="1"/>
          <p:nvPr/>
        </p:nvSpPr>
        <p:spPr>
          <a:xfrm>
            <a:off x="6507328" y="2468880"/>
            <a:ext cx="2019224" cy="365760"/>
          </a:xfrm>
          <a:prstGeom prst="rect">
            <a:avLst/>
          </a:prstGeom>
          <a:noFill/>
          <a:ln/>
        </p:spPr>
        <p:txBody>
          <a:bodyPr wrap="square" lIns="0" tIns="0" rIns="0" bIns="0" rtlCol="0" anchor="t"/>
          <a:lstStyle/>
          <a:p>
            <a:pPr indent="0" marL="0">
              <a:buNone/>
            </a:pPr>
            <a:r>
              <a:rPr lang="en-US" sz="1800" b="1" dirty="0">
                <a:solidFill>
                  <a:schemeClr val="tx1"/>
                </a:solidFill>
              </a:rPr>
              <a:t>RAM slots</a:t>
            </a:r>
            <a:endParaRPr lang="en-US" sz="1800" dirty="0"/>
          </a:p>
        </p:txBody>
      </p:sp>
      <p:sp>
        <p:nvSpPr>
          <p:cNvPr id="21" name="Check desc 3"/>
          <p:cNvSpPr txBox="1"/>
          <p:nvPr/>
        </p:nvSpPr>
        <p:spPr>
          <a:xfrm>
            <a:off x="6507328" y="2852928"/>
            <a:ext cx="2019224" cy="685800"/>
          </a:xfrm>
          <a:prstGeom prst="rect">
            <a:avLst/>
          </a:prstGeom>
          <a:noFill/>
          <a:ln/>
        </p:spPr>
        <p:txBody>
          <a:bodyPr wrap="square" lIns="0" tIns="0" rIns="0" bIns="0" rtlCol="0" anchor="t"/>
          <a:lstStyle/>
          <a:p>
            <a:pPr indent="0" marL="0">
              <a:buNone/>
            </a:pPr>
            <a:r>
              <a:rPr lang="en-US" sz="1400" dirty="0">
                <a:solidFill>
                  <a:schemeClr val="tx2"/>
                </a:solidFill>
              </a:rPr>
              <a:t>Number of sticks must fit the board's slots</a:t>
            </a:r>
            <a:endParaRPr lang="en-US" sz="1400" dirty="0"/>
          </a:p>
        </p:txBody>
      </p:sp>
      <p:sp>
        <p:nvSpPr>
          <p:cNvPr id="22" name="Check card 4"/>
          <p:cNvSpPr/>
          <p:nvPr/>
        </p:nvSpPr>
        <p:spPr>
          <a:xfrm>
            <a:off x="9075191" y="1417320"/>
            <a:ext cx="2567864" cy="2194560"/>
          </a:xfrm>
          <a:prstGeom prst="roundRect">
            <a:avLst>
              <a:gd name="adj" fmla="val 3333"/>
            </a:avLst>
          </a:prstGeom>
          <a:solidFill>
            <a:schemeClr val="bg2"/>
          </a:solidFill>
          <a:ln w="12700">
            <a:solidFill>
              <a:schemeClr val="bg2"/>
            </a:solidFill>
            <a:prstDash val="solid"/>
          </a:ln>
        </p:spPr>
      </p:sp>
      <p:sp>
        <p:nvSpPr>
          <p:cNvPr id="23" name="Check 4 circle"/>
          <p:cNvSpPr/>
          <p:nvPr/>
        </p:nvSpPr>
        <p:spPr>
          <a:xfrm>
            <a:off x="9349511" y="1691640"/>
            <a:ext cx="640080" cy="640080"/>
          </a:xfrm>
          <a:prstGeom prst="ellipse">
            <a:avLst/>
          </a:prstGeom>
          <a:solidFill>
            <a:schemeClr val="accent6"/>
          </a:solidFill>
          <a:ln w="12700">
            <a:solidFill>
              <a:schemeClr val="accent6"/>
            </a:solidFill>
            <a:prstDash val="solid"/>
          </a:ln>
        </p:spPr>
      </p:sp>
      <p:pic>
        <p:nvPicPr>
          <p:cNvPr id="24" name="Check 4 icon" descr="preencoded.png">    </p:cNvPr>
          <p:cNvPicPr>
            <a:picLocks noChangeAspect="1"/>
          </p:cNvPicPr>
          <p:nvPr/>
        </p:nvPicPr>
        <p:blipFill>
          <a:blip r:embed="rId4"/>
          <a:stretch>
            <a:fillRect/>
          </a:stretch>
        </p:blipFill>
        <p:spPr>
          <a:xfrm>
            <a:off x="9515932" y="1858061"/>
            <a:ext cx="307238" cy="307238"/>
          </a:xfrm>
          <a:prstGeom prst="rect">
            <a:avLst/>
          </a:prstGeom>
        </p:spPr>
      </p:pic>
      <p:sp>
        <p:nvSpPr>
          <p:cNvPr id="25" name="Check kind 4"/>
          <p:cNvSpPr txBox="1"/>
          <p:nvPr/>
        </p:nvSpPr>
        <p:spPr>
          <a:xfrm>
            <a:off x="10081031" y="1856232"/>
            <a:ext cx="1333424" cy="320040"/>
          </a:xfrm>
          <a:prstGeom prst="rect">
            <a:avLst/>
          </a:prstGeom>
          <a:noFill/>
          <a:ln/>
        </p:spPr>
        <p:txBody>
          <a:bodyPr wrap="square" lIns="0" tIns="0" rIns="0" bIns="0" rtlCol="0" anchor="t"/>
          <a:lstStyle/>
          <a:p>
            <a:pPr indent="0" marL="0">
              <a:buNone/>
            </a:pPr>
            <a:r>
              <a:rPr lang="en-US" sz="1200" b="1" dirty="0">
                <a:solidFill>
                  <a:schemeClr val="accent6"/>
                </a:solidFill>
              </a:rPr>
              <a:t>Error</a:t>
            </a:r>
            <a:endParaRPr lang="en-US" sz="1200" dirty="0"/>
          </a:p>
        </p:txBody>
      </p:sp>
      <p:sp>
        <p:nvSpPr>
          <p:cNvPr id="26" name="Check title 4"/>
          <p:cNvSpPr txBox="1"/>
          <p:nvPr/>
        </p:nvSpPr>
        <p:spPr>
          <a:xfrm>
            <a:off x="9349511" y="2468880"/>
            <a:ext cx="2019224" cy="365760"/>
          </a:xfrm>
          <a:prstGeom prst="rect">
            <a:avLst/>
          </a:prstGeom>
          <a:noFill/>
          <a:ln/>
        </p:spPr>
        <p:txBody>
          <a:bodyPr wrap="square" lIns="0" tIns="0" rIns="0" bIns="0" rtlCol="0" anchor="t"/>
          <a:lstStyle/>
          <a:p>
            <a:pPr indent="0" marL="0">
              <a:buNone/>
            </a:pPr>
            <a:r>
              <a:rPr lang="en-US" sz="1800" b="1" dirty="0">
                <a:solidFill>
                  <a:schemeClr val="tx1"/>
                </a:solidFill>
              </a:rPr>
              <a:t>Case size</a:t>
            </a:r>
            <a:endParaRPr lang="en-US" sz="1800" dirty="0"/>
          </a:p>
        </p:txBody>
      </p:sp>
      <p:sp>
        <p:nvSpPr>
          <p:cNvPr id="27" name="Check desc 4"/>
          <p:cNvSpPr txBox="1"/>
          <p:nvPr/>
        </p:nvSpPr>
        <p:spPr>
          <a:xfrm>
            <a:off x="9349511" y="2852928"/>
            <a:ext cx="2019224" cy="685800"/>
          </a:xfrm>
          <a:prstGeom prst="rect">
            <a:avLst/>
          </a:prstGeom>
          <a:noFill/>
          <a:ln/>
        </p:spPr>
        <p:txBody>
          <a:bodyPr wrap="square" lIns="0" tIns="0" rIns="0" bIns="0" rtlCol="0" anchor="t"/>
          <a:lstStyle/>
          <a:p>
            <a:pPr indent="0" marL="0">
              <a:buNone/>
            </a:pPr>
            <a:r>
              <a:rPr lang="en-US" sz="1400" dirty="0">
                <a:solidFill>
                  <a:schemeClr val="tx2"/>
                </a:solidFill>
              </a:rPr>
              <a:t>Motherboard form factor must fit the case</a:t>
            </a:r>
            <a:endParaRPr lang="en-US" sz="1400" dirty="0"/>
          </a:p>
        </p:txBody>
      </p:sp>
      <p:sp>
        <p:nvSpPr>
          <p:cNvPr id="28" name="Check card 5"/>
          <p:cNvSpPr/>
          <p:nvPr/>
        </p:nvSpPr>
        <p:spPr>
          <a:xfrm>
            <a:off x="548640" y="3840480"/>
            <a:ext cx="2567864" cy="2194560"/>
          </a:xfrm>
          <a:prstGeom prst="roundRect">
            <a:avLst>
              <a:gd name="adj" fmla="val 3333"/>
            </a:avLst>
          </a:prstGeom>
          <a:solidFill>
            <a:schemeClr val="bg2"/>
          </a:solidFill>
          <a:ln w="12700">
            <a:solidFill>
              <a:schemeClr val="bg2"/>
            </a:solidFill>
            <a:prstDash val="solid"/>
          </a:ln>
        </p:spPr>
      </p:sp>
      <p:sp>
        <p:nvSpPr>
          <p:cNvPr id="29" name="Check 5 circle"/>
          <p:cNvSpPr/>
          <p:nvPr/>
        </p:nvSpPr>
        <p:spPr>
          <a:xfrm>
            <a:off x="822960" y="4114800"/>
            <a:ext cx="640080" cy="640080"/>
          </a:xfrm>
          <a:prstGeom prst="ellipse">
            <a:avLst/>
          </a:prstGeom>
          <a:solidFill>
            <a:schemeClr val="accent3"/>
          </a:solidFill>
          <a:ln w="12700">
            <a:solidFill>
              <a:schemeClr val="accent3"/>
            </a:solidFill>
            <a:prstDash val="solid"/>
          </a:ln>
        </p:spPr>
      </p:sp>
      <p:pic>
        <p:nvPicPr>
          <p:cNvPr id="30" name="Check 5 icon" descr="preencoded.png">    </p:cNvPr>
          <p:cNvPicPr>
            <a:picLocks noChangeAspect="1"/>
          </p:cNvPicPr>
          <p:nvPr/>
        </p:nvPicPr>
        <p:blipFill>
          <a:blip r:embed="rId5"/>
          <a:stretch>
            <a:fillRect/>
          </a:stretch>
        </p:blipFill>
        <p:spPr>
          <a:xfrm>
            <a:off x="989381" y="4281221"/>
            <a:ext cx="307238" cy="307238"/>
          </a:xfrm>
          <a:prstGeom prst="rect">
            <a:avLst/>
          </a:prstGeom>
        </p:spPr>
      </p:pic>
      <p:sp>
        <p:nvSpPr>
          <p:cNvPr id="31" name="Check kind 5"/>
          <p:cNvSpPr txBox="1"/>
          <p:nvPr/>
        </p:nvSpPr>
        <p:spPr>
          <a:xfrm>
            <a:off x="1554480" y="4279392"/>
            <a:ext cx="1333424" cy="320040"/>
          </a:xfrm>
          <a:prstGeom prst="rect">
            <a:avLst/>
          </a:prstGeom>
          <a:noFill/>
          <a:ln/>
        </p:spPr>
        <p:txBody>
          <a:bodyPr wrap="square" lIns="0" tIns="0" rIns="0" bIns="0" rtlCol="0" anchor="t"/>
          <a:lstStyle/>
          <a:p>
            <a:pPr indent="0" marL="0">
              <a:buNone/>
            </a:pPr>
            <a:r>
              <a:rPr lang="en-US" sz="1200" b="1" dirty="0">
                <a:solidFill>
                  <a:schemeClr val="tx2"/>
                </a:solidFill>
              </a:rPr>
              <a:t>Error + warning</a:t>
            </a:r>
            <a:endParaRPr lang="en-US" sz="1200" dirty="0"/>
          </a:p>
        </p:txBody>
      </p:sp>
      <p:sp>
        <p:nvSpPr>
          <p:cNvPr id="32" name="Check title 5"/>
          <p:cNvSpPr txBox="1"/>
          <p:nvPr/>
        </p:nvSpPr>
        <p:spPr>
          <a:xfrm>
            <a:off x="822960" y="48920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PSU wattage</a:t>
            </a:r>
            <a:endParaRPr lang="en-US" sz="1800" dirty="0"/>
          </a:p>
        </p:txBody>
      </p:sp>
      <p:sp>
        <p:nvSpPr>
          <p:cNvPr id="33" name="Check desc 5"/>
          <p:cNvSpPr txBox="1"/>
          <p:nvPr/>
        </p:nvSpPr>
        <p:spPr>
          <a:xfrm>
            <a:off x="822960" y="5276088"/>
            <a:ext cx="2019224" cy="685800"/>
          </a:xfrm>
          <a:prstGeom prst="rect">
            <a:avLst/>
          </a:prstGeom>
          <a:noFill/>
          <a:ln/>
        </p:spPr>
        <p:txBody>
          <a:bodyPr wrap="square" lIns="0" tIns="0" rIns="0" bIns="0" rtlCol="0" anchor="t"/>
          <a:lstStyle/>
          <a:p>
            <a:pPr indent="0" marL="0">
              <a:buNone/>
            </a:pPr>
            <a:r>
              <a:rPr lang="en-US" sz="1400" dirty="0">
                <a:solidFill>
                  <a:schemeClr val="tx2"/>
                </a:solidFill>
              </a:rPr>
              <a:t>PSU must cover peak draw; warns below 30% headroom</a:t>
            </a:r>
            <a:endParaRPr lang="en-US" sz="1400" dirty="0"/>
          </a:p>
        </p:txBody>
      </p:sp>
      <p:sp>
        <p:nvSpPr>
          <p:cNvPr id="34" name="Check card 6"/>
          <p:cNvSpPr/>
          <p:nvPr/>
        </p:nvSpPr>
        <p:spPr>
          <a:xfrm>
            <a:off x="3390824" y="3840480"/>
            <a:ext cx="2567864" cy="2194560"/>
          </a:xfrm>
          <a:prstGeom prst="roundRect">
            <a:avLst>
              <a:gd name="adj" fmla="val 3333"/>
            </a:avLst>
          </a:prstGeom>
          <a:solidFill>
            <a:schemeClr val="bg2"/>
          </a:solidFill>
          <a:ln w="12700">
            <a:solidFill>
              <a:schemeClr val="bg2"/>
            </a:solidFill>
            <a:prstDash val="solid"/>
          </a:ln>
        </p:spPr>
      </p:sp>
      <p:sp>
        <p:nvSpPr>
          <p:cNvPr id="35" name="Check 6 circle"/>
          <p:cNvSpPr/>
          <p:nvPr/>
        </p:nvSpPr>
        <p:spPr>
          <a:xfrm>
            <a:off x="3665144" y="4114800"/>
            <a:ext cx="640080" cy="640080"/>
          </a:xfrm>
          <a:prstGeom prst="ellipse">
            <a:avLst/>
          </a:prstGeom>
          <a:solidFill>
            <a:schemeClr val="accent6"/>
          </a:solidFill>
          <a:ln w="12700">
            <a:solidFill>
              <a:schemeClr val="accent6"/>
            </a:solidFill>
            <a:prstDash val="solid"/>
          </a:ln>
        </p:spPr>
      </p:sp>
      <p:pic>
        <p:nvPicPr>
          <p:cNvPr id="36" name="Check 6 icon" descr="preencoded.png">    </p:cNvPr>
          <p:cNvPicPr>
            <a:picLocks noChangeAspect="1"/>
          </p:cNvPicPr>
          <p:nvPr/>
        </p:nvPicPr>
        <p:blipFill>
          <a:blip r:embed="rId6"/>
          <a:stretch>
            <a:fillRect/>
          </a:stretch>
        </p:blipFill>
        <p:spPr>
          <a:xfrm>
            <a:off x="3831565" y="4281221"/>
            <a:ext cx="307238" cy="307238"/>
          </a:xfrm>
          <a:prstGeom prst="rect">
            <a:avLst/>
          </a:prstGeom>
        </p:spPr>
      </p:pic>
      <p:sp>
        <p:nvSpPr>
          <p:cNvPr id="37" name="Check kind 6"/>
          <p:cNvSpPr txBox="1"/>
          <p:nvPr/>
        </p:nvSpPr>
        <p:spPr>
          <a:xfrm>
            <a:off x="4396664" y="4279392"/>
            <a:ext cx="1333424" cy="320040"/>
          </a:xfrm>
          <a:prstGeom prst="rect">
            <a:avLst/>
          </a:prstGeom>
          <a:noFill/>
          <a:ln/>
        </p:spPr>
        <p:txBody>
          <a:bodyPr wrap="square" lIns="0" tIns="0" rIns="0" bIns="0" rtlCol="0" anchor="t"/>
          <a:lstStyle/>
          <a:p>
            <a:pPr indent="0" marL="0">
              <a:buNone/>
            </a:pPr>
            <a:r>
              <a:rPr lang="en-US" sz="1200" b="1" dirty="0">
                <a:solidFill>
                  <a:schemeClr val="accent6"/>
                </a:solidFill>
              </a:rPr>
              <a:t>Error</a:t>
            </a:r>
            <a:endParaRPr lang="en-US" sz="1200" dirty="0"/>
          </a:p>
        </p:txBody>
      </p:sp>
      <p:sp>
        <p:nvSpPr>
          <p:cNvPr id="38" name="Check title 6"/>
          <p:cNvSpPr txBox="1"/>
          <p:nvPr/>
        </p:nvSpPr>
        <p:spPr>
          <a:xfrm>
            <a:off x="3665144" y="48920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Display output</a:t>
            </a:r>
            <a:endParaRPr lang="en-US" sz="1800" dirty="0"/>
          </a:p>
        </p:txBody>
      </p:sp>
      <p:sp>
        <p:nvSpPr>
          <p:cNvPr id="39" name="Check desc 6"/>
          <p:cNvSpPr txBox="1"/>
          <p:nvPr/>
        </p:nvSpPr>
        <p:spPr>
          <a:xfrm>
            <a:off x="3665144" y="5276088"/>
            <a:ext cx="2019224" cy="685800"/>
          </a:xfrm>
          <a:prstGeom prst="rect">
            <a:avLst/>
          </a:prstGeom>
          <a:noFill/>
          <a:ln/>
        </p:spPr>
        <p:txBody>
          <a:bodyPr wrap="square" lIns="0" tIns="0" rIns="0" bIns="0" rtlCol="0" anchor="t"/>
          <a:lstStyle/>
          <a:p>
            <a:pPr indent="0" marL="0">
              <a:buNone/>
            </a:pPr>
            <a:r>
              <a:rPr lang="en-US" sz="1400" dirty="0">
                <a:solidFill>
                  <a:schemeClr val="tx2"/>
                </a:solidFill>
              </a:rPr>
              <a:t>CPU without graphics needs a graphics card</a:t>
            </a:r>
            <a:endParaRPr lang="en-US" sz="1400" dirty="0"/>
          </a:p>
        </p:txBody>
      </p:sp>
      <p:sp>
        <p:nvSpPr>
          <p:cNvPr id="40" name="Check card 7"/>
          <p:cNvSpPr/>
          <p:nvPr/>
        </p:nvSpPr>
        <p:spPr>
          <a:xfrm>
            <a:off x="6233008" y="3840480"/>
            <a:ext cx="2567864" cy="2194560"/>
          </a:xfrm>
          <a:prstGeom prst="roundRect">
            <a:avLst>
              <a:gd name="adj" fmla="val 3333"/>
            </a:avLst>
          </a:prstGeom>
          <a:solidFill>
            <a:schemeClr val="bg2"/>
          </a:solidFill>
          <a:ln w="12700">
            <a:solidFill>
              <a:schemeClr val="bg2"/>
            </a:solidFill>
            <a:prstDash val="solid"/>
          </a:ln>
        </p:spPr>
      </p:sp>
      <p:sp>
        <p:nvSpPr>
          <p:cNvPr id="41" name="Check 7 circle"/>
          <p:cNvSpPr/>
          <p:nvPr/>
        </p:nvSpPr>
        <p:spPr>
          <a:xfrm>
            <a:off x="6507328" y="4114800"/>
            <a:ext cx="640080" cy="640080"/>
          </a:xfrm>
          <a:prstGeom prst="ellipse">
            <a:avLst/>
          </a:prstGeom>
          <a:solidFill>
            <a:schemeClr val="accent3"/>
          </a:solidFill>
          <a:ln w="12700">
            <a:solidFill>
              <a:schemeClr val="accent3"/>
            </a:solidFill>
            <a:prstDash val="solid"/>
          </a:ln>
        </p:spPr>
      </p:sp>
      <p:pic>
        <p:nvPicPr>
          <p:cNvPr id="42" name="Check 7 icon" descr="preencoded.png">    </p:cNvPr>
          <p:cNvPicPr>
            <a:picLocks noChangeAspect="1"/>
          </p:cNvPicPr>
          <p:nvPr/>
        </p:nvPicPr>
        <p:blipFill>
          <a:blip r:embed="rId7"/>
          <a:stretch>
            <a:fillRect/>
          </a:stretch>
        </p:blipFill>
        <p:spPr>
          <a:xfrm>
            <a:off x="6673748" y="4281221"/>
            <a:ext cx="307238" cy="307238"/>
          </a:xfrm>
          <a:prstGeom prst="rect">
            <a:avLst/>
          </a:prstGeom>
        </p:spPr>
      </p:pic>
      <p:sp>
        <p:nvSpPr>
          <p:cNvPr id="43" name="Check kind 7"/>
          <p:cNvSpPr txBox="1"/>
          <p:nvPr/>
        </p:nvSpPr>
        <p:spPr>
          <a:xfrm>
            <a:off x="7238848" y="4279392"/>
            <a:ext cx="1333424" cy="320040"/>
          </a:xfrm>
          <a:prstGeom prst="rect">
            <a:avLst/>
          </a:prstGeom>
          <a:noFill/>
          <a:ln/>
        </p:spPr>
        <p:txBody>
          <a:bodyPr wrap="square" lIns="0" tIns="0" rIns="0" bIns="0" rtlCol="0" anchor="t"/>
          <a:lstStyle/>
          <a:p>
            <a:pPr indent="0" marL="0">
              <a:buNone/>
            </a:pPr>
            <a:r>
              <a:rPr lang="en-US" sz="1200" b="1" dirty="0">
                <a:solidFill>
                  <a:schemeClr val="tx2"/>
                </a:solidFill>
              </a:rPr>
              <a:t>Error + warning</a:t>
            </a:r>
            <a:endParaRPr lang="en-US" sz="1200" dirty="0"/>
          </a:p>
        </p:txBody>
      </p:sp>
      <p:sp>
        <p:nvSpPr>
          <p:cNvPr id="44" name="Check title 7"/>
          <p:cNvSpPr txBox="1"/>
          <p:nvPr/>
        </p:nvSpPr>
        <p:spPr>
          <a:xfrm>
            <a:off x="6507328" y="48920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CPU cooler</a:t>
            </a:r>
            <a:endParaRPr lang="en-US" sz="1800" dirty="0"/>
          </a:p>
        </p:txBody>
      </p:sp>
      <p:sp>
        <p:nvSpPr>
          <p:cNvPr id="45" name="Check desc 7"/>
          <p:cNvSpPr txBox="1"/>
          <p:nvPr/>
        </p:nvSpPr>
        <p:spPr>
          <a:xfrm>
            <a:off x="6507328" y="5276088"/>
            <a:ext cx="2019224" cy="685800"/>
          </a:xfrm>
          <a:prstGeom prst="rect">
            <a:avLst/>
          </a:prstGeom>
          <a:noFill/>
          <a:ln/>
        </p:spPr>
        <p:txBody>
          <a:bodyPr wrap="square" lIns="0" tIns="0" rIns="0" bIns="0" rtlCol="0" anchor="t"/>
          <a:lstStyle/>
          <a:p>
            <a:pPr indent="0" marL="0">
              <a:buNone/>
            </a:pPr>
            <a:r>
              <a:rPr lang="en-US" sz="1400" dirty="0">
                <a:solidFill>
                  <a:schemeClr val="tx2"/>
                </a:solidFill>
              </a:rPr>
              <a:t>Stock cooler only if included; warns if undersized</a:t>
            </a:r>
            <a:endParaRPr lang="en-US" sz="1400" dirty="0"/>
          </a:p>
        </p:txBody>
      </p:sp>
      <p:sp>
        <p:nvSpPr>
          <p:cNvPr id="46" name="Check card 8"/>
          <p:cNvSpPr/>
          <p:nvPr/>
        </p:nvSpPr>
        <p:spPr>
          <a:xfrm>
            <a:off x="9075191" y="3840480"/>
            <a:ext cx="2567864" cy="2194560"/>
          </a:xfrm>
          <a:prstGeom prst="roundRect">
            <a:avLst>
              <a:gd name="adj" fmla="val 3333"/>
            </a:avLst>
          </a:prstGeom>
          <a:solidFill>
            <a:schemeClr val="bg2"/>
          </a:solidFill>
          <a:ln w="12700">
            <a:solidFill>
              <a:schemeClr val="bg2"/>
            </a:solidFill>
            <a:prstDash val="solid"/>
          </a:ln>
        </p:spPr>
      </p:sp>
      <p:sp>
        <p:nvSpPr>
          <p:cNvPr id="47" name="Check 8 circle"/>
          <p:cNvSpPr/>
          <p:nvPr/>
        </p:nvSpPr>
        <p:spPr>
          <a:xfrm>
            <a:off x="9349511" y="4114800"/>
            <a:ext cx="640080" cy="640080"/>
          </a:xfrm>
          <a:prstGeom prst="ellipse">
            <a:avLst/>
          </a:prstGeom>
          <a:solidFill>
            <a:schemeClr val="accent3"/>
          </a:solidFill>
          <a:ln w="12700">
            <a:solidFill>
              <a:schemeClr val="accent3"/>
            </a:solidFill>
            <a:prstDash val="solid"/>
          </a:ln>
        </p:spPr>
      </p:sp>
      <p:pic>
        <p:nvPicPr>
          <p:cNvPr id="48" name="Check 8 icon" descr="preencoded.png">    </p:cNvPr>
          <p:cNvPicPr>
            <a:picLocks noChangeAspect="1"/>
          </p:cNvPicPr>
          <p:nvPr/>
        </p:nvPicPr>
        <p:blipFill>
          <a:blip r:embed="rId8"/>
          <a:stretch>
            <a:fillRect/>
          </a:stretch>
        </p:blipFill>
        <p:spPr>
          <a:xfrm>
            <a:off x="9515932" y="4281221"/>
            <a:ext cx="307238" cy="307238"/>
          </a:xfrm>
          <a:prstGeom prst="rect">
            <a:avLst/>
          </a:prstGeom>
        </p:spPr>
      </p:pic>
      <p:sp>
        <p:nvSpPr>
          <p:cNvPr id="49" name="Check kind 8"/>
          <p:cNvSpPr txBox="1"/>
          <p:nvPr/>
        </p:nvSpPr>
        <p:spPr>
          <a:xfrm>
            <a:off x="10081031" y="4279392"/>
            <a:ext cx="1333424" cy="320040"/>
          </a:xfrm>
          <a:prstGeom prst="rect">
            <a:avLst/>
          </a:prstGeom>
          <a:noFill/>
          <a:ln/>
        </p:spPr>
        <p:txBody>
          <a:bodyPr wrap="square" lIns="0" tIns="0" rIns="0" bIns="0" rtlCol="0" anchor="t"/>
          <a:lstStyle/>
          <a:p>
            <a:pPr indent="0" marL="0">
              <a:buNone/>
            </a:pPr>
            <a:r>
              <a:rPr lang="en-US" sz="1200" b="1" dirty="0">
                <a:solidFill>
                  <a:schemeClr val="tx2"/>
                </a:solidFill>
              </a:rPr>
              <a:t>Error + warning</a:t>
            </a:r>
            <a:endParaRPr lang="en-US" sz="1200" dirty="0"/>
          </a:p>
        </p:txBody>
      </p:sp>
      <p:sp>
        <p:nvSpPr>
          <p:cNvPr id="50" name="Check title 8"/>
          <p:cNvSpPr txBox="1"/>
          <p:nvPr/>
        </p:nvSpPr>
        <p:spPr>
          <a:xfrm>
            <a:off x="9349511" y="48920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Storage</a:t>
            </a:r>
            <a:endParaRPr lang="en-US" sz="1800" dirty="0"/>
          </a:p>
        </p:txBody>
      </p:sp>
      <p:sp>
        <p:nvSpPr>
          <p:cNvPr id="51" name="Check desc 8"/>
          <p:cNvSpPr txBox="1"/>
          <p:nvPr/>
        </p:nvSpPr>
        <p:spPr>
          <a:xfrm>
            <a:off x="9349511" y="5276088"/>
            <a:ext cx="2019224" cy="685800"/>
          </a:xfrm>
          <a:prstGeom prst="rect">
            <a:avLst/>
          </a:prstGeom>
          <a:noFill/>
          <a:ln/>
        </p:spPr>
        <p:txBody>
          <a:bodyPr wrap="square" lIns="0" tIns="0" rIns="0" bIns="0" rtlCol="0" anchor="t"/>
          <a:lstStyle/>
          <a:p>
            <a:pPr indent="0" marL="0">
              <a:buNone/>
            </a:pPr>
            <a:r>
              <a:rPr lang="en-US" sz="1400" dirty="0">
                <a:solidFill>
                  <a:schemeClr val="tx2"/>
                </a:solidFill>
              </a:rPr>
              <a:t>Needs a drive; warns if there is no SSD</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Turning real parts into model inputs</a:t>
            </a:r>
            <a:endParaRPr lang="en-US" sz="3200" dirty="0"/>
          </a:p>
        </p:txBody>
      </p:sp>
      <p:graphicFrame>
        <p:nvGraphicFramePr>
          <p:cNvPr id="27" name="Input mapping table"/>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011680"/>
                <a:gridCol w="4663440"/>
              </a:tblGrid>
              <a:tr h="502920">
                <a:tc>
                  <a:txBody>
                    <a:bodyPr/>
                    <a:lstStyle/>
                    <a:p>
                      <a:pPr indent="0" marL="0">
                        <a:buNone/>
                      </a:pPr>
                      <a:r>
                        <a:rPr lang="en-US" sz="1500" b="1" dirty="0">
                          <a:solidFill>
                            <a:schemeClr val="bg1"/>
                          </a:solidFill>
                        </a:rPr>
                        <a:t>Model input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Comes from</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r>
              <a:tr h="502920">
                <a:tc>
                  <a:txBody>
                    <a:bodyPr/>
                    <a:lstStyle/>
                    <a:p>
                      <a:pPr indent="0" marL="0">
                        <a:buNone/>
                      </a:pPr>
                      <a:r>
                        <a:rPr lang="en-US" sz="1500" b="1" dirty="0">
                          <a:solidFill>
                            <a:schemeClr val="tx1"/>
                          </a:solidFill>
                        </a:rPr>
                        <a:t>RAM_GB</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RAM kit capacity × number of kits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500" b="1" dirty="0">
                          <a:solidFill>
                            <a:schemeClr val="tx1"/>
                          </a:solidFill>
                        </a:rPr>
                        <a:t>CPU_Cores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CPU core count</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500" b="1" dirty="0">
                          <a:solidFill>
                            <a:schemeClr val="tx1"/>
                          </a:solidFill>
                        </a:rPr>
                        <a:t>Clock_GHz</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CPU maximum boost clock</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500" b="1" dirty="0">
                          <a:solidFill>
                            <a:schemeClr val="tx1"/>
                          </a:solidFill>
                        </a:rPr>
                        <a:t>GPU_Level</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Graphics card tier (0 = integrated, 12 = flagship)</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500" b="1" dirty="0">
                          <a:solidFill>
                            <a:schemeClr val="tx1"/>
                          </a:solidFill>
                        </a:rPr>
                        <a:t>Storage_GB</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Total capacity of all drives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500" b="1" dirty="0">
                          <a:solidFill>
                            <a:schemeClr val="tx1"/>
                          </a:solidFill>
                        </a:rPr>
                        <a:t>Temperature_C</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Estimated from cooler, case, fans and power</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500" b="1" dirty="0">
                          <a:solidFill>
                            <a:schemeClr val="tx1"/>
                          </a:solidFill>
                        </a:rPr>
                        <a:t>Age_Years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PC age slider (0 for a new build)</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500" b="1" dirty="0">
                          <a:solidFill>
                            <a:schemeClr val="tx1"/>
                          </a:solidFill>
                        </a:rPr>
                        <a:t>OS</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Windows 10 / 11 or a Linux distribution</a:t>
                      </a:r>
                      <a:endParaRPr lang="en-US" sz="15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Temperature formula card"/>
          <p:cNvSpPr/>
          <p:nvPr/>
        </p:nvSpPr>
        <p:spPr>
          <a:xfrm>
            <a:off x="7543800" y="1371600"/>
            <a:ext cx="4096512" cy="2697480"/>
          </a:xfrm>
          <a:prstGeom prst="roundRect">
            <a:avLst>
              <a:gd name="adj" fmla="val 2712"/>
            </a:avLst>
          </a:prstGeom>
          <a:solidFill>
            <a:schemeClr val="bg2"/>
          </a:solidFill>
          <a:ln w="12700">
            <a:solidFill>
              <a:schemeClr val="bg2"/>
            </a:solidFill>
            <a:prstDash val="solid"/>
          </a:ln>
        </p:spPr>
      </p:sp>
      <p:sp>
        <p:nvSpPr>
          <p:cNvPr id="6" name="Temperature circle"/>
          <p:cNvSpPr/>
          <p:nvPr/>
        </p:nvSpPr>
        <p:spPr>
          <a:xfrm>
            <a:off x="7818120" y="1600200"/>
            <a:ext cx="640080" cy="640080"/>
          </a:xfrm>
          <a:prstGeom prst="ellipse">
            <a:avLst/>
          </a:prstGeom>
          <a:solidFill>
            <a:schemeClr val="accent3"/>
          </a:solidFill>
          <a:ln w="12700">
            <a:solidFill>
              <a:schemeClr val="accent3"/>
            </a:solidFill>
            <a:prstDash val="solid"/>
          </a:ln>
        </p:spPr>
      </p:sp>
      <p:pic>
        <p:nvPicPr>
          <p:cNvPr id="7" name="Temperature icon" descr="preencoded.png">    </p:cNvPr>
          <p:cNvPicPr>
            <a:picLocks noChangeAspect="1"/>
          </p:cNvPicPr>
          <p:nvPr/>
        </p:nvPicPr>
        <p:blipFill>
          <a:blip r:embed="rId1"/>
          <a:stretch>
            <a:fillRect/>
          </a:stretch>
        </p:blipFill>
        <p:spPr>
          <a:xfrm>
            <a:off x="7984541" y="1766621"/>
            <a:ext cx="307238" cy="307238"/>
          </a:xfrm>
          <a:prstGeom prst="rect">
            <a:avLst/>
          </a:prstGeom>
        </p:spPr>
      </p:pic>
      <p:sp>
        <p:nvSpPr>
          <p:cNvPr id="8" name="Temp title"/>
          <p:cNvSpPr txBox="1"/>
          <p:nvPr/>
        </p:nvSpPr>
        <p:spPr>
          <a:xfrm>
            <a:off x="8595360" y="1719072"/>
            <a:ext cx="2926080" cy="365760"/>
          </a:xfrm>
          <a:prstGeom prst="rect">
            <a:avLst/>
          </a:prstGeom>
          <a:noFill/>
          <a:ln/>
        </p:spPr>
        <p:txBody>
          <a:bodyPr wrap="square" lIns="0" tIns="0" rIns="0" bIns="0" rtlCol="0" anchor="t"/>
          <a:lstStyle/>
          <a:p>
            <a:pPr indent="0" marL="0">
              <a:buNone/>
            </a:pPr>
            <a:r>
              <a:rPr lang="en-US" sz="1800" b="1" dirty="0">
                <a:solidFill>
                  <a:schemeClr val="tx1"/>
                </a:solidFill>
              </a:rPr>
              <a:t>Temperature estimate</a:t>
            </a:r>
            <a:endParaRPr lang="en-US" sz="1800" dirty="0"/>
          </a:p>
        </p:txBody>
      </p:sp>
      <p:sp>
        <p:nvSpPr>
          <p:cNvPr id="9" name="Temp formula"/>
          <p:cNvSpPr txBox="1"/>
          <p:nvPr/>
        </p:nvSpPr>
        <p:spPr>
          <a:xfrm>
            <a:off x="7818120" y="2423160"/>
            <a:ext cx="3611880" cy="1554480"/>
          </a:xfrm>
          <a:prstGeom prst="rect">
            <a:avLst/>
          </a:prstGeom>
          <a:noFill/>
          <a:ln/>
        </p:spPr>
        <p:txBody>
          <a:bodyPr wrap="square" lIns="0" tIns="0" rIns="0" bIns="0" rtlCol="0" anchor="t"/>
          <a:lstStyle/>
          <a:p>
            <a:pPr indent="0" marL="0">
              <a:spcAft>
                <a:spcPts val="200"/>
              </a:spcAft>
              <a:buNone/>
            </a:pPr>
            <a:r>
              <a:rPr lang="en-US" sz="1400" dirty="0">
                <a:solidFill>
                  <a:schemeClr val="tx2"/>
                </a:solidFill>
              </a:rPr>
              <a:t>38 °C base</a:t>
            </a:r>
            <a:endParaRPr lang="en-US" sz="1400" dirty="0"/>
          </a:p>
          <a:p>
            <a:pPr indent="0" marL="0">
              <a:spcAft>
                <a:spcPts val="200"/>
              </a:spcAft>
              <a:buNone/>
            </a:pPr>
            <a:r>
              <a:rPr lang="en-US" sz="1400" dirty="0">
                <a:solidFill>
                  <a:schemeClr val="tx2"/>
                </a:solidFill>
              </a:rPr>
              <a:t>+ 35 × CPU watts ÷ cooler capacity</a:t>
            </a:r>
            <a:endParaRPr lang="en-US" sz="1400" dirty="0"/>
          </a:p>
          <a:p>
            <a:pPr indent="0" marL="0">
              <a:spcAft>
                <a:spcPts val="200"/>
              </a:spcAft>
              <a:buNone/>
            </a:pPr>
            <a:r>
              <a:rPr lang="en-US" sz="1400" dirty="0">
                <a:solidFill>
                  <a:schemeClr val="tx2"/>
                </a:solidFill>
              </a:rPr>
              <a:t>+ case airflow penalty (0 / 4 / 9 °C)</a:t>
            </a:r>
            <a:endParaRPr lang="en-US" sz="1400" dirty="0"/>
          </a:p>
          <a:p>
            <a:pPr indent="0" marL="0">
              <a:spcAft>
                <a:spcPts val="200"/>
              </a:spcAft>
              <a:buNone/>
            </a:pPr>
            <a:r>
              <a:rPr lang="en-US" sz="1400" dirty="0">
                <a:solidFill>
                  <a:schemeClr val="tx2"/>
                </a:solidFill>
              </a:rPr>
              <a:t>+ GPU watts ÷ 60</a:t>
            </a:r>
            <a:endParaRPr lang="en-US" sz="1400" dirty="0"/>
          </a:p>
          <a:p>
            <a:pPr indent="0" marL="0">
              <a:spcAft>
                <a:spcPts val="200"/>
              </a:spcAft>
              <a:buNone/>
            </a:pPr>
            <a:r>
              <a:rPr lang="en-US" sz="1400" dirty="0">
                <a:solidFill>
                  <a:schemeClr val="tx2"/>
                </a:solidFill>
              </a:rPr>
              <a:t>− extra case fans (up to 5 °C)</a:t>
            </a:r>
            <a:endParaRPr lang="en-US" sz="1400" dirty="0"/>
          </a:p>
        </p:txBody>
      </p:sp>
      <p:sp>
        <p:nvSpPr>
          <p:cNvPr id="10" name="Capping card"/>
          <p:cNvSpPr/>
          <p:nvPr/>
        </p:nvSpPr>
        <p:spPr>
          <a:xfrm>
            <a:off x="7543800" y="4251960"/>
            <a:ext cx="4096512" cy="1920240"/>
          </a:xfrm>
          <a:prstGeom prst="roundRect">
            <a:avLst>
              <a:gd name="adj" fmla="val 3810"/>
            </a:avLst>
          </a:prstGeom>
          <a:solidFill>
            <a:schemeClr val="bg2"/>
          </a:solidFill>
          <a:ln w="12700">
            <a:solidFill>
              <a:schemeClr val="bg2"/>
            </a:solidFill>
            <a:prstDash val="solid"/>
          </a:ln>
        </p:spPr>
      </p:sp>
      <p:sp>
        <p:nvSpPr>
          <p:cNvPr id="11" name="Capping circle"/>
          <p:cNvSpPr/>
          <p:nvPr/>
        </p:nvSpPr>
        <p:spPr>
          <a:xfrm>
            <a:off x="7818120" y="4480560"/>
            <a:ext cx="640080" cy="640080"/>
          </a:xfrm>
          <a:prstGeom prst="ellipse">
            <a:avLst/>
          </a:prstGeom>
          <a:solidFill>
            <a:schemeClr val="accent5"/>
          </a:solidFill>
          <a:ln w="12700">
            <a:solidFill>
              <a:schemeClr val="accent5"/>
            </a:solidFill>
            <a:prstDash val="solid"/>
          </a:ln>
        </p:spPr>
      </p:sp>
      <p:pic>
        <p:nvPicPr>
          <p:cNvPr id="12" name="Capping icon" descr="preencoded.png">    </p:cNvPr>
          <p:cNvPicPr>
            <a:picLocks noChangeAspect="1"/>
          </p:cNvPicPr>
          <p:nvPr/>
        </p:nvPicPr>
        <p:blipFill>
          <a:blip r:embed="rId2"/>
          <a:stretch>
            <a:fillRect/>
          </a:stretch>
        </p:blipFill>
        <p:spPr>
          <a:xfrm>
            <a:off x="7984541" y="4646981"/>
            <a:ext cx="307238" cy="307238"/>
          </a:xfrm>
          <a:prstGeom prst="rect">
            <a:avLst/>
          </a:prstGeom>
        </p:spPr>
      </p:pic>
      <p:sp>
        <p:nvSpPr>
          <p:cNvPr id="13" name="Cap title"/>
          <p:cNvSpPr txBox="1"/>
          <p:nvPr/>
        </p:nvSpPr>
        <p:spPr>
          <a:xfrm>
            <a:off x="8595360" y="4599432"/>
            <a:ext cx="3017520" cy="365760"/>
          </a:xfrm>
          <a:prstGeom prst="rect">
            <a:avLst/>
          </a:prstGeom>
          <a:noFill/>
          <a:ln/>
        </p:spPr>
        <p:txBody>
          <a:bodyPr wrap="square" lIns="0" tIns="0" rIns="0" bIns="0" rtlCol="0" anchor="t"/>
          <a:lstStyle/>
          <a:p>
            <a:pPr indent="0" marL="0">
              <a:buNone/>
            </a:pPr>
            <a:r>
              <a:rPr lang="en-US" sz="1800" b="1" dirty="0">
                <a:solidFill>
                  <a:schemeClr val="tx1"/>
                </a:solidFill>
              </a:rPr>
              <a:t>Capped to training range</a:t>
            </a:r>
            <a:endParaRPr lang="en-US" sz="1800" dirty="0"/>
          </a:p>
        </p:txBody>
      </p:sp>
      <p:sp>
        <p:nvSpPr>
          <p:cNvPr id="14" name="Cap desc"/>
          <p:cNvSpPr txBox="1"/>
          <p:nvPr/>
        </p:nvSpPr>
        <p:spPr>
          <a:xfrm>
            <a:off x="7818120" y="5257800"/>
            <a:ext cx="3611880" cy="822960"/>
          </a:xfrm>
          <a:prstGeom prst="rect">
            <a:avLst/>
          </a:prstGeom>
          <a:noFill/>
          <a:ln/>
        </p:spPr>
        <p:txBody>
          <a:bodyPr wrap="square" lIns="0" tIns="0" rIns="0" bIns="0" rtlCol="0" anchor="t"/>
          <a:lstStyle/>
          <a:p>
            <a:pPr indent="0" marL="0">
              <a:buNone/>
            </a:pPr>
            <a:r>
              <a:rPr lang="en-US" sz="1400" dirty="0">
                <a:solidFill>
                  <a:schemeClr val="tx2"/>
                </a:solidFill>
              </a:rPr>
              <a:t>16 cores · 5.0 GHz · 64 GB RAM · 2 TB storage · 90 °C. A 24-core i9 is treated as 16 cores, and the app says so.</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app in action</a:t>
            </a:r>
            <a:endParaRPr lang="en-US" sz="3200" dirty="0"/>
          </a:p>
        </p:txBody>
      </p:sp>
      <p:pic>
        <p:nvPicPr>
          <p:cNvPr id="4" name="Builder screenshot" descr="C:\Users\Sri Sashank\AppData\Local\Temp\claude\C--Codes-Projects-ML-proj\16ca9d5f-5c35-402f-9d0a-3fccf4d36b54\scratchpad\deck\img\app_builder.jpg">    </p:cNvPr>
          <p:cNvPicPr>
            <a:picLocks noChangeAspect="1"/>
          </p:cNvPicPr>
          <p:nvPr/>
        </p:nvPicPr>
        <p:blipFill>
          <a:blip r:embed="rId1"/>
          <a:stretch>
            <a:fillRect/>
          </a:stretch>
        </p:blipFill>
        <p:spPr>
          <a:xfrm>
            <a:off x="548640" y="1325880"/>
            <a:ext cx="3840480" cy="4589484"/>
          </a:xfrm>
          <a:prstGeom prst="rect">
            <a:avLst/>
          </a:prstGeom>
        </p:spPr>
      </p:pic>
      <p:pic>
        <p:nvPicPr>
          <p:cNvPr id="5" name="FPS screenshot" descr="C:\Users\Sri Sashank\AppData\Local\Temp\claude\C--Codes-Projects-ML-proj\16ca9d5f-5c35-402f-9d0a-3fccf4d36b54\scratchpad\deck\img\app_fps.jpg">    </p:cNvPr>
          <p:cNvPicPr>
            <a:picLocks noChangeAspect="1"/>
          </p:cNvPicPr>
          <p:nvPr/>
        </p:nvPicPr>
        <p:blipFill>
          <a:blip r:embed="rId2"/>
          <a:stretch>
            <a:fillRect/>
          </a:stretch>
        </p:blipFill>
        <p:spPr>
          <a:xfrm>
            <a:off x="4846320" y="1325880"/>
            <a:ext cx="6793992" cy="4628375"/>
          </a:xfrm>
          <a:prstGeom prst="rect">
            <a:avLst/>
          </a:prstGeom>
        </p:spPr>
      </p:pic>
      <p:sp>
        <p:nvSpPr>
          <p:cNvPr id="6" name="Screenshot caption"/>
          <p:cNvSpPr txBox="1"/>
          <p:nvPr/>
        </p:nvSpPr>
        <p:spPr>
          <a:xfrm>
            <a:off x="4846320" y="6035040"/>
            <a:ext cx="6793992" cy="320040"/>
          </a:xfrm>
          <a:prstGeom prst="rect">
            <a:avLst/>
          </a:prstGeom>
          <a:noFill/>
          <a:ln/>
        </p:spPr>
        <p:txBody>
          <a:bodyPr wrap="square" lIns="0" tIns="0" rIns="0" bIns="0" rtlCol="0" anchor="t"/>
          <a:lstStyle/>
          <a:p>
            <a:pPr indent="0" marL="0">
              <a:buNone/>
            </a:pPr>
            <a:r>
              <a:rPr lang="en-US" sz="1300" i="1" dirty="0">
                <a:solidFill>
                  <a:schemeClr val="tx2"/>
                </a:solidFill>
              </a:rPr>
              <a:t>Ryzen 7 7800X3D + RTX 4070 SUPER: score 820 / 1000, High performance, all parts compatible</a:t>
            </a:r>
            <a:endParaRPr lang="en-US" sz="13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Game FPS estimates</a:t>
            </a:r>
            <a:endParaRPr lang="en-US" sz="3200" dirty="0"/>
          </a:p>
        </p:txBody>
      </p:sp>
      <p:sp>
        <p:nvSpPr>
          <p:cNvPr id="4" name="FPS step 1 circle"/>
          <p:cNvSpPr/>
          <p:nvPr/>
        </p:nvSpPr>
        <p:spPr>
          <a:xfrm>
            <a:off x="548640" y="1463040"/>
            <a:ext cx="685800" cy="685800"/>
          </a:xfrm>
          <a:prstGeom prst="ellipse">
            <a:avLst/>
          </a:prstGeom>
          <a:solidFill>
            <a:schemeClr val="accent2"/>
          </a:solidFill>
          <a:ln w="12700">
            <a:solidFill>
              <a:schemeClr val="accent2"/>
            </a:solidFill>
            <a:prstDash val="solid"/>
          </a:ln>
        </p:spPr>
      </p:sp>
      <p:pic>
        <p:nvPicPr>
          <p:cNvPr id="5" name="FPS step 1 icon" descr="preencoded.png">    </p:cNvPr>
          <p:cNvPicPr>
            <a:picLocks noChangeAspect="1"/>
          </p:cNvPicPr>
          <p:nvPr/>
        </p:nvPicPr>
        <p:blipFill>
          <a:blip r:embed="rId1"/>
          <a:stretch>
            <a:fillRect/>
          </a:stretch>
        </p:blipFill>
        <p:spPr>
          <a:xfrm>
            <a:off x="726948" y="1641348"/>
            <a:ext cx="329184" cy="329184"/>
          </a:xfrm>
          <a:prstGeom prst="rect">
            <a:avLst/>
          </a:prstGeom>
        </p:spPr>
      </p:pic>
      <p:sp>
        <p:nvSpPr>
          <p:cNvPr id="6" name="FPS step title 1"/>
          <p:cNvSpPr txBox="1"/>
          <p:nvPr/>
        </p:nvSpPr>
        <p:spPr>
          <a:xfrm>
            <a:off x="1417320" y="1444752"/>
            <a:ext cx="3063240" cy="365760"/>
          </a:xfrm>
          <a:prstGeom prst="rect">
            <a:avLst/>
          </a:prstGeom>
          <a:noFill/>
          <a:ln/>
        </p:spPr>
        <p:txBody>
          <a:bodyPr wrap="square" lIns="0" tIns="0" rIns="0" bIns="0" rtlCol="0" anchor="t"/>
          <a:lstStyle/>
          <a:p>
            <a:pPr indent="0" marL="0">
              <a:buNone/>
            </a:pPr>
            <a:r>
              <a:rPr lang="en-US" sz="1700" b="1" dirty="0">
                <a:solidFill>
                  <a:schemeClr val="tx1"/>
                </a:solidFill>
              </a:rPr>
              <a:t>GPU-limited FPS</a:t>
            </a:r>
            <a:endParaRPr lang="en-US" sz="1700" dirty="0"/>
          </a:p>
        </p:txBody>
      </p:sp>
      <p:sp>
        <p:nvSpPr>
          <p:cNvPr id="7" name="FPS step desc 1"/>
          <p:cNvSpPr txBox="1"/>
          <p:nvPr/>
        </p:nvSpPr>
        <p:spPr>
          <a:xfrm>
            <a:off x="1417320" y="1828800"/>
            <a:ext cx="3063240" cy="777240"/>
          </a:xfrm>
          <a:prstGeom prst="rect">
            <a:avLst/>
          </a:prstGeom>
          <a:noFill/>
          <a:ln/>
        </p:spPr>
        <p:txBody>
          <a:bodyPr wrap="square" lIns="0" tIns="0" rIns="0" bIns="0" rtlCol="0" anchor="t"/>
          <a:lstStyle/>
          <a:p>
            <a:pPr indent="0" marL="0">
              <a:buNone/>
            </a:pPr>
            <a:r>
              <a:rPr lang="en-US" sz="1400" dirty="0">
                <a:solidFill>
                  <a:schemeClr val="tx2"/>
                </a:solidFill>
              </a:rPr>
              <a:t>Game reference FPS × GPU rating</a:t>
            </a:r>
            <a:endParaRPr lang="en-US" sz="1400" dirty="0"/>
          </a:p>
        </p:txBody>
      </p:sp>
      <p:sp>
        <p:nvSpPr>
          <p:cNvPr id="8" name="FPS step 2 circle"/>
          <p:cNvSpPr/>
          <p:nvPr/>
        </p:nvSpPr>
        <p:spPr>
          <a:xfrm>
            <a:off x="548640" y="2788920"/>
            <a:ext cx="685800" cy="685800"/>
          </a:xfrm>
          <a:prstGeom prst="ellipse">
            <a:avLst/>
          </a:prstGeom>
          <a:solidFill>
            <a:schemeClr val="accent2"/>
          </a:solidFill>
          <a:ln w="12700">
            <a:solidFill>
              <a:schemeClr val="accent2"/>
            </a:solidFill>
            <a:prstDash val="solid"/>
          </a:ln>
        </p:spPr>
      </p:sp>
      <p:pic>
        <p:nvPicPr>
          <p:cNvPr id="9" name="FPS step 2 icon" descr="preencoded.png">    </p:cNvPr>
          <p:cNvPicPr>
            <a:picLocks noChangeAspect="1"/>
          </p:cNvPicPr>
          <p:nvPr/>
        </p:nvPicPr>
        <p:blipFill>
          <a:blip r:embed="rId2"/>
          <a:stretch>
            <a:fillRect/>
          </a:stretch>
        </p:blipFill>
        <p:spPr>
          <a:xfrm>
            <a:off x="726948" y="2967228"/>
            <a:ext cx="329184" cy="329184"/>
          </a:xfrm>
          <a:prstGeom prst="rect">
            <a:avLst/>
          </a:prstGeom>
        </p:spPr>
      </p:pic>
      <p:sp>
        <p:nvSpPr>
          <p:cNvPr id="10" name="FPS step title 2"/>
          <p:cNvSpPr txBox="1"/>
          <p:nvPr/>
        </p:nvSpPr>
        <p:spPr>
          <a:xfrm>
            <a:off x="1417320" y="2770632"/>
            <a:ext cx="3063240" cy="365760"/>
          </a:xfrm>
          <a:prstGeom prst="rect">
            <a:avLst/>
          </a:prstGeom>
          <a:noFill/>
          <a:ln/>
        </p:spPr>
        <p:txBody>
          <a:bodyPr wrap="square" lIns="0" tIns="0" rIns="0" bIns="0" rtlCol="0" anchor="t"/>
          <a:lstStyle/>
          <a:p>
            <a:pPr indent="0" marL="0">
              <a:buNone/>
            </a:pPr>
            <a:r>
              <a:rPr lang="en-US" sz="1700" b="1" dirty="0">
                <a:solidFill>
                  <a:schemeClr val="tx1"/>
                </a:solidFill>
              </a:rPr>
              <a:t>CPU-limited FPS</a:t>
            </a:r>
            <a:endParaRPr lang="en-US" sz="1700" dirty="0"/>
          </a:p>
        </p:txBody>
      </p:sp>
      <p:sp>
        <p:nvSpPr>
          <p:cNvPr id="11" name="FPS step desc 2"/>
          <p:cNvSpPr txBox="1"/>
          <p:nvPr/>
        </p:nvSpPr>
        <p:spPr>
          <a:xfrm>
            <a:off x="1417320" y="3154680"/>
            <a:ext cx="3063240" cy="777240"/>
          </a:xfrm>
          <a:prstGeom prst="rect">
            <a:avLst/>
          </a:prstGeom>
          <a:noFill/>
          <a:ln/>
        </p:spPr>
        <p:txBody>
          <a:bodyPr wrap="square" lIns="0" tIns="0" rIns="0" bIns="0" rtlCol="0" anchor="t"/>
          <a:lstStyle/>
          <a:p>
            <a:pPr indent="0" marL="0">
              <a:buNone/>
            </a:pPr>
            <a:r>
              <a:rPr lang="en-US" sz="1400" dirty="0">
                <a:solidFill>
                  <a:schemeClr val="tx2"/>
                </a:solidFill>
              </a:rPr>
              <a:t>Game CPU limit × CPU gaming rating</a:t>
            </a:r>
            <a:endParaRPr lang="en-US" sz="1400" dirty="0"/>
          </a:p>
        </p:txBody>
      </p:sp>
      <p:sp>
        <p:nvSpPr>
          <p:cNvPr id="12" name="FPS step 3 circle"/>
          <p:cNvSpPr/>
          <p:nvPr/>
        </p:nvSpPr>
        <p:spPr>
          <a:xfrm>
            <a:off x="548640" y="4114800"/>
            <a:ext cx="685800" cy="685800"/>
          </a:xfrm>
          <a:prstGeom prst="ellipse">
            <a:avLst/>
          </a:prstGeom>
          <a:solidFill>
            <a:schemeClr val="accent2"/>
          </a:solidFill>
          <a:ln w="12700">
            <a:solidFill>
              <a:schemeClr val="accent2"/>
            </a:solidFill>
            <a:prstDash val="solid"/>
          </a:ln>
        </p:spPr>
      </p:sp>
      <p:pic>
        <p:nvPicPr>
          <p:cNvPr id="13" name="FPS step 3 icon" descr="preencoded.png">    </p:cNvPr>
          <p:cNvPicPr>
            <a:picLocks noChangeAspect="1"/>
          </p:cNvPicPr>
          <p:nvPr/>
        </p:nvPicPr>
        <p:blipFill>
          <a:blip r:embed="rId3"/>
          <a:stretch>
            <a:fillRect/>
          </a:stretch>
        </p:blipFill>
        <p:spPr>
          <a:xfrm>
            <a:off x="726948" y="4293108"/>
            <a:ext cx="329184" cy="329184"/>
          </a:xfrm>
          <a:prstGeom prst="rect">
            <a:avLst/>
          </a:prstGeom>
        </p:spPr>
      </p:pic>
      <p:sp>
        <p:nvSpPr>
          <p:cNvPr id="14" name="FPS step title 3"/>
          <p:cNvSpPr txBox="1"/>
          <p:nvPr/>
        </p:nvSpPr>
        <p:spPr>
          <a:xfrm>
            <a:off x="1417320" y="4096512"/>
            <a:ext cx="3063240" cy="365760"/>
          </a:xfrm>
          <a:prstGeom prst="rect">
            <a:avLst/>
          </a:prstGeom>
          <a:noFill/>
          <a:ln/>
        </p:spPr>
        <p:txBody>
          <a:bodyPr wrap="square" lIns="0" tIns="0" rIns="0" bIns="0" rtlCol="0" anchor="t"/>
          <a:lstStyle/>
          <a:p>
            <a:pPr indent="0" marL="0">
              <a:buNone/>
            </a:pPr>
            <a:r>
              <a:rPr lang="en-US" sz="1700" b="1" dirty="0">
                <a:solidFill>
                  <a:schemeClr val="tx1"/>
                </a:solidFill>
              </a:rPr>
              <a:t>Combine &amp; adjust</a:t>
            </a:r>
            <a:endParaRPr lang="en-US" sz="1700" dirty="0"/>
          </a:p>
        </p:txBody>
      </p:sp>
      <p:sp>
        <p:nvSpPr>
          <p:cNvPr id="15" name="FPS step desc 3"/>
          <p:cNvSpPr txBox="1"/>
          <p:nvPr/>
        </p:nvSpPr>
        <p:spPr>
          <a:xfrm>
            <a:off x="1417320" y="4480560"/>
            <a:ext cx="3063240" cy="777240"/>
          </a:xfrm>
          <a:prstGeom prst="rect">
            <a:avLst/>
          </a:prstGeom>
          <a:noFill/>
          <a:ln/>
        </p:spPr>
        <p:txBody>
          <a:bodyPr wrap="square" lIns="0" tIns="0" rIns="0" bIns="0" rtlCol="0" anchor="t"/>
          <a:lstStyle/>
          <a:p>
            <a:pPr indent="0" marL="0">
              <a:buNone/>
            </a:pPr>
            <a:r>
              <a:rPr lang="en-US" sz="1400" dirty="0">
                <a:solidFill>
                  <a:schemeClr val="tx2"/>
                </a:solidFill>
              </a:rPr>
              <a:t>Lower of the two, minus low-RAM and heat penalties, engine caps</a:t>
            </a:r>
            <a:endParaRPr lang="en-US" sz="1400" dirty="0"/>
          </a:p>
        </p:txBody>
      </p:sp>
      <p:sp>
        <p:nvSpPr>
          <p:cNvPr id="16" name="FPS disclaimer card"/>
          <p:cNvSpPr/>
          <p:nvPr/>
        </p:nvSpPr>
        <p:spPr>
          <a:xfrm>
            <a:off x="548640" y="5486400"/>
            <a:ext cx="3931920" cy="685800"/>
          </a:xfrm>
          <a:prstGeom prst="roundRect">
            <a:avLst>
              <a:gd name="adj" fmla="val 10667"/>
            </a:avLst>
          </a:prstGeom>
          <a:solidFill>
            <a:schemeClr val="bg2"/>
          </a:solidFill>
          <a:ln w="12700">
            <a:solidFill>
              <a:schemeClr val="bg2"/>
            </a:solidFill>
            <a:prstDash val="solid"/>
          </a:ln>
        </p:spPr>
      </p:sp>
      <p:sp>
        <p:nvSpPr>
          <p:cNvPr id="17" name="FPS disclaimer"/>
          <p:cNvSpPr txBox="1"/>
          <p:nvPr/>
        </p:nvSpPr>
        <p:spPr>
          <a:xfrm>
            <a:off x="731520" y="5486400"/>
            <a:ext cx="3566160" cy="685800"/>
          </a:xfrm>
          <a:prstGeom prst="rect">
            <a:avLst/>
          </a:prstGeom>
          <a:noFill/>
          <a:ln/>
        </p:spPr>
        <p:txBody>
          <a:bodyPr wrap="square" lIns="0" tIns="0" rIns="0" bIns="0" rtlCol="0" anchor="ctr"/>
          <a:lstStyle/>
          <a:p>
            <a:pPr indent="0" marL="0">
              <a:buNone/>
            </a:pPr>
            <a:r>
              <a:rPr lang="en-US" sz="1300" b="1" dirty="0">
                <a:solidFill>
                  <a:schemeClr val="accent6"/>
                </a:solidFill>
              </a:rPr>
              <a:t>Estimate only: High settings, native resolution</a:t>
            </a:r>
            <a:endParaRPr lang="en-US" sz="1300" dirty="0"/>
          </a:p>
        </p:txBody>
      </p:sp>
      <p:graphicFrame>
        <p:nvGraphicFramePr>
          <p:cNvPr id="18" name="FPS chart" descr=""/>
          <p:cNvGraphicFramePr/>
          <p:nvPr/>
        </p:nvGraphicFramePr>
        <p:xfrm>
          <a:off x="4754880" y="1325880"/>
          <a:ext cx="6885432" cy="489204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One-click Excel build report</a:t>
            </a:r>
            <a:endParaRPr lang="en-US" sz="3200" dirty="0"/>
          </a:p>
        </p:txBody>
      </p:sp>
      <p:sp>
        <p:nvSpPr>
          <p:cNvPr id="4" name="Sheet card 1"/>
          <p:cNvSpPr/>
          <p:nvPr/>
        </p:nvSpPr>
        <p:spPr>
          <a:xfrm>
            <a:off x="548640" y="1463040"/>
            <a:ext cx="2567864" cy="3291840"/>
          </a:xfrm>
          <a:prstGeom prst="roundRect">
            <a:avLst>
              <a:gd name="adj" fmla="val 2849"/>
            </a:avLst>
          </a:prstGeom>
          <a:solidFill>
            <a:schemeClr val="bg2"/>
          </a:solidFill>
          <a:ln w="12700">
            <a:solidFill>
              <a:schemeClr val="bg2"/>
            </a:solidFill>
            <a:prstDash val="solid"/>
          </a:ln>
        </p:spPr>
      </p:sp>
      <p:sp>
        <p:nvSpPr>
          <p:cNvPr id="5" name="Sheet 1 circle"/>
          <p:cNvSpPr/>
          <p:nvPr/>
        </p:nvSpPr>
        <p:spPr>
          <a:xfrm>
            <a:off x="868680" y="1783080"/>
            <a:ext cx="822960" cy="822960"/>
          </a:xfrm>
          <a:prstGeom prst="ellipse">
            <a:avLst/>
          </a:prstGeom>
          <a:solidFill>
            <a:schemeClr val="accent2"/>
          </a:solidFill>
          <a:ln w="12700">
            <a:solidFill>
              <a:schemeClr val="accent2"/>
            </a:solidFill>
            <a:prstDash val="solid"/>
          </a:ln>
        </p:spPr>
      </p:sp>
      <p:pic>
        <p:nvPicPr>
          <p:cNvPr id="6" name="Sheet 1 icon" descr="preencoded.png">    </p:cNvPr>
          <p:cNvPicPr>
            <a:picLocks noChangeAspect="1"/>
          </p:cNvPicPr>
          <p:nvPr/>
        </p:nvPicPr>
        <p:blipFill>
          <a:blip r:embed="rId1"/>
          <a:stretch>
            <a:fillRect/>
          </a:stretch>
        </p:blipFill>
        <p:spPr>
          <a:xfrm>
            <a:off x="1082650" y="1997050"/>
            <a:ext cx="395021" cy="395021"/>
          </a:xfrm>
          <a:prstGeom prst="rect">
            <a:avLst/>
          </a:prstGeom>
        </p:spPr>
      </p:pic>
      <p:sp>
        <p:nvSpPr>
          <p:cNvPr id="7" name="Sheet number 1"/>
          <p:cNvSpPr txBox="1"/>
          <p:nvPr/>
        </p:nvSpPr>
        <p:spPr>
          <a:xfrm>
            <a:off x="868680" y="2788920"/>
            <a:ext cx="1927784" cy="320040"/>
          </a:xfrm>
          <a:prstGeom prst="rect">
            <a:avLst/>
          </a:prstGeom>
          <a:noFill/>
          <a:ln/>
        </p:spPr>
        <p:txBody>
          <a:bodyPr wrap="square" lIns="0" tIns="0" rIns="0" bIns="0" rtlCol="0" anchor="t"/>
          <a:lstStyle/>
          <a:p>
            <a:pPr indent="0" marL="0">
              <a:buNone/>
            </a:pPr>
            <a:r>
              <a:rPr lang="en-US" sz="1300" b="1" dirty="0">
                <a:solidFill>
                  <a:schemeClr val="accent4"/>
                </a:solidFill>
              </a:rPr>
              <a:t>Sheet 1</a:t>
            </a:r>
            <a:endParaRPr lang="en-US" sz="1300" dirty="0"/>
          </a:p>
        </p:txBody>
      </p:sp>
      <p:sp>
        <p:nvSpPr>
          <p:cNvPr id="8" name="Sheet title 1"/>
          <p:cNvSpPr txBox="1"/>
          <p:nvPr/>
        </p:nvSpPr>
        <p:spPr>
          <a:xfrm>
            <a:off x="868680" y="3108960"/>
            <a:ext cx="1927784" cy="411480"/>
          </a:xfrm>
          <a:prstGeom prst="rect">
            <a:avLst/>
          </a:prstGeom>
          <a:noFill/>
          <a:ln/>
        </p:spPr>
        <p:txBody>
          <a:bodyPr wrap="square" lIns="0" tIns="0" rIns="0" bIns="0" rtlCol="0" anchor="t"/>
          <a:lstStyle/>
          <a:p>
            <a:pPr indent="0" marL="0">
              <a:buNone/>
            </a:pPr>
            <a:r>
              <a:rPr lang="en-US" sz="2000" b="1" dirty="0">
                <a:solidFill>
                  <a:schemeClr val="tx1"/>
                </a:solidFill>
              </a:rPr>
              <a:t>Summary</a:t>
            </a:r>
            <a:endParaRPr lang="en-US" sz="2000" dirty="0"/>
          </a:p>
        </p:txBody>
      </p:sp>
      <p:sp>
        <p:nvSpPr>
          <p:cNvPr id="9" name="Sheet desc 1"/>
          <p:cNvSpPr txBox="1"/>
          <p:nvPr/>
        </p:nvSpPr>
        <p:spPr>
          <a:xfrm>
            <a:off x="868680" y="3566160"/>
            <a:ext cx="1927784" cy="1097280"/>
          </a:xfrm>
          <a:prstGeom prst="rect">
            <a:avLst/>
          </a:prstGeom>
          <a:noFill/>
          <a:ln/>
        </p:spPr>
        <p:txBody>
          <a:bodyPr wrap="square" lIns="0" tIns="0" rIns="0" bIns="0" rtlCol="0" anchor="t"/>
          <a:lstStyle/>
          <a:p>
            <a:pPr indent="0" marL="0">
              <a:buNone/>
            </a:pPr>
            <a:r>
              <a:rPr lang="en-US" sz="1400" dirty="0">
                <a:solidFill>
                  <a:schemeClr val="tx2"/>
                </a:solidFill>
              </a:rPr>
              <a:t>Predicted score, performance level, error margin, compatibility, power draw and temperature</a:t>
            </a:r>
            <a:endParaRPr lang="en-US" sz="1400" dirty="0"/>
          </a:p>
        </p:txBody>
      </p:sp>
      <p:sp>
        <p:nvSpPr>
          <p:cNvPr id="10" name="Sheet card 2"/>
          <p:cNvSpPr/>
          <p:nvPr/>
        </p:nvSpPr>
        <p:spPr>
          <a:xfrm>
            <a:off x="3390824" y="1463040"/>
            <a:ext cx="2567864" cy="3291840"/>
          </a:xfrm>
          <a:prstGeom prst="roundRect">
            <a:avLst>
              <a:gd name="adj" fmla="val 2849"/>
            </a:avLst>
          </a:prstGeom>
          <a:solidFill>
            <a:schemeClr val="bg2"/>
          </a:solidFill>
          <a:ln w="12700">
            <a:solidFill>
              <a:schemeClr val="bg2"/>
            </a:solidFill>
            <a:prstDash val="solid"/>
          </a:ln>
        </p:spPr>
      </p:sp>
      <p:sp>
        <p:nvSpPr>
          <p:cNvPr id="11" name="Sheet 2 circle"/>
          <p:cNvSpPr/>
          <p:nvPr/>
        </p:nvSpPr>
        <p:spPr>
          <a:xfrm>
            <a:off x="3710864" y="1783080"/>
            <a:ext cx="822960" cy="822960"/>
          </a:xfrm>
          <a:prstGeom prst="ellipse">
            <a:avLst/>
          </a:prstGeom>
          <a:solidFill>
            <a:schemeClr val="accent2"/>
          </a:solidFill>
          <a:ln w="12700">
            <a:solidFill>
              <a:schemeClr val="accent2"/>
            </a:solidFill>
            <a:prstDash val="solid"/>
          </a:ln>
        </p:spPr>
      </p:sp>
      <p:pic>
        <p:nvPicPr>
          <p:cNvPr id="12" name="Sheet 2 icon" descr="preencoded.png">    </p:cNvPr>
          <p:cNvPicPr>
            <a:picLocks noChangeAspect="1"/>
          </p:cNvPicPr>
          <p:nvPr/>
        </p:nvPicPr>
        <p:blipFill>
          <a:blip r:embed="rId2"/>
          <a:stretch>
            <a:fillRect/>
          </a:stretch>
        </p:blipFill>
        <p:spPr>
          <a:xfrm>
            <a:off x="3924833" y="1997050"/>
            <a:ext cx="395021" cy="395021"/>
          </a:xfrm>
          <a:prstGeom prst="rect">
            <a:avLst/>
          </a:prstGeom>
        </p:spPr>
      </p:pic>
      <p:sp>
        <p:nvSpPr>
          <p:cNvPr id="13" name="Sheet number 2"/>
          <p:cNvSpPr txBox="1"/>
          <p:nvPr/>
        </p:nvSpPr>
        <p:spPr>
          <a:xfrm>
            <a:off x="3710864" y="2788920"/>
            <a:ext cx="1927784" cy="320040"/>
          </a:xfrm>
          <a:prstGeom prst="rect">
            <a:avLst/>
          </a:prstGeom>
          <a:noFill/>
          <a:ln/>
        </p:spPr>
        <p:txBody>
          <a:bodyPr wrap="square" lIns="0" tIns="0" rIns="0" bIns="0" rtlCol="0" anchor="t"/>
          <a:lstStyle/>
          <a:p>
            <a:pPr indent="0" marL="0">
              <a:buNone/>
            </a:pPr>
            <a:r>
              <a:rPr lang="en-US" sz="1300" b="1" dirty="0">
                <a:solidFill>
                  <a:schemeClr val="accent4"/>
                </a:solidFill>
              </a:rPr>
              <a:t>Sheet 2</a:t>
            </a:r>
            <a:endParaRPr lang="en-US" sz="1300" dirty="0"/>
          </a:p>
        </p:txBody>
      </p:sp>
      <p:sp>
        <p:nvSpPr>
          <p:cNvPr id="14" name="Sheet title 2"/>
          <p:cNvSpPr txBox="1"/>
          <p:nvPr/>
        </p:nvSpPr>
        <p:spPr>
          <a:xfrm>
            <a:off x="3710864" y="3108960"/>
            <a:ext cx="1927784" cy="411480"/>
          </a:xfrm>
          <a:prstGeom prst="rect">
            <a:avLst/>
          </a:prstGeom>
          <a:noFill/>
          <a:ln/>
        </p:spPr>
        <p:txBody>
          <a:bodyPr wrap="square" lIns="0" tIns="0" rIns="0" bIns="0" rtlCol="0" anchor="t"/>
          <a:lstStyle/>
          <a:p>
            <a:pPr indent="0" marL="0">
              <a:buNone/>
            </a:pPr>
            <a:r>
              <a:rPr lang="en-US" sz="2000" b="1" dirty="0">
                <a:solidFill>
                  <a:schemeClr val="tx1"/>
                </a:solidFill>
              </a:rPr>
              <a:t>Parts</a:t>
            </a:r>
            <a:endParaRPr lang="en-US" sz="2000" dirty="0"/>
          </a:p>
        </p:txBody>
      </p:sp>
      <p:sp>
        <p:nvSpPr>
          <p:cNvPr id="15" name="Sheet desc 2"/>
          <p:cNvSpPr txBox="1"/>
          <p:nvPr/>
        </p:nvSpPr>
        <p:spPr>
          <a:xfrm>
            <a:off x="3710864" y="3566160"/>
            <a:ext cx="1927784" cy="1097280"/>
          </a:xfrm>
          <a:prstGeom prst="rect">
            <a:avLst/>
          </a:prstGeom>
          <a:noFill/>
          <a:ln/>
        </p:spPr>
        <p:txBody>
          <a:bodyPr wrap="square" lIns="0" tIns="0" rIns="0" bIns="0" rtlCol="0" anchor="t"/>
          <a:lstStyle/>
          <a:p>
            <a:pPr indent="0" marL="0">
              <a:buNone/>
            </a:pPr>
            <a:r>
              <a:rPr lang="en-US" sz="1400" dirty="0">
                <a:solidFill>
                  <a:schemeClr val="tx2"/>
                </a:solidFill>
              </a:rPr>
              <a:t>Every selected component with its key specs</a:t>
            </a:r>
            <a:endParaRPr lang="en-US" sz="1400" dirty="0"/>
          </a:p>
        </p:txBody>
      </p:sp>
      <p:sp>
        <p:nvSpPr>
          <p:cNvPr id="16" name="Sheet card 3"/>
          <p:cNvSpPr/>
          <p:nvPr/>
        </p:nvSpPr>
        <p:spPr>
          <a:xfrm>
            <a:off x="6233008" y="1463040"/>
            <a:ext cx="2567864" cy="3291840"/>
          </a:xfrm>
          <a:prstGeom prst="roundRect">
            <a:avLst>
              <a:gd name="adj" fmla="val 2849"/>
            </a:avLst>
          </a:prstGeom>
          <a:solidFill>
            <a:schemeClr val="bg2"/>
          </a:solidFill>
          <a:ln w="12700">
            <a:solidFill>
              <a:schemeClr val="bg2"/>
            </a:solidFill>
            <a:prstDash val="solid"/>
          </a:ln>
        </p:spPr>
      </p:sp>
      <p:sp>
        <p:nvSpPr>
          <p:cNvPr id="17" name="Sheet 3 circle"/>
          <p:cNvSpPr/>
          <p:nvPr/>
        </p:nvSpPr>
        <p:spPr>
          <a:xfrm>
            <a:off x="6553048" y="1783080"/>
            <a:ext cx="822960" cy="822960"/>
          </a:xfrm>
          <a:prstGeom prst="ellipse">
            <a:avLst/>
          </a:prstGeom>
          <a:solidFill>
            <a:schemeClr val="accent2"/>
          </a:solidFill>
          <a:ln w="12700">
            <a:solidFill>
              <a:schemeClr val="accent2"/>
            </a:solidFill>
            <a:prstDash val="solid"/>
          </a:ln>
        </p:spPr>
      </p:sp>
      <p:pic>
        <p:nvPicPr>
          <p:cNvPr id="18" name="Sheet 3 icon" descr="preencoded.png">    </p:cNvPr>
          <p:cNvPicPr>
            <a:picLocks noChangeAspect="1"/>
          </p:cNvPicPr>
          <p:nvPr/>
        </p:nvPicPr>
        <p:blipFill>
          <a:blip r:embed="rId3"/>
          <a:stretch>
            <a:fillRect/>
          </a:stretch>
        </p:blipFill>
        <p:spPr>
          <a:xfrm>
            <a:off x="6767017" y="1997050"/>
            <a:ext cx="395021" cy="395021"/>
          </a:xfrm>
          <a:prstGeom prst="rect">
            <a:avLst/>
          </a:prstGeom>
        </p:spPr>
      </p:pic>
      <p:sp>
        <p:nvSpPr>
          <p:cNvPr id="19" name="Sheet number 3"/>
          <p:cNvSpPr txBox="1"/>
          <p:nvPr/>
        </p:nvSpPr>
        <p:spPr>
          <a:xfrm>
            <a:off x="6553048" y="2788920"/>
            <a:ext cx="1927784" cy="320040"/>
          </a:xfrm>
          <a:prstGeom prst="rect">
            <a:avLst/>
          </a:prstGeom>
          <a:noFill/>
          <a:ln/>
        </p:spPr>
        <p:txBody>
          <a:bodyPr wrap="square" lIns="0" tIns="0" rIns="0" bIns="0" rtlCol="0" anchor="t"/>
          <a:lstStyle/>
          <a:p>
            <a:pPr indent="0" marL="0">
              <a:buNone/>
            </a:pPr>
            <a:r>
              <a:rPr lang="en-US" sz="1300" b="1" dirty="0">
                <a:solidFill>
                  <a:schemeClr val="accent4"/>
                </a:solidFill>
              </a:rPr>
              <a:t>Sheet 3</a:t>
            </a:r>
            <a:endParaRPr lang="en-US" sz="1300" dirty="0"/>
          </a:p>
        </p:txBody>
      </p:sp>
      <p:sp>
        <p:nvSpPr>
          <p:cNvPr id="20" name="Sheet title 3"/>
          <p:cNvSpPr txBox="1"/>
          <p:nvPr/>
        </p:nvSpPr>
        <p:spPr>
          <a:xfrm>
            <a:off x="6553048" y="3108960"/>
            <a:ext cx="1927784" cy="411480"/>
          </a:xfrm>
          <a:prstGeom prst="rect">
            <a:avLst/>
          </a:prstGeom>
          <a:noFill/>
          <a:ln/>
        </p:spPr>
        <p:txBody>
          <a:bodyPr wrap="square" lIns="0" tIns="0" rIns="0" bIns="0" rtlCol="0" anchor="t"/>
          <a:lstStyle/>
          <a:p>
            <a:pPr indent="0" marL="0">
              <a:buNone/>
            </a:pPr>
            <a:r>
              <a:rPr lang="en-US" sz="2000" b="1" dirty="0">
                <a:solidFill>
                  <a:schemeClr val="tx1"/>
                </a:solidFill>
              </a:rPr>
              <a:t>Game FPS</a:t>
            </a:r>
            <a:endParaRPr lang="en-US" sz="2000" dirty="0"/>
          </a:p>
        </p:txBody>
      </p:sp>
      <p:sp>
        <p:nvSpPr>
          <p:cNvPr id="21" name="Sheet desc 3"/>
          <p:cNvSpPr txBox="1"/>
          <p:nvPr/>
        </p:nvSpPr>
        <p:spPr>
          <a:xfrm>
            <a:off x="6553048" y="3566160"/>
            <a:ext cx="1927784" cy="1097280"/>
          </a:xfrm>
          <a:prstGeom prst="rect">
            <a:avLst/>
          </a:prstGeom>
          <a:noFill/>
          <a:ln/>
        </p:spPr>
        <p:txBody>
          <a:bodyPr wrap="square" lIns="0" tIns="0" rIns="0" bIns="0" rtlCol="0" anchor="t"/>
          <a:lstStyle/>
          <a:p>
            <a:pPr indent="0" marL="0">
              <a:buNone/>
            </a:pPr>
            <a:r>
              <a:rPr lang="en-US" sz="1400" dirty="0">
                <a:solidFill>
                  <a:schemeClr val="tx2"/>
                </a:solidFill>
              </a:rPr>
              <a:t>All 12 games at 1080p, 1440p and 4K</a:t>
            </a:r>
            <a:endParaRPr lang="en-US" sz="1400" dirty="0"/>
          </a:p>
        </p:txBody>
      </p:sp>
      <p:sp>
        <p:nvSpPr>
          <p:cNvPr id="22" name="Sheet card 4"/>
          <p:cNvSpPr/>
          <p:nvPr/>
        </p:nvSpPr>
        <p:spPr>
          <a:xfrm>
            <a:off x="9075191" y="1463040"/>
            <a:ext cx="2567864" cy="3291840"/>
          </a:xfrm>
          <a:prstGeom prst="roundRect">
            <a:avLst>
              <a:gd name="adj" fmla="val 2849"/>
            </a:avLst>
          </a:prstGeom>
          <a:solidFill>
            <a:schemeClr val="bg2"/>
          </a:solidFill>
          <a:ln w="12700">
            <a:solidFill>
              <a:schemeClr val="bg2"/>
            </a:solidFill>
            <a:prstDash val="solid"/>
          </a:ln>
        </p:spPr>
      </p:sp>
      <p:sp>
        <p:nvSpPr>
          <p:cNvPr id="23" name="Sheet 4 circle"/>
          <p:cNvSpPr/>
          <p:nvPr/>
        </p:nvSpPr>
        <p:spPr>
          <a:xfrm>
            <a:off x="9395231" y="1783080"/>
            <a:ext cx="822960" cy="822960"/>
          </a:xfrm>
          <a:prstGeom prst="ellipse">
            <a:avLst/>
          </a:prstGeom>
          <a:solidFill>
            <a:schemeClr val="accent2"/>
          </a:solidFill>
          <a:ln w="12700">
            <a:solidFill>
              <a:schemeClr val="accent2"/>
            </a:solidFill>
            <a:prstDash val="solid"/>
          </a:ln>
        </p:spPr>
      </p:sp>
      <p:pic>
        <p:nvPicPr>
          <p:cNvPr id="24" name="Sheet 4 icon" descr="preencoded.png">    </p:cNvPr>
          <p:cNvPicPr>
            <a:picLocks noChangeAspect="1"/>
          </p:cNvPicPr>
          <p:nvPr/>
        </p:nvPicPr>
        <p:blipFill>
          <a:blip r:embed="rId4"/>
          <a:stretch>
            <a:fillRect/>
          </a:stretch>
        </p:blipFill>
        <p:spPr>
          <a:xfrm>
            <a:off x="9609201" y="1997050"/>
            <a:ext cx="395021" cy="395021"/>
          </a:xfrm>
          <a:prstGeom prst="rect">
            <a:avLst/>
          </a:prstGeom>
        </p:spPr>
      </p:pic>
      <p:sp>
        <p:nvSpPr>
          <p:cNvPr id="25" name="Sheet number 4"/>
          <p:cNvSpPr txBox="1"/>
          <p:nvPr/>
        </p:nvSpPr>
        <p:spPr>
          <a:xfrm>
            <a:off x="9395231" y="2788920"/>
            <a:ext cx="1927784" cy="320040"/>
          </a:xfrm>
          <a:prstGeom prst="rect">
            <a:avLst/>
          </a:prstGeom>
          <a:noFill/>
          <a:ln/>
        </p:spPr>
        <p:txBody>
          <a:bodyPr wrap="square" lIns="0" tIns="0" rIns="0" bIns="0" rtlCol="0" anchor="t"/>
          <a:lstStyle/>
          <a:p>
            <a:pPr indent="0" marL="0">
              <a:buNone/>
            </a:pPr>
            <a:r>
              <a:rPr lang="en-US" sz="1300" b="1" dirty="0">
                <a:solidFill>
                  <a:schemeClr val="accent4"/>
                </a:solidFill>
              </a:rPr>
              <a:t>Sheet 4</a:t>
            </a:r>
            <a:endParaRPr lang="en-US" sz="1300" dirty="0"/>
          </a:p>
        </p:txBody>
      </p:sp>
      <p:sp>
        <p:nvSpPr>
          <p:cNvPr id="26" name="Sheet title 4"/>
          <p:cNvSpPr txBox="1"/>
          <p:nvPr/>
        </p:nvSpPr>
        <p:spPr>
          <a:xfrm>
            <a:off x="9395231" y="3108960"/>
            <a:ext cx="1927784" cy="411480"/>
          </a:xfrm>
          <a:prstGeom prst="rect">
            <a:avLst/>
          </a:prstGeom>
          <a:noFill/>
          <a:ln/>
        </p:spPr>
        <p:txBody>
          <a:bodyPr wrap="square" lIns="0" tIns="0" rIns="0" bIns="0" rtlCol="0" anchor="t"/>
          <a:lstStyle/>
          <a:p>
            <a:pPr indent="0" marL="0">
              <a:buNone/>
            </a:pPr>
            <a:r>
              <a:rPr lang="en-US" sz="2000" b="1" dirty="0">
                <a:solidFill>
                  <a:schemeClr val="tx1"/>
                </a:solidFill>
              </a:rPr>
              <a:t>Model Inputs</a:t>
            </a:r>
            <a:endParaRPr lang="en-US" sz="2000" dirty="0"/>
          </a:p>
        </p:txBody>
      </p:sp>
      <p:sp>
        <p:nvSpPr>
          <p:cNvPr id="27" name="Sheet desc 4"/>
          <p:cNvSpPr txBox="1"/>
          <p:nvPr/>
        </p:nvSpPr>
        <p:spPr>
          <a:xfrm>
            <a:off x="9395231" y="3566160"/>
            <a:ext cx="1927784" cy="1097280"/>
          </a:xfrm>
          <a:prstGeom prst="rect">
            <a:avLst/>
          </a:prstGeom>
          <a:noFill/>
          <a:ln/>
        </p:spPr>
        <p:txBody>
          <a:bodyPr wrap="square" lIns="0" tIns="0" rIns="0" bIns="0" rtlCol="0" anchor="t"/>
          <a:lstStyle/>
          <a:p>
            <a:pPr indent="0" marL="0">
              <a:buNone/>
            </a:pPr>
            <a:r>
              <a:rPr lang="en-US" sz="1400" dirty="0">
                <a:solidFill>
                  <a:schemeClr val="tx2"/>
                </a:solidFill>
              </a:rPr>
              <a:t>The exact 8 values the ML model received</a:t>
            </a:r>
            <a:endParaRPr lang="en-US" sz="1400" dirty="0"/>
          </a:p>
        </p:txBody>
      </p:sp>
      <p:sp>
        <p:nvSpPr>
          <p:cNvPr id="28" name="Excel file card"/>
          <p:cNvSpPr/>
          <p:nvPr/>
        </p:nvSpPr>
        <p:spPr>
          <a:xfrm>
            <a:off x="548640" y="5029200"/>
            <a:ext cx="11094415" cy="1097280"/>
          </a:xfrm>
          <a:prstGeom prst="roundRect">
            <a:avLst>
              <a:gd name="adj" fmla="val 6667"/>
            </a:avLst>
          </a:prstGeom>
          <a:solidFill>
            <a:schemeClr val="tx1"/>
          </a:solidFill>
          <a:ln w="12700">
            <a:solidFill>
              <a:schemeClr val="tx1"/>
            </a:solidFill>
            <a:prstDash val="solid"/>
          </a:ln>
        </p:spPr>
      </p:sp>
      <p:sp>
        <p:nvSpPr>
          <p:cNvPr id="29" name="Excel file circle"/>
          <p:cNvSpPr/>
          <p:nvPr/>
        </p:nvSpPr>
        <p:spPr>
          <a:xfrm>
            <a:off x="822960" y="5239512"/>
            <a:ext cx="685800" cy="685800"/>
          </a:xfrm>
          <a:prstGeom prst="ellipse">
            <a:avLst/>
          </a:prstGeom>
          <a:solidFill>
            <a:schemeClr val="accent2"/>
          </a:solidFill>
          <a:ln w="12700">
            <a:solidFill>
              <a:schemeClr val="accent2"/>
            </a:solidFill>
            <a:prstDash val="solid"/>
          </a:ln>
        </p:spPr>
      </p:sp>
      <p:pic>
        <p:nvPicPr>
          <p:cNvPr id="30" name="Excel file icon" descr="preencoded.png">    </p:cNvPr>
          <p:cNvPicPr>
            <a:picLocks noChangeAspect="1"/>
          </p:cNvPicPr>
          <p:nvPr/>
        </p:nvPicPr>
        <p:blipFill>
          <a:blip r:embed="rId5"/>
          <a:stretch>
            <a:fillRect/>
          </a:stretch>
        </p:blipFill>
        <p:spPr>
          <a:xfrm>
            <a:off x="1001268" y="5417820"/>
            <a:ext cx="329184" cy="329184"/>
          </a:xfrm>
          <a:prstGeom prst="rect">
            <a:avLst/>
          </a:prstGeom>
        </p:spPr>
      </p:pic>
      <p:sp>
        <p:nvSpPr>
          <p:cNvPr id="31" name="Excel file text"/>
          <p:cNvSpPr txBox="1"/>
          <p:nvPr/>
        </p:nvSpPr>
        <p:spPr>
          <a:xfrm>
            <a:off x="1737360" y="5193792"/>
            <a:ext cx="9631375" cy="822960"/>
          </a:xfrm>
          <a:prstGeom prst="rect">
            <a:avLst/>
          </a:prstGeom>
          <a:noFill/>
          <a:ln/>
        </p:spPr>
        <p:txBody>
          <a:bodyPr wrap="square" lIns="0" tIns="0" rIns="0" bIns="0" rtlCol="0" anchor="t"/>
          <a:lstStyle/>
          <a:p>
            <a:pPr indent="0" marL="0">
              <a:buNone/>
            </a:pPr>
            <a:r>
              <a:rPr lang="en-US" sz="1800" b="1" dirty="0">
                <a:solidFill>
                  <a:schemeClr val="bg1"/>
                </a:solidFill>
              </a:rPr>
              <a:t>pc_build_report_YYYYMMDD_HHMM.xlsx</a:t>
            </a:r>
            <a:endParaRPr lang="en-US" sz="1800" dirty="0"/>
          </a:p>
          <a:p>
            <a:pPr indent="0" marL="0">
              <a:buNone/>
            </a:pPr>
            <a:r>
              <a:rPr lang="en-US" sz="1400" dirty="0">
                <a:solidFill>
                  <a:schemeClr val="bg2"/>
                </a:solidFill>
              </a:rPr>
              <a:t>Generated in memory with pandas + openpyxl: styled headers, sized columns, frozen header rows</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 catalog of 222 real components</a:t>
            </a:r>
            <a:endParaRPr lang="en-US" sz="3200" dirty="0"/>
          </a:p>
        </p:txBody>
      </p:sp>
      <p:sp>
        <p:nvSpPr>
          <p:cNvPr id="4" name="Catalog card 1"/>
          <p:cNvSpPr/>
          <p:nvPr/>
        </p:nvSpPr>
        <p:spPr>
          <a:xfrm>
            <a:off x="548640" y="1417320"/>
            <a:ext cx="2567864" cy="2194560"/>
          </a:xfrm>
          <a:prstGeom prst="roundRect">
            <a:avLst>
              <a:gd name="adj" fmla="val 3333"/>
            </a:avLst>
          </a:prstGeom>
          <a:solidFill>
            <a:schemeClr val="bg2"/>
          </a:solidFill>
          <a:ln w="12700">
            <a:solidFill>
              <a:schemeClr val="bg2"/>
            </a:solidFill>
            <a:prstDash val="solid"/>
          </a:ln>
        </p:spPr>
      </p:sp>
      <p:sp>
        <p:nvSpPr>
          <p:cNvPr id="5" name="Catalog 1 circle"/>
          <p:cNvSpPr/>
          <p:nvPr/>
        </p:nvSpPr>
        <p:spPr>
          <a:xfrm>
            <a:off x="2247824" y="1691640"/>
            <a:ext cx="594360" cy="594360"/>
          </a:xfrm>
          <a:prstGeom prst="ellipse">
            <a:avLst/>
          </a:prstGeom>
          <a:solidFill>
            <a:schemeClr val="accent1"/>
          </a:solidFill>
          <a:ln w="12700">
            <a:solidFill>
              <a:schemeClr val="accent1"/>
            </a:solidFill>
            <a:prstDash val="solid"/>
          </a:ln>
        </p:spPr>
      </p:sp>
      <p:pic>
        <p:nvPicPr>
          <p:cNvPr id="6" name="Catalog 1 icon" descr="preencoded.png">    </p:cNvPr>
          <p:cNvPicPr>
            <a:picLocks noChangeAspect="1"/>
          </p:cNvPicPr>
          <p:nvPr/>
        </p:nvPicPr>
        <p:blipFill>
          <a:blip r:embed="rId1"/>
          <a:stretch>
            <a:fillRect/>
          </a:stretch>
        </p:blipFill>
        <p:spPr>
          <a:xfrm>
            <a:off x="2402357" y="1846174"/>
            <a:ext cx="285293" cy="285293"/>
          </a:xfrm>
          <a:prstGeom prst="rect">
            <a:avLst/>
          </a:prstGeom>
        </p:spPr>
      </p:pic>
      <p:sp>
        <p:nvSpPr>
          <p:cNvPr id="7" name="Catalog count 1"/>
          <p:cNvSpPr txBox="1"/>
          <p:nvPr/>
        </p:nvSpPr>
        <p:spPr>
          <a:xfrm>
            <a:off x="822960" y="160020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46</a:t>
            </a:r>
            <a:endParaRPr lang="en-US" sz="4400" dirty="0"/>
          </a:p>
        </p:txBody>
      </p:sp>
      <p:sp>
        <p:nvSpPr>
          <p:cNvPr id="8" name="Catalog title 1"/>
          <p:cNvSpPr txBox="1"/>
          <p:nvPr/>
        </p:nvSpPr>
        <p:spPr>
          <a:xfrm>
            <a:off x="822960" y="23774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CPUs</a:t>
            </a:r>
            <a:endParaRPr lang="en-US" sz="1800" dirty="0"/>
          </a:p>
        </p:txBody>
      </p:sp>
      <p:sp>
        <p:nvSpPr>
          <p:cNvPr id="9" name="Catalog desc 1"/>
          <p:cNvSpPr txBox="1"/>
          <p:nvPr/>
        </p:nvSpPr>
        <p:spPr>
          <a:xfrm>
            <a:off x="822960" y="2770632"/>
            <a:ext cx="2019224" cy="731520"/>
          </a:xfrm>
          <a:prstGeom prst="rect">
            <a:avLst/>
          </a:prstGeom>
          <a:noFill/>
          <a:ln/>
        </p:spPr>
        <p:txBody>
          <a:bodyPr wrap="square" lIns="0" tIns="0" rIns="0" bIns="0" rtlCol="0" anchor="t"/>
          <a:lstStyle/>
          <a:p>
            <a:pPr indent="0" marL="0">
              <a:buNone/>
            </a:pPr>
            <a:r>
              <a:rPr lang="en-US" sz="1400" dirty="0">
                <a:solidFill>
                  <a:schemeClr val="tx2"/>
                </a:solidFill>
              </a:rPr>
              <a:t>Intel 10th-14th gen, Core Ultra, Ryzen 3000-9000</a:t>
            </a:r>
            <a:endParaRPr lang="en-US" sz="1400" dirty="0"/>
          </a:p>
        </p:txBody>
      </p:sp>
      <p:sp>
        <p:nvSpPr>
          <p:cNvPr id="10" name="Catalog card 2"/>
          <p:cNvSpPr/>
          <p:nvPr/>
        </p:nvSpPr>
        <p:spPr>
          <a:xfrm>
            <a:off x="3390824" y="1417320"/>
            <a:ext cx="2567864" cy="2194560"/>
          </a:xfrm>
          <a:prstGeom prst="roundRect">
            <a:avLst>
              <a:gd name="adj" fmla="val 3333"/>
            </a:avLst>
          </a:prstGeom>
          <a:solidFill>
            <a:schemeClr val="bg2"/>
          </a:solidFill>
          <a:ln w="12700">
            <a:solidFill>
              <a:schemeClr val="bg2"/>
            </a:solidFill>
            <a:prstDash val="solid"/>
          </a:ln>
        </p:spPr>
      </p:sp>
      <p:sp>
        <p:nvSpPr>
          <p:cNvPr id="11" name="Catalog 2 circle"/>
          <p:cNvSpPr/>
          <p:nvPr/>
        </p:nvSpPr>
        <p:spPr>
          <a:xfrm>
            <a:off x="5090008" y="1691640"/>
            <a:ext cx="594360" cy="594360"/>
          </a:xfrm>
          <a:prstGeom prst="ellipse">
            <a:avLst/>
          </a:prstGeom>
          <a:solidFill>
            <a:schemeClr val="accent1"/>
          </a:solidFill>
          <a:ln w="12700">
            <a:solidFill>
              <a:schemeClr val="accent1"/>
            </a:solidFill>
            <a:prstDash val="solid"/>
          </a:ln>
        </p:spPr>
      </p:sp>
      <p:pic>
        <p:nvPicPr>
          <p:cNvPr id="12" name="Catalog 2 icon" descr="preencoded.png">    </p:cNvPr>
          <p:cNvPicPr>
            <a:picLocks noChangeAspect="1"/>
          </p:cNvPicPr>
          <p:nvPr/>
        </p:nvPicPr>
        <p:blipFill>
          <a:blip r:embed="rId2"/>
          <a:stretch>
            <a:fillRect/>
          </a:stretch>
        </p:blipFill>
        <p:spPr>
          <a:xfrm>
            <a:off x="5244541" y="1846174"/>
            <a:ext cx="285293" cy="285293"/>
          </a:xfrm>
          <a:prstGeom prst="rect">
            <a:avLst/>
          </a:prstGeom>
        </p:spPr>
      </p:pic>
      <p:sp>
        <p:nvSpPr>
          <p:cNvPr id="13" name="Catalog count 2"/>
          <p:cNvSpPr txBox="1"/>
          <p:nvPr/>
        </p:nvSpPr>
        <p:spPr>
          <a:xfrm>
            <a:off x="3665144" y="160020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33</a:t>
            </a:r>
            <a:endParaRPr lang="en-US" sz="4400" dirty="0"/>
          </a:p>
        </p:txBody>
      </p:sp>
      <p:sp>
        <p:nvSpPr>
          <p:cNvPr id="14" name="Catalog title 2"/>
          <p:cNvSpPr txBox="1"/>
          <p:nvPr/>
        </p:nvSpPr>
        <p:spPr>
          <a:xfrm>
            <a:off x="3665144" y="23774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Motherboards</a:t>
            </a:r>
            <a:endParaRPr lang="en-US" sz="1800" dirty="0"/>
          </a:p>
        </p:txBody>
      </p:sp>
      <p:sp>
        <p:nvSpPr>
          <p:cNvPr id="15" name="Catalog desc 2"/>
          <p:cNvSpPr txBox="1"/>
          <p:nvPr/>
        </p:nvSpPr>
        <p:spPr>
          <a:xfrm>
            <a:off x="3665144" y="2770632"/>
            <a:ext cx="2019224" cy="731520"/>
          </a:xfrm>
          <a:prstGeom prst="rect">
            <a:avLst/>
          </a:prstGeom>
          <a:noFill/>
          <a:ln/>
        </p:spPr>
        <p:txBody>
          <a:bodyPr wrap="square" lIns="0" tIns="0" rIns="0" bIns="0" rtlCol="0" anchor="t"/>
          <a:lstStyle/>
          <a:p>
            <a:pPr indent="0" marL="0">
              <a:buNone/>
            </a:pPr>
            <a:r>
              <a:rPr lang="en-US" sz="1400" dirty="0">
                <a:solidFill>
                  <a:schemeClr val="tx2"/>
                </a:solidFill>
              </a:rPr>
              <a:t>LGA1200 / 1700 / 1851, AM4, AM5</a:t>
            </a:r>
            <a:endParaRPr lang="en-US" sz="1400" dirty="0"/>
          </a:p>
        </p:txBody>
      </p:sp>
      <p:sp>
        <p:nvSpPr>
          <p:cNvPr id="16" name="Catalog card 3"/>
          <p:cNvSpPr/>
          <p:nvPr/>
        </p:nvSpPr>
        <p:spPr>
          <a:xfrm>
            <a:off x="6233008" y="1417320"/>
            <a:ext cx="2567864" cy="2194560"/>
          </a:xfrm>
          <a:prstGeom prst="roundRect">
            <a:avLst>
              <a:gd name="adj" fmla="val 3333"/>
            </a:avLst>
          </a:prstGeom>
          <a:solidFill>
            <a:schemeClr val="bg2"/>
          </a:solidFill>
          <a:ln w="12700">
            <a:solidFill>
              <a:schemeClr val="bg2"/>
            </a:solidFill>
            <a:prstDash val="solid"/>
          </a:ln>
        </p:spPr>
      </p:sp>
      <p:sp>
        <p:nvSpPr>
          <p:cNvPr id="17" name="Catalog 3 circle"/>
          <p:cNvSpPr/>
          <p:nvPr/>
        </p:nvSpPr>
        <p:spPr>
          <a:xfrm>
            <a:off x="7932191" y="1691640"/>
            <a:ext cx="594360" cy="594360"/>
          </a:xfrm>
          <a:prstGeom prst="ellipse">
            <a:avLst/>
          </a:prstGeom>
          <a:solidFill>
            <a:schemeClr val="accent1"/>
          </a:solidFill>
          <a:ln w="12700">
            <a:solidFill>
              <a:schemeClr val="accent1"/>
            </a:solidFill>
            <a:prstDash val="solid"/>
          </a:ln>
        </p:spPr>
      </p:sp>
      <p:pic>
        <p:nvPicPr>
          <p:cNvPr id="18" name="Catalog 3 icon" descr="preencoded.png">    </p:cNvPr>
          <p:cNvPicPr>
            <a:picLocks noChangeAspect="1"/>
          </p:cNvPicPr>
          <p:nvPr/>
        </p:nvPicPr>
        <p:blipFill>
          <a:blip r:embed="rId3"/>
          <a:stretch>
            <a:fillRect/>
          </a:stretch>
        </p:blipFill>
        <p:spPr>
          <a:xfrm>
            <a:off x="8086725" y="1846174"/>
            <a:ext cx="285293" cy="285293"/>
          </a:xfrm>
          <a:prstGeom prst="rect">
            <a:avLst/>
          </a:prstGeom>
        </p:spPr>
      </p:pic>
      <p:sp>
        <p:nvSpPr>
          <p:cNvPr id="19" name="Catalog count 3"/>
          <p:cNvSpPr txBox="1"/>
          <p:nvPr/>
        </p:nvSpPr>
        <p:spPr>
          <a:xfrm>
            <a:off x="6507328" y="160020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21</a:t>
            </a:r>
            <a:endParaRPr lang="en-US" sz="4400" dirty="0"/>
          </a:p>
        </p:txBody>
      </p:sp>
      <p:sp>
        <p:nvSpPr>
          <p:cNvPr id="20" name="Catalog title 3"/>
          <p:cNvSpPr txBox="1"/>
          <p:nvPr/>
        </p:nvSpPr>
        <p:spPr>
          <a:xfrm>
            <a:off x="6507328" y="23774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RAM kits</a:t>
            </a:r>
            <a:endParaRPr lang="en-US" sz="1800" dirty="0"/>
          </a:p>
        </p:txBody>
      </p:sp>
      <p:sp>
        <p:nvSpPr>
          <p:cNvPr id="21" name="Catalog desc 3"/>
          <p:cNvSpPr txBox="1"/>
          <p:nvPr/>
        </p:nvSpPr>
        <p:spPr>
          <a:xfrm>
            <a:off x="6507328" y="2770632"/>
            <a:ext cx="2019224" cy="731520"/>
          </a:xfrm>
          <a:prstGeom prst="rect">
            <a:avLst/>
          </a:prstGeom>
          <a:noFill/>
          <a:ln/>
        </p:spPr>
        <p:txBody>
          <a:bodyPr wrap="square" lIns="0" tIns="0" rIns="0" bIns="0" rtlCol="0" anchor="t"/>
          <a:lstStyle/>
          <a:p>
            <a:pPr indent="0" marL="0">
              <a:buNone/>
            </a:pPr>
            <a:r>
              <a:rPr lang="en-US" sz="1400" dirty="0">
                <a:solidFill>
                  <a:schemeClr val="tx2"/>
                </a:solidFill>
              </a:rPr>
              <a:t>DDR4 and DDR5, 4 GB to 128 GB</a:t>
            </a:r>
            <a:endParaRPr lang="en-US" sz="1400" dirty="0"/>
          </a:p>
        </p:txBody>
      </p:sp>
      <p:sp>
        <p:nvSpPr>
          <p:cNvPr id="22" name="Catalog card 4"/>
          <p:cNvSpPr/>
          <p:nvPr/>
        </p:nvSpPr>
        <p:spPr>
          <a:xfrm>
            <a:off x="9075191" y="1417320"/>
            <a:ext cx="2567864" cy="2194560"/>
          </a:xfrm>
          <a:prstGeom prst="roundRect">
            <a:avLst>
              <a:gd name="adj" fmla="val 3333"/>
            </a:avLst>
          </a:prstGeom>
          <a:solidFill>
            <a:schemeClr val="bg2"/>
          </a:solidFill>
          <a:ln w="12700">
            <a:solidFill>
              <a:schemeClr val="bg2"/>
            </a:solidFill>
            <a:prstDash val="solid"/>
          </a:ln>
        </p:spPr>
      </p:sp>
      <p:sp>
        <p:nvSpPr>
          <p:cNvPr id="23" name="Catalog 4 circle"/>
          <p:cNvSpPr/>
          <p:nvPr/>
        </p:nvSpPr>
        <p:spPr>
          <a:xfrm>
            <a:off x="10774375" y="1691640"/>
            <a:ext cx="594360" cy="594360"/>
          </a:xfrm>
          <a:prstGeom prst="ellipse">
            <a:avLst/>
          </a:prstGeom>
          <a:solidFill>
            <a:schemeClr val="accent1"/>
          </a:solidFill>
          <a:ln w="12700">
            <a:solidFill>
              <a:schemeClr val="accent1"/>
            </a:solidFill>
            <a:prstDash val="solid"/>
          </a:ln>
        </p:spPr>
      </p:sp>
      <p:pic>
        <p:nvPicPr>
          <p:cNvPr id="24" name="Catalog 4 icon" descr="preencoded.png">    </p:cNvPr>
          <p:cNvPicPr>
            <a:picLocks noChangeAspect="1"/>
          </p:cNvPicPr>
          <p:nvPr/>
        </p:nvPicPr>
        <p:blipFill>
          <a:blip r:embed="rId4"/>
          <a:stretch>
            <a:fillRect/>
          </a:stretch>
        </p:blipFill>
        <p:spPr>
          <a:xfrm>
            <a:off x="10928909" y="1846174"/>
            <a:ext cx="285293" cy="285293"/>
          </a:xfrm>
          <a:prstGeom prst="rect">
            <a:avLst/>
          </a:prstGeom>
        </p:spPr>
      </p:pic>
      <p:sp>
        <p:nvSpPr>
          <p:cNvPr id="25" name="Catalog count 4"/>
          <p:cNvSpPr txBox="1"/>
          <p:nvPr/>
        </p:nvSpPr>
        <p:spPr>
          <a:xfrm>
            <a:off x="9349511" y="160020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34</a:t>
            </a:r>
            <a:endParaRPr lang="en-US" sz="4400" dirty="0"/>
          </a:p>
        </p:txBody>
      </p:sp>
      <p:sp>
        <p:nvSpPr>
          <p:cNvPr id="26" name="Catalog title 4"/>
          <p:cNvSpPr txBox="1"/>
          <p:nvPr/>
        </p:nvSpPr>
        <p:spPr>
          <a:xfrm>
            <a:off x="9349511" y="2377440"/>
            <a:ext cx="2019224" cy="365760"/>
          </a:xfrm>
          <a:prstGeom prst="rect">
            <a:avLst/>
          </a:prstGeom>
          <a:noFill/>
          <a:ln/>
        </p:spPr>
        <p:txBody>
          <a:bodyPr wrap="square" lIns="0" tIns="0" rIns="0" bIns="0" rtlCol="0" anchor="t"/>
          <a:lstStyle/>
          <a:p>
            <a:pPr indent="0" marL="0">
              <a:buNone/>
            </a:pPr>
            <a:r>
              <a:rPr lang="en-US" sz="1800" b="1" dirty="0">
                <a:solidFill>
                  <a:schemeClr val="tx1"/>
                </a:solidFill>
              </a:rPr>
              <a:t>Storage drives</a:t>
            </a:r>
            <a:endParaRPr lang="en-US" sz="1800" dirty="0"/>
          </a:p>
        </p:txBody>
      </p:sp>
      <p:sp>
        <p:nvSpPr>
          <p:cNvPr id="27" name="Catalog desc 4"/>
          <p:cNvSpPr txBox="1"/>
          <p:nvPr/>
        </p:nvSpPr>
        <p:spPr>
          <a:xfrm>
            <a:off x="9349511" y="2770632"/>
            <a:ext cx="2019224" cy="731520"/>
          </a:xfrm>
          <a:prstGeom prst="rect">
            <a:avLst/>
          </a:prstGeom>
          <a:noFill/>
          <a:ln/>
        </p:spPr>
        <p:txBody>
          <a:bodyPr wrap="square" lIns="0" tIns="0" rIns="0" bIns="0" rtlCol="0" anchor="t"/>
          <a:lstStyle/>
          <a:p>
            <a:pPr indent="0" marL="0">
              <a:buNone/>
            </a:pPr>
            <a:r>
              <a:rPr lang="en-US" sz="1400" dirty="0">
                <a:solidFill>
                  <a:schemeClr val="tx2"/>
                </a:solidFill>
              </a:rPr>
              <a:t>NVMe, PCIe 5.0, SATA SSD, HDD</a:t>
            </a:r>
            <a:endParaRPr lang="en-US" sz="1400" dirty="0"/>
          </a:p>
        </p:txBody>
      </p:sp>
      <p:sp>
        <p:nvSpPr>
          <p:cNvPr id="28" name="Catalog card 5"/>
          <p:cNvSpPr/>
          <p:nvPr/>
        </p:nvSpPr>
        <p:spPr>
          <a:xfrm>
            <a:off x="548640" y="3840480"/>
            <a:ext cx="2567864" cy="2194560"/>
          </a:xfrm>
          <a:prstGeom prst="roundRect">
            <a:avLst>
              <a:gd name="adj" fmla="val 3333"/>
            </a:avLst>
          </a:prstGeom>
          <a:solidFill>
            <a:schemeClr val="bg2"/>
          </a:solidFill>
          <a:ln w="12700">
            <a:solidFill>
              <a:schemeClr val="bg2"/>
            </a:solidFill>
            <a:prstDash val="solid"/>
          </a:ln>
        </p:spPr>
      </p:sp>
      <p:sp>
        <p:nvSpPr>
          <p:cNvPr id="29" name="Catalog 5 circle"/>
          <p:cNvSpPr/>
          <p:nvPr/>
        </p:nvSpPr>
        <p:spPr>
          <a:xfrm>
            <a:off x="2247824" y="4114800"/>
            <a:ext cx="594360" cy="594360"/>
          </a:xfrm>
          <a:prstGeom prst="ellipse">
            <a:avLst/>
          </a:prstGeom>
          <a:solidFill>
            <a:schemeClr val="accent1"/>
          </a:solidFill>
          <a:ln w="12700">
            <a:solidFill>
              <a:schemeClr val="accent1"/>
            </a:solidFill>
            <a:prstDash val="solid"/>
          </a:ln>
        </p:spPr>
      </p:sp>
      <p:pic>
        <p:nvPicPr>
          <p:cNvPr id="30" name="Catalog 5 icon" descr="preencoded.png">    </p:cNvPr>
          <p:cNvPicPr>
            <a:picLocks noChangeAspect="1"/>
          </p:cNvPicPr>
          <p:nvPr/>
        </p:nvPicPr>
        <p:blipFill>
          <a:blip r:embed="rId5"/>
          <a:stretch>
            <a:fillRect/>
          </a:stretch>
        </p:blipFill>
        <p:spPr>
          <a:xfrm>
            <a:off x="2402357" y="4269334"/>
            <a:ext cx="285293" cy="285293"/>
          </a:xfrm>
          <a:prstGeom prst="rect">
            <a:avLst/>
          </a:prstGeom>
        </p:spPr>
      </p:pic>
      <p:sp>
        <p:nvSpPr>
          <p:cNvPr id="31" name="Catalog count 5"/>
          <p:cNvSpPr txBox="1"/>
          <p:nvPr/>
        </p:nvSpPr>
        <p:spPr>
          <a:xfrm>
            <a:off x="822960" y="402336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34</a:t>
            </a:r>
            <a:endParaRPr lang="en-US" sz="4400" dirty="0"/>
          </a:p>
        </p:txBody>
      </p:sp>
      <p:sp>
        <p:nvSpPr>
          <p:cNvPr id="32" name="Catalog title 5"/>
          <p:cNvSpPr txBox="1"/>
          <p:nvPr/>
        </p:nvSpPr>
        <p:spPr>
          <a:xfrm>
            <a:off x="822960" y="4800600"/>
            <a:ext cx="2019224" cy="365760"/>
          </a:xfrm>
          <a:prstGeom prst="rect">
            <a:avLst/>
          </a:prstGeom>
          <a:noFill/>
          <a:ln/>
        </p:spPr>
        <p:txBody>
          <a:bodyPr wrap="square" lIns="0" tIns="0" rIns="0" bIns="0" rtlCol="0" anchor="t"/>
          <a:lstStyle/>
          <a:p>
            <a:pPr indent="0" marL="0">
              <a:buNone/>
            </a:pPr>
            <a:r>
              <a:rPr lang="en-US" sz="1800" b="1" dirty="0">
                <a:solidFill>
                  <a:schemeClr val="tx1"/>
                </a:solidFill>
              </a:rPr>
              <a:t>Graphics cards</a:t>
            </a:r>
            <a:endParaRPr lang="en-US" sz="1800" dirty="0"/>
          </a:p>
        </p:txBody>
      </p:sp>
      <p:sp>
        <p:nvSpPr>
          <p:cNvPr id="33" name="Catalog desc 5"/>
          <p:cNvSpPr txBox="1"/>
          <p:nvPr/>
        </p:nvSpPr>
        <p:spPr>
          <a:xfrm>
            <a:off x="822960" y="5193792"/>
            <a:ext cx="2019224" cy="731520"/>
          </a:xfrm>
          <a:prstGeom prst="rect">
            <a:avLst/>
          </a:prstGeom>
          <a:noFill/>
          <a:ln/>
        </p:spPr>
        <p:txBody>
          <a:bodyPr wrap="square" lIns="0" tIns="0" rIns="0" bIns="0" rtlCol="0" anchor="t"/>
          <a:lstStyle/>
          <a:p>
            <a:pPr indent="0" marL="0">
              <a:buNone/>
            </a:pPr>
            <a:r>
              <a:rPr lang="en-US" sz="1400" dirty="0">
                <a:solidFill>
                  <a:schemeClr val="tx2"/>
                </a:solidFill>
              </a:rPr>
              <a:t>GTX 16 to RTX 50, RX 6000-9000, Arc</a:t>
            </a:r>
            <a:endParaRPr lang="en-US" sz="1400" dirty="0"/>
          </a:p>
        </p:txBody>
      </p:sp>
      <p:sp>
        <p:nvSpPr>
          <p:cNvPr id="34" name="Catalog card 6"/>
          <p:cNvSpPr/>
          <p:nvPr/>
        </p:nvSpPr>
        <p:spPr>
          <a:xfrm>
            <a:off x="3390824" y="3840480"/>
            <a:ext cx="2567864" cy="2194560"/>
          </a:xfrm>
          <a:prstGeom prst="roundRect">
            <a:avLst>
              <a:gd name="adj" fmla="val 3333"/>
            </a:avLst>
          </a:prstGeom>
          <a:solidFill>
            <a:schemeClr val="bg2"/>
          </a:solidFill>
          <a:ln w="12700">
            <a:solidFill>
              <a:schemeClr val="bg2"/>
            </a:solidFill>
            <a:prstDash val="solid"/>
          </a:ln>
        </p:spPr>
      </p:sp>
      <p:sp>
        <p:nvSpPr>
          <p:cNvPr id="35" name="Catalog 6 circle"/>
          <p:cNvSpPr/>
          <p:nvPr/>
        </p:nvSpPr>
        <p:spPr>
          <a:xfrm>
            <a:off x="5090008" y="4114800"/>
            <a:ext cx="594360" cy="594360"/>
          </a:xfrm>
          <a:prstGeom prst="ellipse">
            <a:avLst/>
          </a:prstGeom>
          <a:solidFill>
            <a:schemeClr val="accent1"/>
          </a:solidFill>
          <a:ln w="12700">
            <a:solidFill>
              <a:schemeClr val="accent1"/>
            </a:solidFill>
            <a:prstDash val="solid"/>
          </a:ln>
        </p:spPr>
      </p:sp>
      <p:pic>
        <p:nvPicPr>
          <p:cNvPr id="36" name="Catalog 6 icon" descr="preencoded.png">    </p:cNvPr>
          <p:cNvPicPr>
            <a:picLocks noChangeAspect="1"/>
          </p:cNvPicPr>
          <p:nvPr/>
        </p:nvPicPr>
        <p:blipFill>
          <a:blip r:embed="rId6"/>
          <a:stretch>
            <a:fillRect/>
          </a:stretch>
        </p:blipFill>
        <p:spPr>
          <a:xfrm>
            <a:off x="5244541" y="4269334"/>
            <a:ext cx="285293" cy="285293"/>
          </a:xfrm>
          <a:prstGeom prst="rect">
            <a:avLst/>
          </a:prstGeom>
        </p:spPr>
      </p:pic>
      <p:sp>
        <p:nvSpPr>
          <p:cNvPr id="37" name="Catalog count 6"/>
          <p:cNvSpPr txBox="1"/>
          <p:nvPr/>
        </p:nvSpPr>
        <p:spPr>
          <a:xfrm>
            <a:off x="3665144" y="402336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20</a:t>
            </a:r>
            <a:endParaRPr lang="en-US" sz="4400" dirty="0"/>
          </a:p>
        </p:txBody>
      </p:sp>
      <p:sp>
        <p:nvSpPr>
          <p:cNvPr id="38" name="Catalog title 6"/>
          <p:cNvSpPr txBox="1"/>
          <p:nvPr/>
        </p:nvSpPr>
        <p:spPr>
          <a:xfrm>
            <a:off x="3665144" y="4800600"/>
            <a:ext cx="2019224" cy="365760"/>
          </a:xfrm>
          <a:prstGeom prst="rect">
            <a:avLst/>
          </a:prstGeom>
          <a:noFill/>
          <a:ln/>
        </p:spPr>
        <p:txBody>
          <a:bodyPr wrap="square" lIns="0" tIns="0" rIns="0" bIns="0" rtlCol="0" anchor="t"/>
          <a:lstStyle/>
          <a:p>
            <a:pPr indent="0" marL="0">
              <a:buNone/>
            </a:pPr>
            <a:r>
              <a:rPr lang="en-US" sz="1800" b="1" dirty="0">
                <a:solidFill>
                  <a:schemeClr val="tx1"/>
                </a:solidFill>
              </a:rPr>
              <a:t>Power supplies</a:t>
            </a:r>
            <a:endParaRPr lang="en-US" sz="1800" dirty="0"/>
          </a:p>
        </p:txBody>
      </p:sp>
      <p:sp>
        <p:nvSpPr>
          <p:cNvPr id="39" name="Catalog desc 6"/>
          <p:cNvSpPr txBox="1"/>
          <p:nvPr/>
        </p:nvSpPr>
        <p:spPr>
          <a:xfrm>
            <a:off x="3665144" y="5193792"/>
            <a:ext cx="2019224" cy="731520"/>
          </a:xfrm>
          <a:prstGeom prst="rect">
            <a:avLst/>
          </a:prstGeom>
          <a:noFill/>
          <a:ln/>
        </p:spPr>
        <p:txBody>
          <a:bodyPr wrap="square" lIns="0" tIns="0" rIns="0" bIns="0" rtlCol="0" anchor="t"/>
          <a:lstStyle/>
          <a:p>
            <a:pPr indent="0" marL="0">
              <a:buNone/>
            </a:pPr>
            <a:r>
              <a:rPr lang="en-US" sz="1400" dirty="0">
                <a:solidFill>
                  <a:schemeClr val="tx2"/>
                </a:solidFill>
              </a:rPr>
              <a:t>500 W to 1600 W, Bronze to Titanium</a:t>
            </a:r>
            <a:endParaRPr lang="en-US" sz="1400" dirty="0"/>
          </a:p>
        </p:txBody>
      </p:sp>
      <p:sp>
        <p:nvSpPr>
          <p:cNvPr id="40" name="Catalog card 7"/>
          <p:cNvSpPr/>
          <p:nvPr/>
        </p:nvSpPr>
        <p:spPr>
          <a:xfrm>
            <a:off x="6233008" y="3840480"/>
            <a:ext cx="2567864" cy="2194560"/>
          </a:xfrm>
          <a:prstGeom prst="roundRect">
            <a:avLst>
              <a:gd name="adj" fmla="val 3333"/>
            </a:avLst>
          </a:prstGeom>
          <a:solidFill>
            <a:schemeClr val="bg2"/>
          </a:solidFill>
          <a:ln w="12700">
            <a:solidFill>
              <a:schemeClr val="bg2"/>
            </a:solidFill>
            <a:prstDash val="solid"/>
          </a:ln>
        </p:spPr>
      </p:sp>
      <p:sp>
        <p:nvSpPr>
          <p:cNvPr id="41" name="Catalog 7 circle"/>
          <p:cNvSpPr/>
          <p:nvPr/>
        </p:nvSpPr>
        <p:spPr>
          <a:xfrm>
            <a:off x="7932191" y="4114800"/>
            <a:ext cx="594360" cy="594360"/>
          </a:xfrm>
          <a:prstGeom prst="ellipse">
            <a:avLst/>
          </a:prstGeom>
          <a:solidFill>
            <a:schemeClr val="accent1"/>
          </a:solidFill>
          <a:ln w="12700">
            <a:solidFill>
              <a:schemeClr val="accent1"/>
            </a:solidFill>
            <a:prstDash val="solid"/>
          </a:ln>
        </p:spPr>
      </p:sp>
      <p:pic>
        <p:nvPicPr>
          <p:cNvPr id="42" name="Catalog 7 icon" descr="preencoded.png">    </p:cNvPr>
          <p:cNvPicPr>
            <a:picLocks noChangeAspect="1"/>
          </p:cNvPicPr>
          <p:nvPr/>
        </p:nvPicPr>
        <p:blipFill>
          <a:blip r:embed="rId7"/>
          <a:stretch>
            <a:fillRect/>
          </a:stretch>
        </p:blipFill>
        <p:spPr>
          <a:xfrm>
            <a:off x="8086725" y="4269334"/>
            <a:ext cx="285293" cy="285293"/>
          </a:xfrm>
          <a:prstGeom prst="rect">
            <a:avLst/>
          </a:prstGeom>
        </p:spPr>
      </p:pic>
      <p:sp>
        <p:nvSpPr>
          <p:cNvPr id="43" name="Catalog count 7"/>
          <p:cNvSpPr txBox="1"/>
          <p:nvPr/>
        </p:nvSpPr>
        <p:spPr>
          <a:xfrm>
            <a:off x="6507328" y="402336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17</a:t>
            </a:r>
            <a:endParaRPr lang="en-US" sz="4400" dirty="0"/>
          </a:p>
        </p:txBody>
      </p:sp>
      <p:sp>
        <p:nvSpPr>
          <p:cNvPr id="44" name="Catalog title 7"/>
          <p:cNvSpPr txBox="1"/>
          <p:nvPr/>
        </p:nvSpPr>
        <p:spPr>
          <a:xfrm>
            <a:off x="6507328" y="4800600"/>
            <a:ext cx="2019224" cy="365760"/>
          </a:xfrm>
          <a:prstGeom prst="rect">
            <a:avLst/>
          </a:prstGeom>
          <a:noFill/>
          <a:ln/>
        </p:spPr>
        <p:txBody>
          <a:bodyPr wrap="square" lIns="0" tIns="0" rIns="0" bIns="0" rtlCol="0" anchor="t"/>
          <a:lstStyle/>
          <a:p>
            <a:pPr indent="0" marL="0">
              <a:buNone/>
            </a:pPr>
            <a:r>
              <a:rPr lang="en-US" sz="1800" b="1" dirty="0">
                <a:solidFill>
                  <a:schemeClr val="tx1"/>
                </a:solidFill>
              </a:rPr>
              <a:t>CPU coolers</a:t>
            </a:r>
            <a:endParaRPr lang="en-US" sz="1800" dirty="0"/>
          </a:p>
        </p:txBody>
      </p:sp>
      <p:sp>
        <p:nvSpPr>
          <p:cNvPr id="45" name="Catalog desc 7"/>
          <p:cNvSpPr txBox="1"/>
          <p:nvPr/>
        </p:nvSpPr>
        <p:spPr>
          <a:xfrm>
            <a:off x="6507328" y="5193792"/>
            <a:ext cx="2019224" cy="731520"/>
          </a:xfrm>
          <a:prstGeom prst="rect">
            <a:avLst/>
          </a:prstGeom>
          <a:noFill/>
          <a:ln/>
        </p:spPr>
        <p:txBody>
          <a:bodyPr wrap="square" lIns="0" tIns="0" rIns="0" bIns="0" rtlCol="0" anchor="t"/>
          <a:lstStyle/>
          <a:p>
            <a:pPr indent="0" marL="0">
              <a:buNone/>
            </a:pPr>
            <a:r>
              <a:rPr lang="en-US" sz="1400" dirty="0">
                <a:solidFill>
                  <a:schemeClr val="tx2"/>
                </a:solidFill>
              </a:rPr>
              <a:t>Stock, air towers, 240 / 360 mm AIO</a:t>
            </a:r>
            <a:endParaRPr lang="en-US" sz="1400" dirty="0"/>
          </a:p>
        </p:txBody>
      </p:sp>
      <p:sp>
        <p:nvSpPr>
          <p:cNvPr id="46" name="Catalog card 8"/>
          <p:cNvSpPr/>
          <p:nvPr/>
        </p:nvSpPr>
        <p:spPr>
          <a:xfrm>
            <a:off x="9075191" y="3840480"/>
            <a:ext cx="2567864" cy="2194560"/>
          </a:xfrm>
          <a:prstGeom prst="roundRect">
            <a:avLst>
              <a:gd name="adj" fmla="val 3333"/>
            </a:avLst>
          </a:prstGeom>
          <a:solidFill>
            <a:schemeClr val="bg2"/>
          </a:solidFill>
          <a:ln w="12700">
            <a:solidFill>
              <a:schemeClr val="bg2"/>
            </a:solidFill>
            <a:prstDash val="solid"/>
          </a:ln>
        </p:spPr>
      </p:sp>
      <p:sp>
        <p:nvSpPr>
          <p:cNvPr id="47" name="Catalog 8 circle"/>
          <p:cNvSpPr/>
          <p:nvPr/>
        </p:nvSpPr>
        <p:spPr>
          <a:xfrm>
            <a:off x="10774375" y="4114800"/>
            <a:ext cx="594360" cy="594360"/>
          </a:xfrm>
          <a:prstGeom prst="ellipse">
            <a:avLst/>
          </a:prstGeom>
          <a:solidFill>
            <a:schemeClr val="accent1"/>
          </a:solidFill>
          <a:ln w="12700">
            <a:solidFill>
              <a:schemeClr val="accent1"/>
            </a:solidFill>
            <a:prstDash val="solid"/>
          </a:ln>
        </p:spPr>
      </p:sp>
      <p:pic>
        <p:nvPicPr>
          <p:cNvPr id="48" name="Catalog 8 icon" descr="preencoded.png">    </p:cNvPr>
          <p:cNvPicPr>
            <a:picLocks noChangeAspect="1"/>
          </p:cNvPicPr>
          <p:nvPr/>
        </p:nvPicPr>
        <p:blipFill>
          <a:blip r:embed="rId8"/>
          <a:stretch>
            <a:fillRect/>
          </a:stretch>
        </p:blipFill>
        <p:spPr>
          <a:xfrm>
            <a:off x="10928909" y="4269334"/>
            <a:ext cx="285293" cy="285293"/>
          </a:xfrm>
          <a:prstGeom prst="rect">
            <a:avLst/>
          </a:prstGeom>
        </p:spPr>
      </p:pic>
      <p:sp>
        <p:nvSpPr>
          <p:cNvPr id="49" name="Catalog count 8"/>
          <p:cNvSpPr txBox="1"/>
          <p:nvPr/>
        </p:nvSpPr>
        <p:spPr>
          <a:xfrm>
            <a:off x="9349511" y="4023360"/>
            <a:ext cx="1463040" cy="731520"/>
          </a:xfrm>
          <a:prstGeom prst="rect">
            <a:avLst/>
          </a:prstGeom>
          <a:noFill/>
          <a:ln/>
        </p:spPr>
        <p:txBody>
          <a:bodyPr wrap="square" lIns="0" tIns="0" rIns="0" bIns="0" rtlCol="0" anchor="t"/>
          <a:lstStyle/>
          <a:p>
            <a:pPr indent="0" marL="0">
              <a:buNone/>
            </a:pPr>
            <a:r>
              <a:rPr lang="en-US" sz="4400" b="1" dirty="0">
                <a:solidFill>
                  <a:schemeClr val="accent1"/>
                </a:solidFill>
              </a:rPr>
              <a:t>17</a:t>
            </a:r>
            <a:endParaRPr lang="en-US" sz="4400" dirty="0"/>
          </a:p>
        </p:txBody>
      </p:sp>
      <p:sp>
        <p:nvSpPr>
          <p:cNvPr id="50" name="Catalog title 8"/>
          <p:cNvSpPr txBox="1"/>
          <p:nvPr/>
        </p:nvSpPr>
        <p:spPr>
          <a:xfrm>
            <a:off x="9349511" y="4800600"/>
            <a:ext cx="2019224" cy="365760"/>
          </a:xfrm>
          <a:prstGeom prst="rect">
            <a:avLst/>
          </a:prstGeom>
          <a:noFill/>
          <a:ln/>
        </p:spPr>
        <p:txBody>
          <a:bodyPr wrap="square" lIns="0" tIns="0" rIns="0" bIns="0" rtlCol="0" anchor="t"/>
          <a:lstStyle/>
          <a:p>
            <a:pPr indent="0" marL="0">
              <a:buNone/>
            </a:pPr>
            <a:r>
              <a:rPr lang="en-US" sz="1800" b="1" dirty="0">
                <a:solidFill>
                  <a:schemeClr val="tx1"/>
                </a:solidFill>
              </a:rPr>
              <a:t>Cases</a:t>
            </a:r>
            <a:endParaRPr lang="en-US" sz="1800" dirty="0"/>
          </a:p>
        </p:txBody>
      </p:sp>
      <p:sp>
        <p:nvSpPr>
          <p:cNvPr id="51" name="Catalog desc 8"/>
          <p:cNvSpPr txBox="1"/>
          <p:nvPr/>
        </p:nvSpPr>
        <p:spPr>
          <a:xfrm>
            <a:off x="9349511" y="5193792"/>
            <a:ext cx="2019224" cy="731520"/>
          </a:xfrm>
          <a:prstGeom prst="rect">
            <a:avLst/>
          </a:prstGeom>
          <a:noFill/>
          <a:ln/>
        </p:spPr>
        <p:txBody>
          <a:bodyPr wrap="square" lIns="0" tIns="0" rIns="0" bIns="0" rtlCol="0" anchor="t"/>
          <a:lstStyle/>
          <a:p>
            <a:pPr indent="0" marL="0">
              <a:buNone/>
            </a:pPr>
            <a:r>
              <a:rPr lang="en-US" sz="1400" dirty="0">
                <a:solidFill>
                  <a:schemeClr val="tx2"/>
                </a:solidFill>
              </a:rPr>
              <a:t>Mini-ITX, Micro-ATX and ATX</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Technology stack</a:t>
            </a:r>
            <a:endParaRPr lang="en-US" sz="3200" dirty="0"/>
          </a:p>
        </p:txBody>
      </p:sp>
      <p:sp>
        <p:nvSpPr>
          <p:cNvPr id="4" name="Stack 1 circle"/>
          <p:cNvSpPr/>
          <p:nvPr/>
        </p:nvSpPr>
        <p:spPr>
          <a:xfrm>
            <a:off x="548640" y="1463040"/>
            <a:ext cx="914400" cy="914400"/>
          </a:xfrm>
          <a:prstGeom prst="ellipse">
            <a:avLst/>
          </a:prstGeom>
          <a:solidFill>
            <a:schemeClr val="accent1"/>
          </a:solidFill>
          <a:ln w="12700">
            <a:solidFill>
              <a:schemeClr val="accent1"/>
            </a:solidFill>
            <a:prstDash val="solid"/>
          </a:ln>
        </p:spPr>
      </p:sp>
      <p:pic>
        <p:nvPicPr>
          <p:cNvPr id="5" name="Stack 1 icon" descr="preencoded.png">    </p:cNvPr>
          <p:cNvPicPr>
            <a:picLocks noChangeAspect="1"/>
          </p:cNvPicPr>
          <p:nvPr/>
        </p:nvPicPr>
        <p:blipFill>
          <a:blip r:embed="rId1"/>
          <a:stretch>
            <a:fillRect/>
          </a:stretch>
        </p:blipFill>
        <p:spPr>
          <a:xfrm>
            <a:off x="786384" y="1700784"/>
            <a:ext cx="438912" cy="438912"/>
          </a:xfrm>
          <a:prstGeom prst="rect">
            <a:avLst/>
          </a:prstGeom>
        </p:spPr>
      </p:pic>
      <p:sp>
        <p:nvSpPr>
          <p:cNvPr id="6" name="Stack title 1"/>
          <p:cNvSpPr txBox="1"/>
          <p:nvPr/>
        </p:nvSpPr>
        <p:spPr>
          <a:xfrm>
            <a:off x="548640" y="2560320"/>
            <a:ext cx="2567864" cy="384048"/>
          </a:xfrm>
          <a:prstGeom prst="rect">
            <a:avLst/>
          </a:prstGeom>
          <a:noFill/>
          <a:ln/>
        </p:spPr>
        <p:txBody>
          <a:bodyPr wrap="square" lIns="0" tIns="0" rIns="0" bIns="0" rtlCol="0" anchor="t"/>
          <a:lstStyle/>
          <a:p>
            <a:pPr indent="0" marL="0">
              <a:buNone/>
            </a:pPr>
            <a:r>
              <a:rPr lang="en-US" sz="1900" b="1" dirty="0">
                <a:solidFill>
                  <a:schemeClr val="tx1"/>
                </a:solidFill>
              </a:rPr>
              <a:t>Python</a:t>
            </a:r>
            <a:endParaRPr lang="en-US" sz="1900" dirty="0"/>
          </a:p>
        </p:txBody>
      </p:sp>
      <p:sp>
        <p:nvSpPr>
          <p:cNvPr id="7" name="Stack desc 1"/>
          <p:cNvSpPr txBox="1"/>
          <p:nvPr/>
        </p:nvSpPr>
        <p:spPr>
          <a:xfrm>
            <a:off x="548640" y="2971800"/>
            <a:ext cx="2567864" cy="548640"/>
          </a:xfrm>
          <a:prstGeom prst="rect">
            <a:avLst/>
          </a:prstGeom>
          <a:noFill/>
          <a:ln/>
        </p:spPr>
        <p:txBody>
          <a:bodyPr wrap="square" lIns="0" tIns="0" rIns="0" bIns="0" rtlCol="0" anchor="t"/>
          <a:lstStyle/>
          <a:p>
            <a:pPr indent="0" marL="0">
              <a:buNone/>
            </a:pPr>
            <a:r>
              <a:rPr lang="en-US" sz="1500" dirty="0">
                <a:solidFill>
                  <a:schemeClr val="tx2"/>
                </a:solidFill>
              </a:rPr>
              <a:t>Core language</a:t>
            </a:r>
            <a:endParaRPr lang="en-US" sz="1500" dirty="0"/>
          </a:p>
        </p:txBody>
      </p:sp>
      <p:sp>
        <p:nvSpPr>
          <p:cNvPr id="8" name="Stack 2 circle"/>
          <p:cNvSpPr/>
          <p:nvPr/>
        </p:nvSpPr>
        <p:spPr>
          <a:xfrm>
            <a:off x="3390824" y="1463040"/>
            <a:ext cx="914400" cy="914400"/>
          </a:xfrm>
          <a:prstGeom prst="ellipse">
            <a:avLst/>
          </a:prstGeom>
          <a:solidFill>
            <a:schemeClr val="accent2"/>
          </a:solidFill>
          <a:ln w="12700">
            <a:solidFill>
              <a:schemeClr val="accent2"/>
            </a:solidFill>
            <a:prstDash val="solid"/>
          </a:ln>
        </p:spPr>
      </p:sp>
      <p:pic>
        <p:nvPicPr>
          <p:cNvPr id="9" name="Stack 2 icon" descr="preencoded.png">    </p:cNvPr>
          <p:cNvPicPr>
            <a:picLocks noChangeAspect="1"/>
          </p:cNvPicPr>
          <p:nvPr/>
        </p:nvPicPr>
        <p:blipFill>
          <a:blip r:embed="rId2"/>
          <a:stretch>
            <a:fillRect/>
          </a:stretch>
        </p:blipFill>
        <p:spPr>
          <a:xfrm>
            <a:off x="3628568" y="1700784"/>
            <a:ext cx="438912" cy="438912"/>
          </a:xfrm>
          <a:prstGeom prst="rect">
            <a:avLst/>
          </a:prstGeom>
        </p:spPr>
      </p:pic>
      <p:sp>
        <p:nvSpPr>
          <p:cNvPr id="10" name="Stack title 2"/>
          <p:cNvSpPr txBox="1"/>
          <p:nvPr/>
        </p:nvSpPr>
        <p:spPr>
          <a:xfrm>
            <a:off x="3390824" y="2560320"/>
            <a:ext cx="2567864" cy="384048"/>
          </a:xfrm>
          <a:prstGeom prst="rect">
            <a:avLst/>
          </a:prstGeom>
          <a:noFill/>
          <a:ln/>
        </p:spPr>
        <p:txBody>
          <a:bodyPr wrap="square" lIns="0" tIns="0" rIns="0" bIns="0" rtlCol="0" anchor="t"/>
          <a:lstStyle/>
          <a:p>
            <a:pPr indent="0" marL="0">
              <a:buNone/>
            </a:pPr>
            <a:r>
              <a:rPr lang="en-US" sz="1900" b="1" dirty="0">
                <a:solidFill>
                  <a:schemeClr val="tx1"/>
                </a:solidFill>
              </a:rPr>
              <a:t>pandas</a:t>
            </a:r>
            <a:endParaRPr lang="en-US" sz="1900" dirty="0"/>
          </a:p>
        </p:txBody>
      </p:sp>
      <p:sp>
        <p:nvSpPr>
          <p:cNvPr id="11" name="Stack desc 2"/>
          <p:cNvSpPr txBox="1"/>
          <p:nvPr/>
        </p:nvSpPr>
        <p:spPr>
          <a:xfrm>
            <a:off x="3390824" y="2971800"/>
            <a:ext cx="2567864" cy="548640"/>
          </a:xfrm>
          <a:prstGeom prst="rect">
            <a:avLst/>
          </a:prstGeom>
          <a:noFill/>
          <a:ln/>
        </p:spPr>
        <p:txBody>
          <a:bodyPr wrap="square" lIns="0" tIns="0" rIns="0" bIns="0" rtlCol="0" anchor="t"/>
          <a:lstStyle/>
          <a:p>
            <a:pPr indent="0" marL="0">
              <a:buNone/>
            </a:pPr>
            <a:r>
              <a:rPr lang="en-US" sz="1500" dirty="0">
                <a:solidFill>
                  <a:schemeClr val="tx2"/>
                </a:solidFill>
              </a:rPr>
              <a:t>Loading, cleaning, analysis</a:t>
            </a:r>
            <a:endParaRPr lang="en-US" sz="1500" dirty="0"/>
          </a:p>
        </p:txBody>
      </p:sp>
      <p:sp>
        <p:nvSpPr>
          <p:cNvPr id="12" name="Stack 3 circle"/>
          <p:cNvSpPr/>
          <p:nvPr/>
        </p:nvSpPr>
        <p:spPr>
          <a:xfrm>
            <a:off x="6233008" y="1463040"/>
            <a:ext cx="914400" cy="914400"/>
          </a:xfrm>
          <a:prstGeom prst="ellipse">
            <a:avLst/>
          </a:prstGeom>
          <a:solidFill>
            <a:schemeClr val="accent1"/>
          </a:solidFill>
          <a:ln w="12700">
            <a:solidFill>
              <a:schemeClr val="accent1"/>
            </a:solidFill>
            <a:prstDash val="solid"/>
          </a:ln>
        </p:spPr>
      </p:sp>
      <p:pic>
        <p:nvPicPr>
          <p:cNvPr id="13" name="Stack 3 icon" descr="preencoded.png">    </p:cNvPr>
          <p:cNvPicPr>
            <a:picLocks noChangeAspect="1"/>
          </p:cNvPicPr>
          <p:nvPr/>
        </p:nvPicPr>
        <p:blipFill>
          <a:blip r:embed="rId3"/>
          <a:stretch>
            <a:fillRect/>
          </a:stretch>
        </p:blipFill>
        <p:spPr>
          <a:xfrm>
            <a:off x="6470752" y="1700784"/>
            <a:ext cx="438912" cy="438912"/>
          </a:xfrm>
          <a:prstGeom prst="rect">
            <a:avLst/>
          </a:prstGeom>
        </p:spPr>
      </p:pic>
      <p:sp>
        <p:nvSpPr>
          <p:cNvPr id="14" name="Stack title 3"/>
          <p:cNvSpPr txBox="1"/>
          <p:nvPr/>
        </p:nvSpPr>
        <p:spPr>
          <a:xfrm>
            <a:off x="6233008" y="2560320"/>
            <a:ext cx="2567864" cy="384048"/>
          </a:xfrm>
          <a:prstGeom prst="rect">
            <a:avLst/>
          </a:prstGeom>
          <a:noFill/>
          <a:ln/>
        </p:spPr>
        <p:txBody>
          <a:bodyPr wrap="square" lIns="0" tIns="0" rIns="0" bIns="0" rtlCol="0" anchor="t"/>
          <a:lstStyle/>
          <a:p>
            <a:pPr indent="0" marL="0">
              <a:buNone/>
            </a:pPr>
            <a:r>
              <a:rPr lang="en-US" sz="1900" b="1" dirty="0">
                <a:solidFill>
                  <a:schemeClr val="tx1"/>
                </a:solidFill>
              </a:rPr>
              <a:t>NumPy</a:t>
            </a:r>
            <a:endParaRPr lang="en-US" sz="1900" dirty="0"/>
          </a:p>
        </p:txBody>
      </p:sp>
      <p:sp>
        <p:nvSpPr>
          <p:cNvPr id="15" name="Stack desc 3"/>
          <p:cNvSpPr txBox="1"/>
          <p:nvPr/>
        </p:nvSpPr>
        <p:spPr>
          <a:xfrm>
            <a:off x="6233008" y="2971800"/>
            <a:ext cx="2567864" cy="548640"/>
          </a:xfrm>
          <a:prstGeom prst="rect">
            <a:avLst/>
          </a:prstGeom>
          <a:noFill/>
          <a:ln/>
        </p:spPr>
        <p:txBody>
          <a:bodyPr wrap="square" lIns="0" tIns="0" rIns="0" bIns="0" rtlCol="0" anchor="t"/>
          <a:lstStyle/>
          <a:p>
            <a:pPr indent="0" marL="0">
              <a:buNone/>
            </a:pPr>
            <a:r>
              <a:rPr lang="en-US" sz="1500" dirty="0">
                <a:solidFill>
                  <a:schemeClr val="tx2"/>
                </a:solidFill>
              </a:rPr>
              <a:t>Numerical operations</a:t>
            </a:r>
            <a:endParaRPr lang="en-US" sz="1500" dirty="0"/>
          </a:p>
        </p:txBody>
      </p:sp>
      <p:sp>
        <p:nvSpPr>
          <p:cNvPr id="16" name="Stack 4 circle"/>
          <p:cNvSpPr/>
          <p:nvPr/>
        </p:nvSpPr>
        <p:spPr>
          <a:xfrm>
            <a:off x="9075191" y="1463040"/>
            <a:ext cx="914400" cy="914400"/>
          </a:xfrm>
          <a:prstGeom prst="ellipse">
            <a:avLst/>
          </a:prstGeom>
          <a:solidFill>
            <a:schemeClr val="accent2"/>
          </a:solidFill>
          <a:ln w="12700">
            <a:solidFill>
              <a:schemeClr val="accent2"/>
            </a:solidFill>
            <a:prstDash val="solid"/>
          </a:ln>
        </p:spPr>
      </p:sp>
      <p:pic>
        <p:nvPicPr>
          <p:cNvPr id="17" name="Stack 4 icon" descr="preencoded.png">    </p:cNvPr>
          <p:cNvPicPr>
            <a:picLocks noChangeAspect="1"/>
          </p:cNvPicPr>
          <p:nvPr/>
        </p:nvPicPr>
        <p:blipFill>
          <a:blip r:embed="rId4"/>
          <a:stretch>
            <a:fillRect/>
          </a:stretch>
        </p:blipFill>
        <p:spPr>
          <a:xfrm>
            <a:off x="9312935" y="1700784"/>
            <a:ext cx="438912" cy="438912"/>
          </a:xfrm>
          <a:prstGeom prst="rect">
            <a:avLst/>
          </a:prstGeom>
        </p:spPr>
      </p:pic>
      <p:sp>
        <p:nvSpPr>
          <p:cNvPr id="18" name="Stack title 4"/>
          <p:cNvSpPr txBox="1"/>
          <p:nvPr/>
        </p:nvSpPr>
        <p:spPr>
          <a:xfrm>
            <a:off x="9075191" y="2560320"/>
            <a:ext cx="2567864" cy="384048"/>
          </a:xfrm>
          <a:prstGeom prst="rect">
            <a:avLst/>
          </a:prstGeom>
          <a:noFill/>
          <a:ln/>
        </p:spPr>
        <p:txBody>
          <a:bodyPr wrap="square" lIns="0" tIns="0" rIns="0" bIns="0" rtlCol="0" anchor="t"/>
          <a:lstStyle/>
          <a:p>
            <a:pPr indent="0" marL="0">
              <a:buNone/>
            </a:pPr>
            <a:r>
              <a:rPr lang="en-US" sz="1900" b="1" dirty="0">
                <a:solidFill>
                  <a:schemeClr val="tx1"/>
                </a:solidFill>
              </a:rPr>
              <a:t>scikit-learn</a:t>
            </a:r>
            <a:endParaRPr lang="en-US" sz="1900" dirty="0"/>
          </a:p>
        </p:txBody>
      </p:sp>
      <p:sp>
        <p:nvSpPr>
          <p:cNvPr id="19" name="Stack desc 4"/>
          <p:cNvSpPr txBox="1"/>
          <p:nvPr/>
        </p:nvSpPr>
        <p:spPr>
          <a:xfrm>
            <a:off x="9075191" y="2971800"/>
            <a:ext cx="2567864" cy="548640"/>
          </a:xfrm>
          <a:prstGeom prst="rect">
            <a:avLst/>
          </a:prstGeom>
          <a:noFill/>
          <a:ln/>
        </p:spPr>
        <p:txBody>
          <a:bodyPr wrap="square" lIns="0" tIns="0" rIns="0" bIns="0" rtlCol="0" anchor="t"/>
          <a:lstStyle/>
          <a:p>
            <a:pPr indent="0" marL="0">
              <a:buNone/>
            </a:pPr>
            <a:r>
              <a:rPr lang="en-US" sz="1500" dirty="0">
                <a:solidFill>
                  <a:schemeClr val="tx2"/>
                </a:solidFill>
              </a:rPr>
              <a:t>Pipelines, models, tuning, metrics</a:t>
            </a:r>
            <a:endParaRPr lang="en-US" sz="1500" dirty="0"/>
          </a:p>
        </p:txBody>
      </p:sp>
      <p:sp>
        <p:nvSpPr>
          <p:cNvPr id="20" name="Stack 5 circle"/>
          <p:cNvSpPr/>
          <p:nvPr/>
        </p:nvSpPr>
        <p:spPr>
          <a:xfrm>
            <a:off x="548640" y="3840480"/>
            <a:ext cx="914400" cy="914400"/>
          </a:xfrm>
          <a:prstGeom prst="ellipse">
            <a:avLst/>
          </a:prstGeom>
          <a:solidFill>
            <a:schemeClr val="accent1"/>
          </a:solidFill>
          <a:ln w="12700">
            <a:solidFill>
              <a:schemeClr val="accent1"/>
            </a:solidFill>
            <a:prstDash val="solid"/>
          </a:ln>
        </p:spPr>
      </p:sp>
      <p:pic>
        <p:nvPicPr>
          <p:cNvPr id="21" name="Stack 5 icon" descr="preencoded.png">    </p:cNvPr>
          <p:cNvPicPr>
            <a:picLocks noChangeAspect="1"/>
          </p:cNvPicPr>
          <p:nvPr/>
        </p:nvPicPr>
        <p:blipFill>
          <a:blip r:embed="rId5"/>
          <a:stretch>
            <a:fillRect/>
          </a:stretch>
        </p:blipFill>
        <p:spPr>
          <a:xfrm>
            <a:off x="786384" y="4078224"/>
            <a:ext cx="438912" cy="438912"/>
          </a:xfrm>
          <a:prstGeom prst="rect">
            <a:avLst/>
          </a:prstGeom>
        </p:spPr>
      </p:pic>
      <p:sp>
        <p:nvSpPr>
          <p:cNvPr id="22" name="Stack title 5"/>
          <p:cNvSpPr txBox="1"/>
          <p:nvPr/>
        </p:nvSpPr>
        <p:spPr>
          <a:xfrm>
            <a:off x="548640" y="4937760"/>
            <a:ext cx="2567864" cy="384048"/>
          </a:xfrm>
          <a:prstGeom prst="rect">
            <a:avLst/>
          </a:prstGeom>
          <a:noFill/>
          <a:ln/>
        </p:spPr>
        <p:txBody>
          <a:bodyPr wrap="square" lIns="0" tIns="0" rIns="0" bIns="0" rtlCol="0" anchor="t"/>
          <a:lstStyle/>
          <a:p>
            <a:pPr indent="0" marL="0">
              <a:buNone/>
            </a:pPr>
            <a:r>
              <a:rPr lang="en-US" sz="1900" b="1" dirty="0">
                <a:solidFill>
                  <a:schemeClr val="tx1"/>
                </a:solidFill>
              </a:rPr>
              <a:t>Matplotlib &amp; Seaborn</a:t>
            </a:r>
            <a:endParaRPr lang="en-US" sz="1900" dirty="0"/>
          </a:p>
        </p:txBody>
      </p:sp>
      <p:sp>
        <p:nvSpPr>
          <p:cNvPr id="23" name="Stack desc 5"/>
          <p:cNvSpPr txBox="1"/>
          <p:nvPr/>
        </p:nvSpPr>
        <p:spPr>
          <a:xfrm>
            <a:off x="548640" y="5349240"/>
            <a:ext cx="2567864" cy="548640"/>
          </a:xfrm>
          <a:prstGeom prst="rect">
            <a:avLst/>
          </a:prstGeom>
          <a:noFill/>
          <a:ln/>
        </p:spPr>
        <p:txBody>
          <a:bodyPr wrap="square" lIns="0" tIns="0" rIns="0" bIns="0" rtlCol="0" anchor="t"/>
          <a:lstStyle/>
          <a:p>
            <a:pPr indent="0" marL="0">
              <a:buNone/>
            </a:pPr>
            <a:r>
              <a:rPr lang="en-US" sz="1500" dirty="0">
                <a:solidFill>
                  <a:schemeClr val="tx2"/>
                </a:solidFill>
              </a:rPr>
              <a:t>Charts and EDA figures</a:t>
            </a:r>
            <a:endParaRPr lang="en-US" sz="1500" dirty="0"/>
          </a:p>
        </p:txBody>
      </p:sp>
      <p:sp>
        <p:nvSpPr>
          <p:cNvPr id="24" name="Stack 6 circle"/>
          <p:cNvSpPr/>
          <p:nvPr/>
        </p:nvSpPr>
        <p:spPr>
          <a:xfrm>
            <a:off x="3390824" y="3840480"/>
            <a:ext cx="914400" cy="914400"/>
          </a:xfrm>
          <a:prstGeom prst="ellipse">
            <a:avLst/>
          </a:prstGeom>
          <a:solidFill>
            <a:schemeClr val="accent2"/>
          </a:solidFill>
          <a:ln w="12700">
            <a:solidFill>
              <a:schemeClr val="accent2"/>
            </a:solidFill>
            <a:prstDash val="solid"/>
          </a:ln>
        </p:spPr>
      </p:sp>
      <p:pic>
        <p:nvPicPr>
          <p:cNvPr id="25" name="Stack 6 icon" descr="preencoded.png">    </p:cNvPr>
          <p:cNvPicPr>
            <a:picLocks noChangeAspect="1"/>
          </p:cNvPicPr>
          <p:nvPr/>
        </p:nvPicPr>
        <p:blipFill>
          <a:blip r:embed="rId6"/>
          <a:stretch>
            <a:fillRect/>
          </a:stretch>
        </p:blipFill>
        <p:spPr>
          <a:xfrm>
            <a:off x="3628568" y="4078224"/>
            <a:ext cx="438912" cy="438912"/>
          </a:xfrm>
          <a:prstGeom prst="rect">
            <a:avLst/>
          </a:prstGeom>
        </p:spPr>
      </p:pic>
      <p:sp>
        <p:nvSpPr>
          <p:cNvPr id="26" name="Stack title 6"/>
          <p:cNvSpPr txBox="1"/>
          <p:nvPr/>
        </p:nvSpPr>
        <p:spPr>
          <a:xfrm>
            <a:off x="3390824" y="4937760"/>
            <a:ext cx="2567864" cy="384048"/>
          </a:xfrm>
          <a:prstGeom prst="rect">
            <a:avLst/>
          </a:prstGeom>
          <a:noFill/>
          <a:ln/>
        </p:spPr>
        <p:txBody>
          <a:bodyPr wrap="square" lIns="0" tIns="0" rIns="0" bIns="0" rtlCol="0" anchor="t"/>
          <a:lstStyle/>
          <a:p>
            <a:pPr indent="0" marL="0">
              <a:buNone/>
            </a:pPr>
            <a:r>
              <a:rPr lang="en-US" sz="1900" b="1" dirty="0">
                <a:solidFill>
                  <a:schemeClr val="tx1"/>
                </a:solidFill>
              </a:rPr>
              <a:t>Streamlit</a:t>
            </a:r>
            <a:endParaRPr lang="en-US" sz="1900" dirty="0"/>
          </a:p>
        </p:txBody>
      </p:sp>
      <p:sp>
        <p:nvSpPr>
          <p:cNvPr id="27" name="Stack desc 6"/>
          <p:cNvSpPr txBox="1"/>
          <p:nvPr/>
        </p:nvSpPr>
        <p:spPr>
          <a:xfrm>
            <a:off x="3390824" y="5349240"/>
            <a:ext cx="2567864" cy="548640"/>
          </a:xfrm>
          <a:prstGeom prst="rect">
            <a:avLst/>
          </a:prstGeom>
          <a:noFill/>
          <a:ln/>
        </p:spPr>
        <p:txBody>
          <a:bodyPr wrap="square" lIns="0" tIns="0" rIns="0" bIns="0" rtlCol="0" anchor="t"/>
          <a:lstStyle/>
          <a:p>
            <a:pPr indent="0" marL="0">
              <a:buNone/>
            </a:pPr>
            <a:r>
              <a:rPr lang="en-US" sz="1500" dirty="0">
                <a:solidFill>
                  <a:schemeClr val="tx2"/>
                </a:solidFill>
              </a:rPr>
              <a:t>Interactive web app</a:t>
            </a:r>
            <a:endParaRPr lang="en-US" sz="1500" dirty="0"/>
          </a:p>
        </p:txBody>
      </p:sp>
      <p:sp>
        <p:nvSpPr>
          <p:cNvPr id="28" name="Stack 7 circle"/>
          <p:cNvSpPr/>
          <p:nvPr/>
        </p:nvSpPr>
        <p:spPr>
          <a:xfrm>
            <a:off x="6233008" y="3840480"/>
            <a:ext cx="914400" cy="914400"/>
          </a:xfrm>
          <a:prstGeom prst="ellipse">
            <a:avLst/>
          </a:prstGeom>
          <a:solidFill>
            <a:schemeClr val="accent1"/>
          </a:solidFill>
          <a:ln w="12700">
            <a:solidFill>
              <a:schemeClr val="accent1"/>
            </a:solidFill>
            <a:prstDash val="solid"/>
          </a:ln>
        </p:spPr>
      </p:sp>
      <p:pic>
        <p:nvPicPr>
          <p:cNvPr id="29" name="Stack 7 icon" descr="preencoded.png">    </p:cNvPr>
          <p:cNvPicPr>
            <a:picLocks noChangeAspect="1"/>
          </p:cNvPicPr>
          <p:nvPr/>
        </p:nvPicPr>
        <p:blipFill>
          <a:blip r:embed="rId7"/>
          <a:stretch>
            <a:fillRect/>
          </a:stretch>
        </p:blipFill>
        <p:spPr>
          <a:xfrm>
            <a:off x="6470752" y="4078224"/>
            <a:ext cx="438912" cy="438912"/>
          </a:xfrm>
          <a:prstGeom prst="rect">
            <a:avLst/>
          </a:prstGeom>
        </p:spPr>
      </p:pic>
      <p:sp>
        <p:nvSpPr>
          <p:cNvPr id="30" name="Stack title 7"/>
          <p:cNvSpPr txBox="1"/>
          <p:nvPr/>
        </p:nvSpPr>
        <p:spPr>
          <a:xfrm>
            <a:off x="6233008" y="4937760"/>
            <a:ext cx="2567864" cy="384048"/>
          </a:xfrm>
          <a:prstGeom prst="rect">
            <a:avLst/>
          </a:prstGeom>
          <a:noFill/>
          <a:ln/>
        </p:spPr>
        <p:txBody>
          <a:bodyPr wrap="square" lIns="0" tIns="0" rIns="0" bIns="0" rtlCol="0" anchor="t"/>
          <a:lstStyle/>
          <a:p>
            <a:pPr indent="0" marL="0">
              <a:buNone/>
            </a:pPr>
            <a:r>
              <a:rPr lang="en-US" sz="1900" b="1" dirty="0">
                <a:solidFill>
                  <a:schemeClr val="tx1"/>
                </a:solidFill>
              </a:rPr>
              <a:t>joblib</a:t>
            </a:r>
            <a:endParaRPr lang="en-US" sz="1900" dirty="0"/>
          </a:p>
        </p:txBody>
      </p:sp>
      <p:sp>
        <p:nvSpPr>
          <p:cNvPr id="31" name="Stack desc 7"/>
          <p:cNvSpPr txBox="1"/>
          <p:nvPr/>
        </p:nvSpPr>
        <p:spPr>
          <a:xfrm>
            <a:off x="6233008" y="5349240"/>
            <a:ext cx="2567864" cy="548640"/>
          </a:xfrm>
          <a:prstGeom prst="rect">
            <a:avLst/>
          </a:prstGeom>
          <a:noFill/>
          <a:ln/>
        </p:spPr>
        <p:txBody>
          <a:bodyPr wrap="square" lIns="0" tIns="0" rIns="0" bIns="0" rtlCol="0" anchor="t"/>
          <a:lstStyle/>
          <a:p>
            <a:pPr indent="0" marL="0">
              <a:buNone/>
            </a:pPr>
            <a:r>
              <a:rPr lang="en-US" sz="1500" dirty="0">
                <a:solidFill>
                  <a:schemeClr val="tx2"/>
                </a:solidFill>
              </a:rPr>
              <a:t>Saving the trained model</a:t>
            </a:r>
            <a:endParaRPr lang="en-US" sz="1500" dirty="0"/>
          </a:p>
        </p:txBody>
      </p:sp>
      <p:sp>
        <p:nvSpPr>
          <p:cNvPr id="32" name="Stack 8 circle"/>
          <p:cNvSpPr/>
          <p:nvPr/>
        </p:nvSpPr>
        <p:spPr>
          <a:xfrm>
            <a:off x="9075191" y="3840480"/>
            <a:ext cx="914400" cy="914400"/>
          </a:xfrm>
          <a:prstGeom prst="ellipse">
            <a:avLst/>
          </a:prstGeom>
          <a:solidFill>
            <a:schemeClr val="accent2"/>
          </a:solidFill>
          <a:ln w="12700">
            <a:solidFill>
              <a:schemeClr val="accent2"/>
            </a:solidFill>
            <a:prstDash val="solid"/>
          </a:ln>
        </p:spPr>
      </p:sp>
      <p:pic>
        <p:nvPicPr>
          <p:cNvPr id="33" name="Stack 8 icon" descr="preencoded.png">    </p:cNvPr>
          <p:cNvPicPr>
            <a:picLocks noChangeAspect="1"/>
          </p:cNvPicPr>
          <p:nvPr/>
        </p:nvPicPr>
        <p:blipFill>
          <a:blip r:embed="rId8"/>
          <a:stretch>
            <a:fillRect/>
          </a:stretch>
        </p:blipFill>
        <p:spPr>
          <a:xfrm>
            <a:off x="9312935" y="4078224"/>
            <a:ext cx="438912" cy="438912"/>
          </a:xfrm>
          <a:prstGeom prst="rect">
            <a:avLst/>
          </a:prstGeom>
        </p:spPr>
      </p:pic>
      <p:sp>
        <p:nvSpPr>
          <p:cNvPr id="34" name="Stack title 8"/>
          <p:cNvSpPr txBox="1"/>
          <p:nvPr/>
        </p:nvSpPr>
        <p:spPr>
          <a:xfrm>
            <a:off x="9075191" y="4937760"/>
            <a:ext cx="2567864" cy="384048"/>
          </a:xfrm>
          <a:prstGeom prst="rect">
            <a:avLst/>
          </a:prstGeom>
          <a:noFill/>
          <a:ln/>
        </p:spPr>
        <p:txBody>
          <a:bodyPr wrap="square" lIns="0" tIns="0" rIns="0" bIns="0" rtlCol="0" anchor="t"/>
          <a:lstStyle/>
          <a:p>
            <a:pPr indent="0" marL="0">
              <a:buNone/>
            </a:pPr>
            <a:r>
              <a:rPr lang="en-US" sz="1900" b="1" dirty="0">
                <a:solidFill>
                  <a:schemeClr val="tx1"/>
                </a:solidFill>
              </a:rPr>
              <a:t>openpyxl</a:t>
            </a:r>
            <a:endParaRPr lang="en-US" sz="1900" dirty="0"/>
          </a:p>
        </p:txBody>
      </p:sp>
      <p:sp>
        <p:nvSpPr>
          <p:cNvPr id="35" name="Stack desc 8"/>
          <p:cNvSpPr txBox="1"/>
          <p:nvPr/>
        </p:nvSpPr>
        <p:spPr>
          <a:xfrm>
            <a:off x="9075191" y="5349240"/>
            <a:ext cx="2567864" cy="548640"/>
          </a:xfrm>
          <a:prstGeom prst="rect">
            <a:avLst/>
          </a:prstGeom>
          <a:noFill/>
          <a:ln/>
        </p:spPr>
        <p:txBody>
          <a:bodyPr wrap="square" lIns="0" tIns="0" rIns="0" bIns="0" rtlCol="0" anchor="t"/>
          <a:lstStyle/>
          <a:p>
            <a:pPr indent="0" marL="0">
              <a:buNone/>
            </a:pPr>
            <a:r>
              <a:rPr lang="en-US" sz="1500" dirty="0">
                <a:solidFill>
                  <a:schemeClr val="tx2"/>
                </a:solidFill>
              </a:rPr>
              <a:t>Excel report export</a:t>
            </a:r>
            <a:endParaRPr lang="en-US" sz="15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06</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Syllabus Mapping</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How the project covers Units I-V of Machine Learning (241AI005)</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Syllabus mapping: Units I-III</a:t>
            </a:r>
            <a:endParaRPr lang="en-US" sz="3200" dirty="0"/>
          </a:p>
        </p:txBody>
      </p:sp>
      <p:graphicFrame>
        <p:nvGraphicFramePr>
          <p:cNvPr id="34" name="Units I-III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3931920"/>
                <a:gridCol w="6336792"/>
              </a:tblGrid>
              <a:tr h="475488">
                <a:tc>
                  <a:txBody>
                    <a:bodyPr/>
                    <a:lstStyle/>
                    <a:p>
                      <a:pPr indent="0" marL="0">
                        <a:buNone/>
                      </a:pPr>
                      <a:r>
                        <a:rPr lang="en-US" sz="1400" b="1" dirty="0">
                          <a:solidFill>
                            <a:schemeClr val="bg1"/>
                          </a:solidFill>
                        </a:rPr>
                        <a:t>Unit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Syllabus topic</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Where it is used in this project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475488">
                <a:tc>
                  <a:txBody>
                    <a:bodyPr/>
                    <a:lstStyle/>
                    <a:p>
                      <a:pPr algn="ctr" indent="0" marL="0">
                        <a:buNone/>
                      </a:pPr>
                      <a:r>
                        <a:rPr lang="en-US" sz="1400" b="1" dirty="0">
                          <a:solidFill>
                            <a:schemeClr val="bg1"/>
                          </a:solidFill>
                        </a:rPr>
                        <a:t>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Types of ML systems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Supervised, batch and model-based learning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Main challenges of ML</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Poor-quality data (missing, duplicate, impossible values), small dataset, overfitting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Statistical learning: the learning problem</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Learn f(attributes) → Performance_Score from 402 labelled PCs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Practice: preprocess and analyse a dataset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7 cleaning steps (520 → 503 rows), correlation and class analysis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algn="ctr" indent="0" marL="0">
                        <a:buNone/>
                      </a:pPr>
                      <a:r>
                        <a:rPr lang="en-US" sz="1400" b="1" dirty="0">
                          <a:solidFill>
                            <a:schemeClr val="bg1"/>
                          </a:solidFill>
                        </a:rPr>
                        <a:t>II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kNN, distance-weighted kNN, distance metrics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kNN with k = 3-11, uniform vs distance weights, Euclidean vs Manhattan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Bayesian learning: MLE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Least squares in Linear Regression = maximum-likelihood estimate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algn="ctr" indent="0" marL="0">
                        <a:buNone/>
                      </a:pPr>
                      <a:r>
                        <a:rPr lang="en-US" sz="1400" b="1" dirty="0">
                          <a:solidFill>
                            <a:schemeClr val="bg1"/>
                          </a:solidFill>
                        </a:rPr>
                        <a:t>III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Linear Regression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Final model: test R² 0.929, RMSE 44.1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SVM: soft margin, kernels, RBF</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SVR with linear vs RBF kernel, C and ε tuned; linear kernel won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Syllabus mapping: Units IV-V</a:t>
            </a:r>
            <a:endParaRPr lang="en-US" sz="3200" dirty="0"/>
          </a:p>
        </p:txBody>
      </p:sp>
      <p:graphicFrame>
        <p:nvGraphicFramePr>
          <p:cNvPr id="35" name="Units IV-V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3931920"/>
                <a:gridCol w="6336792"/>
              </a:tblGrid>
              <a:tr h="566928">
                <a:tc>
                  <a:txBody>
                    <a:bodyPr/>
                    <a:lstStyle/>
                    <a:p>
                      <a:pPr indent="0" marL="0">
                        <a:buNone/>
                      </a:pPr>
                      <a:r>
                        <a:rPr lang="en-US" sz="1400" b="1" dirty="0">
                          <a:solidFill>
                            <a:schemeClr val="bg1"/>
                          </a:solidFill>
                        </a:rPr>
                        <a:t>Unit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Syllabus topic</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Where it is used in this project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algn="ctr" indent="0" marL="0">
                        <a:buNone/>
                      </a:pPr>
                      <a:r>
                        <a:rPr lang="en-US" sz="1400" b="1" dirty="0">
                          <a:solidFill>
                            <a:schemeClr val="bg1"/>
                          </a:solidFill>
                        </a:rPr>
                        <a:t>IV</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Evaluation: scores, sampling, cross-validation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80/20 train/test split, 5-fold CV, MAE / MSE / RMSE / R²</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Practice: bias, variance, remove duplicates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Training vs test R² per model; duplicates removed in preprocessing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Practice: one-hot and categorical encoding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OS: 11 spellings → 2 categories, then one-hot encoded</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ctr" indent="0" marL="0">
                        <a:buNone/>
                      </a:pPr>
                      <a:r>
                        <a:rPr lang="en-US" sz="1400" b="1" dirty="0">
                          <a:solidFill>
                            <a:schemeClr val="bg1"/>
                          </a:solidFill>
                        </a:rPr>
                        <a:t>V</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Bagging, boosting, AdaBoost, Random Forest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All four trained and compared against the linear models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Training vs testing, overfitting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kNN: training R² 1.00 vs test 0.80 (overfits)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tx1"/>
                          </a:solidFill>
                        </a:rPr>
                        <a:t>Regularization and validation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Ridge L2 penalty sweep: large alpha underfits (RMSE 48 → 160)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ctr" indent="0" marL="0">
                        <a:buNone/>
                      </a:pP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tx1"/>
                          </a:solidFill>
                        </a:rPr>
                        <a:t>Theory of generalization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One-standard-error rule (Occam's razor) picks the simplest tied model</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Syllabus topics we did not use, and why</a:t>
            </a:r>
            <a:endParaRPr lang="en-US" sz="3200" dirty="0"/>
          </a:p>
        </p:txBody>
      </p:sp>
      <p:sp>
        <p:nvSpPr>
          <p:cNvPr id="4" name="Not used card 1"/>
          <p:cNvSpPr/>
          <p:nvPr/>
        </p:nvSpPr>
        <p:spPr>
          <a:xfrm>
            <a:off x="548640" y="1463040"/>
            <a:ext cx="3515258" cy="4480560"/>
          </a:xfrm>
          <a:prstGeom prst="roundRect">
            <a:avLst>
              <a:gd name="adj" fmla="val 2081"/>
            </a:avLst>
          </a:prstGeom>
          <a:solidFill>
            <a:schemeClr val="bg2"/>
          </a:solidFill>
          <a:ln w="12700">
            <a:solidFill>
              <a:schemeClr val="bg2"/>
            </a:solidFill>
            <a:prstDash val="solid"/>
          </a:ln>
        </p:spPr>
      </p:sp>
      <p:sp>
        <p:nvSpPr>
          <p:cNvPr id="5" name="Not used 1 circle"/>
          <p:cNvSpPr/>
          <p:nvPr/>
        </p:nvSpPr>
        <p:spPr>
          <a:xfrm>
            <a:off x="868680" y="1783080"/>
            <a:ext cx="822960" cy="822960"/>
          </a:xfrm>
          <a:prstGeom prst="ellipse">
            <a:avLst/>
          </a:prstGeom>
          <a:solidFill>
            <a:schemeClr val="accent4"/>
          </a:solidFill>
          <a:ln w="12700">
            <a:solidFill>
              <a:schemeClr val="accent4"/>
            </a:solidFill>
            <a:prstDash val="solid"/>
          </a:ln>
        </p:spPr>
      </p:sp>
      <p:pic>
        <p:nvPicPr>
          <p:cNvPr id="6" name="Not used 1 icon" descr="preencoded.png">    </p:cNvPr>
          <p:cNvPicPr>
            <a:picLocks noChangeAspect="1"/>
          </p:cNvPicPr>
          <p:nvPr/>
        </p:nvPicPr>
        <p:blipFill>
          <a:blip r:embed="rId1"/>
          <a:stretch>
            <a:fillRect/>
          </a:stretch>
        </p:blipFill>
        <p:spPr>
          <a:xfrm>
            <a:off x="1082650" y="1997050"/>
            <a:ext cx="395021" cy="395021"/>
          </a:xfrm>
          <a:prstGeom prst="rect">
            <a:avLst/>
          </a:prstGeom>
        </p:spPr>
      </p:pic>
      <p:sp>
        <p:nvSpPr>
          <p:cNvPr id="7" name="Not used title 1"/>
          <p:cNvSpPr txBox="1"/>
          <p:nvPr/>
        </p:nvSpPr>
        <p:spPr>
          <a:xfrm>
            <a:off x="868680" y="2834640"/>
            <a:ext cx="2875178" cy="411480"/>
          </a:xfrm>
          <a:prstGeom prst="rect">
            <a:avLst/>
          </a:prstGeom>
          <a:noFill/>
          <a:ln/>
        </p:spPr>
        <p:txBody>
          <a:bodyPr wrap="square" lIns="0" tIns="0" rIns="0" bIns="0" rtlCol="0" anchor="t"/>
          <a:lstStyle/>
          <a:p>
            <a:pPr indent="0" marL="0">
              <a:buNone/>
            </a:pPr>
            <a:r>
              <a:rPr lang="en-US" sz="2000" b="1" dirty="0">
                <a:solidFill>
                  <a:schemeClr val="tx1"/>
                </a:solidFill>
              </a:rPr>
              <a:t>Clustering</a:t>
            </a:r>
            <a:endParaRPr lang="en-US" sz="2000" dirty="0"/>
          </a:p>
        </p:txBody>
      </p:sp>
      <p:sp>
        <p:nvSpPr>
          <p:cNvPr id="8" name="Not used unit 1"/>
          <p:cNvSpPr txBox="1"/>
          <p:nvPr/>
        </p:nvSpPr>
        <p:spPr>
          <a:xfrm>
            <a:off x="868680" y="3291840"/>
            <a:ext cx="2875178" cy="822960"/>
          </a:xfrm>
          <a:prstGeom prst="rect">
            <a:avLst/>
          </a:prstGeom>
          <a:noFill/>
          <a:ln/>
        </p:spPr>
        <p:txBody>
          <a:bodyPr wrap="square" lIns="0" tIns="0" rIns="0" bIns="0" rtlCol="0" anchor="t"/>
          <a:lstStyle/>
          <a:p>
            <a:pPr indent="0" marL="0">
              <a:buNone/>
            </a:pPr>
            <a:r>
              <a:rPr lang="en-US" sz="1400" b="1" dirty="0">
                <a:solidFill>
                  <a:schemeClr val="accent1"/>
                </a:solidFill>
              </a:rPr>
              <a:t>Unit IV: k-means, hierarchical, DBSCAN</a:t>
            </a:r>
            <a:endParaRPr lang="en-US" sz="1400" dirty="0"/>
          </a:p>
        </p:txBody>
      </p:sp>
      <p:sp>
        <p:nvSpPr>
          <p:cNvPr id="9" name="Not used desc 1"/>
          <p:cNvSpPr txBox="1"/>
          <p:nvPr/>
        </p:nvSpPr>
        <p:spPr>
          <a:xfrm>
            <a:off x="868680" y="4160520"/>
            <a:ext cx="2875178" cy="1554480"/>
          </a:xfrm>
          <a:prstGeom prst="rect">
            <a:avLst/>
          </a:prstGeom>
          <a:noFill/>
          <a:ln/>
        </p:spPr>
        <p:txBody>
          <a:bodyPr wrap="square" lIns="0" tIns="0" rIns="0" bIns="0" rtlCol="0" anchor="t"/>
          <a:lstStyle/>
          <a:p>
            <a:pPr indent="0" marL="0">
              <a:buNone/>
            </a:pPr>
            <a:r>
              <a:rPr lang="en-US" sz="1500" dirty="0">
                <a:solidFill>
                  <a:schemeClr val="tx2"/>
                </a:solidFill>
              </a:rPr>
              <a:t>Unsupervised: it finds groups in unlabelled data. Our data already has a label, Performance_Score.</a:t>
            </a:r>
            <a:endParaRPr lang="en-US" sz="1500" dirty="0"/>
          </a:p>
        </p:txBody>
      </p:sp>
      <p:sp>
        <p:nvSpPr>
          <p:cNvPr id="10" name="Not used card 2"/>
          <p:cNvSpPr/>
          <p:nvPr/>
        </p:nvSpPr>
        <p:spPr>
          <a:xfrm>
            <a:off x="4338218" y="1463040"/>
            <a:ext cx="3515258" cy="4480560"/>
          </a:xfrm>
          <a:prstGeom prst="roundRect">
            <a:avLst>
              <a:gd name="adj" fmla="val 2081"/>
            </a:avLst>
          </a:prstGeom>
          <a:solidFill>
            <a:schemeClr val="bg2"/>
          </a:solidFill>
          <a:ln w="12700">
            <a:solidFill>
              <a:schemeClr val="bg2"/>
            </a:solidFill>
            <a:prstDash val="solid"/>
          </a:ln>
        </p:spPr>
      </p:sp>
      <p:sp>
        <p:nvSpPr>
          <p:cNvPr id="11" name="Not used 2 circle"/>
          <p:cNvSpPr/>
          <p:nvPr/>
        </p:nvSpPr>
        <p:spPr>
          <a:xfrm>
            <a:off x="4658258" y="1783080"/>
            <a:ext cx="822960" cy="822960"/>
          </a:xfrm>
          <a:prstGeom prst="ellipse">
            <a:avLst/>
          </a:prstGeom>
          <a:solidFill>
            <a:schemeClr val="accent4"/>
          </a:solidFill>
          <a:ln w="12700">
            <a:solidFill>
              <a:schemeClr val="accent4"/>
            </a:solidFill>
            <a:prstDash val="solid"/>
          </a:ln>
        </p:spPr>
      </p:sp>
      <p:pic>
        <p:nvPicPr>
          <p:cNvPr id="12" name="Not used 2 icon" descr="preencoded.png">    </p:cNvPr>
          <p:cNvPicPr>
            <a:picLocks noChangeAspect="1"/>
          </p:cNvPicPr>
          <p:nvPr/>
        </p:nvPicPr>
        <p:blipFill>
          <a:blip r:embed="rId2"/>
          <a:stretch>
            <a:fillRect/>
          </a:stretch>
        </p:blipFill>
        <p:spPr>
          <a:xfrm>
            <a:off x="4872228" y="1997050"/>
            <a:ext cx="395021" cy="395021"/>
          </a:xfrm>
          <a:prstGeom prst="rect">
            <a:avLst/>
          </a:prstGeom>
        </p:spPr>
      </p:pic>
      <p:sp>
        <p:nvSpPr>
          <p:cNvPr id="13" name="Not used title 2"/>
          <p:cNvSpPr txBox="1"/>
          <p:nvPr/>
        </p:nvSpPr>
        <p:spPr>
          <a:xfrm>
            <a:off x="4658258" y="2834640"/>
            <a:ext cx="2875178" cy="411480"/>
          </a:xfrm>
          <a:prstGeom prst="rect">
            <a:avLst/>
          </a:prstGeom>
          <a:noFill/>
          <a:ln/>
        </p:spPr>
        <p:txBody>
          <a:bodyPr wrap="square" lIns="0" tIns="0" rIns="0" bIns="0" rtlCol="0" anchor="t"/>
          <a:lstStyle/>
          <a:p>
            <a:pPr indent="0" marL="0">
              <a:buNone/>
            </a:pPr>
            <a:r>
              <a:rPr lang="en-US" sz="2000" b="1" dirty="0">
                <a:solidFill>
                  <a:schemeClr val="tx1"/>
                </a:solidFill>
              </a:rPr>
              <a:t>Classification methods</a:t>
            </a:r>
            <a:endParaRPr lang="en-US" sz="2000" dirty="0"/>
          </a:p>
        </p:txBody>
      </p:sp>
      <p:sp>
        <p:nvSpPr>
          <p:cNvPr id="14" name="Not used unit 2"/>
          <p:cNvSpPr txBox="1"/>
          <p:nvPr/>
        </p:nvSpPr>
        <p:spPr>
          <a:xfrm>
            <a:off x="4658258" y="3291840"/>
            <a:ext cx="2875178" cy="822960"/>
          </a:xfrm>
          <a:prstGeom prst="rect">
            <a:avLst/>
          </a:prstGeom>
          <a:noFill/>
          <a:ln/>
        </p:spPr>
        <p:txBody>
          <a:bodyPr wrap="square" lIns="0" tIns="0" rIns="0" bIns="0" rtlCol="0" anchor="t"/>
          <a:lstStyle/>
          <a:p>
            <a:pPr indent="0" marL="0">
              <a:buNone/>
            </a:pPr>
            <a:r>
              <a:rPr lang="en-US" sz="1400" b="1" dirty="0">
                <a:solidFill>
                  <a:schemeClr val="accent1"/>
                </a:solidFill>
              </a:rPr>
              <a:t>Units II-IV: Logistic Regression, Naive Bayes, accuracy, precision, recall, ROC</a:t>
            </a:r>
            <a:endParaRPr lang="en-US" sz="1400" dirty="0"/>
          </a:p>
        </p:txBody>
      </p:sp>
      <p:sp>
        <p:nvSpPr>
          <p:cNvPr id="15" name="Not used desc 2"/>
          <p:cNvSpPr txBox="1"/>
          <p:nvPr/>
        </p:nvSpPr>
        <p:spPr>
          <a:xfrm>
            <a:off x="4658258" y="4160520"/>
            <a:ext cx="2875178" cy="1554480"/>
          </a:xfrm>
          <a:prstGeom prst="rect">
            <a:avLst/>
          </a:prstGeom>
          <a:noFill/>
          <a:ln/>
        </p:spPr>
        <p:txBody>
          <a:bodyPr wrap="square" lIns="0" tIns="0" rIns="0" bIns="0" rtlCol="0" anchor="t"/>
          <a:lstStyle/>
          <a:p>
            <a:pPr indent="0" marL="0">
              <a:buNone/>
            </a:pPr>
            <a:r>
              <a:rPr lang="en-US" sz="1500" dirty="0">
                <a:solidFill>
                  <a:schemeClr val="tx2"/>
                </a:solidFill>
              </a:rPr>
              <a:t>We predict a continuous score (regression), not a class, so regression metrics are used instead.</a:t>
            </a:r>
            <a:endParaRPr lang="en-US" sz="1500" dirty="0"/>
          </a:p>
        </p:txBody>
      </p:sp>
      <p:sp>
        <p:nvSpPr>
          <p:cNvPr id="16" name="Not used card 3"/>
          <p:cNvSpPr/>
          <p:nvPr/>
        </p:nvSpPr>
        <p:spPr>
          <a:xfrm>
            <a:off x="8127797" y="1463040"/>
            <a:ext cx="3515258" cy="4480560"/>
          </a:xfrm>
          <a:prstGeom prst="roundRect">
            <a:avLst>
              <a:gd name="adj" fmla="val 2081"/>
            </a:avLst>
          </a:prstGeom>
          <a:solidFill>
            <a:schemeClr val="bg2"/>
          </a:solidFill>
          <a:ln w="12700">
            <a:solidFill>
              <a:schemeClr val="bg2"/>
            </a:solidFill>
            <a:prstDash val="solid"/>
          </a:ln>
        </p:spPr>
      </p:sp>
      <p:sp>
        <p:nvSpPr>
          <p:cNvPr id="17" name="Not used 3 circle"/>
          <p:cNvSpPr/>
          <p:nvPr/>
        </p:nvSpPr>
        <p:spPr>
          <a:xfrm>
            <a:off x="8447837" y="1783080"/>
            <a:ext cx="822960" cy="822960"/>
          </a:xfrm>
          <a:prstGeom prst="ellipse">
            <a:avLst/>
          </a:prstGeom>
          <a:solidFill>
            <a:schemeClr val="accent4"/>
          </a:solidFill>
          <a:ln w="12700">
            <a:solidFill>
              <a:schemeClr val="accent4"/>
            </a:solidFill>
            <a:prstDash val="solid"/>
          </a:ln>
        </p:spPr>
      </p:sp>
      <p:pic>
        <p:nvPicPr>
          <p:cNvPr id="18" name="Not used 3 icon" descr="preencoded.png">    </p:cNvPr>
          <p:cNvPicPr>
            <a:picLocks noChangeAspect="1"/>
          </p:cNvPicPr>
          <p:nvPr/>
        </p:nvPicPr>
        <p:blipFill>
          <a:blip r:embed="rId3"/>
          <a:stretch>
            <a:fillRect/>
          </a:stretch>
        </p:blipFill>
        <p:spPr>
          <a:xfrm>
            <a:off x="8661806" y="1997050"/>
            <a:ext cx="395021" cy="395021"/>
          </a:xfrm>
          <a:prstGeom prst="rect">
            <a:avLst/>
          </a:prstGeom>
        </p:spPr>
      </p:pic>
      <p:sp>
        <p:nvSpPr>
          <p:cNvPr id="19" name="Not used title 3"/>
          <p:cNvSpPr txBox="1"/>
          <p:nvPr/>
        </p:nvSpPr>
        <p:spPr>
          <a:xfrm>
            <a:off x="8447837" y="2834640"/>
            <a:ext cx="2875178" cy="411480"/>
          </a:xfrm>
          <a:prstGeom prst="rect">
            <a:avLst/>
          </a:prstGeom>
          <a:noFill/>
          <a:ln/>
        </p:spPr>
        <p:txBody>
          <a:bodyPr wrap="square" lIns="0" tIns="0" rIns="0" bIns="0" rtlCol="0" anchor="t"/>
          <a:lstStyle/>
          <a:p>
            <a:pPr indent="0" marL="0">
              <a:buNone/>
            </a:pPr>
            <a:r>
              <a:rPr lang="en-US" sz="2000" b="1" dirty="0">
                <a:solidFill>
                  <a:schemeClr val="tx1"/>
                </a:solidFill>
              </a:rPr>
              <a:t>Concept learning</a:t>
            </a:r>
            <a:endParaRPr lang="en-US" sz="2000" dirty="0"/>
          </a:p>
        </p:txBody>
      </p:sp>
      <p:sp>
        <p:nvSpPr>
          <p:cNvPr id="20" name="Not used unit 3"/>
          <p:cNvSpPr txBox="1"/>
          <p:nvPr/>
        </p:nvSpPr>
        <p:spPr>
          <a:xfrm>
            <a:off x="8447837" y="3291840"/>
            <a:ext cx="2875178" cy="822960"/>
          </a:xfrm>
          <a:prstGeom prst="rect">
            <a:avLst/>
          </a:prstGeom>
          <a:noFill/>
          <a:ln/>
        </p:spPr>
        <p:txBody>
          <a:bodyPr wrap="square" lIns="0" tIns="0" rIns="0" bIns="0" rtlCol="0" anchor="t"/>
          <a:lstStyle/>
          <a:p>
            <a:pPr indent="0" marL="0">
              <a:buNone/>
            </a:pPr>
            <a:r>
              <a:rPr lang="en-US" sz="1400" b="1" dirty="0">
                <a:solidFill>
                  <a:schemeClr val="accent1"/>
                </a:solidFill>
              </a:rPr>
              <a:t>Unit II: Find-S, Candidate Elimination</a:t>
            </a:r>
            <a:endParaRPr lang="en-US" sz="1400" dirty="0"/>
          </a:p>
        </p:txBody>
      </p:sp>
      <p:sp>
        <p:nvSpPr>
          <p:cNvPr id="21" name="Not used desc 3"/>
          <p:cNvSpPr txBox="1"/>
          <p:nvPr/>
        </p:nvSpPr>
        <p:spPr>
          <a:xfrm>
            <a:off x="8447837" y="4160520"/>
            <a:ext cx="2875178" cy="1554480"/>
          </a:xfrm>
          <a:prstGeom prst="rect">
            <a:avLst/>
          </a:prstGeom>
          <a:noFill/>
          <a:ln/>
        </p:spPr>
        <p:txBody>
          <a:bodyPr wrap="square" lIns="0" tIns="0" rIns="0" bIns="0" rtlCol="0" anchor="t"/>
          <a:lstStyle/>
          <a:p>
            <a:pPr indent="0" marL="0">
              <a:buNone/>
            </a:pPr>
            <a:r>
              <a:rPr lang="en-US" sz="1500" dirty="0">
                <a:solidFill>
                  <a:schemeClr val="tx2"/>
                </a:solidFill>
              </a:rPr>
              <a:t>These learn yes/no concepts from boolean attributes, not a numeric output.</a:t>
            </a:r>
            <a:endParaRPr lang="en-US" sz="15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nchor="b"/>
          <a:lstStyle/>
          <a:p>
            <a:pPr indent="0" marL="0">
              <a:buNone/>
            </a:pPr>
            <a:r>
              <a:rPr lang="en-US" sz="6600" b="1" dirty="0">
                <a:solidFill>
                  <a:schemeClr val="accent1"/>
                </a:solidFill>
              </a:rPr>
              <a:t>07</a:t>
            </a: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lIns="0" tIns="0" rIns="0" bIns="0" rtlCol="0" anchor="t"/>
          <a:lstStyle/>
          <a:p>
            <a:pPr algn="l" indent="0" marL="0">
              <a:buNone/>
            </a:pPr>
            <a:r>
              <a:rPr lang="en-US" sz="4000" b="1" dirty="0">
                <a:solidFill>
                  <a:schemeClr val="bg1"/>
                </a:solidFill>
              </a:rPr>
              <a:t>Limitations &amp; Future Scope</a:t>
            </a: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1800" dirty="0">
                <a:solidFill>
                  <a:schemeClr val="bg2"/>
                </a:solidFill>
              </a:rPr>
              <a:t>What the current version cannot do, and where it goes next</a:t>
            </a: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Limitations</a:t>
            </a:r>
            <a:endParaRPr lang="en-US" sz="3200" dirty="0"/>
          </a:p>
        </p:txBody>
      </p:sp>
      <p:sp>
        <p:nvSpPr>
          <p:cNvPr id="4" name="Limit 1 circle"/>
          <p:cNvSpPr/>
          <p:nvPr/>
        </p:nvSpPr>
        <p:spPr>
          <a:xfrm>
            <a:off x="548640" y="1463040"/>
            <a:ext cx="640080" cy="640080"/>
          </a:xfrm>
          <a:prstGeom prst="ellipse">
            <a:avLst/>
          </a:prstGeom>
          <a:solidFill>
            <a:schemeClr val="accent3"/>
          </a:solidFill>
          <a:ln w="12700">
            <a:solidFill>
              <a:schemeClr val="accent3"/>
            </a:solidFill>
            <a:prstDash val="solid"/>
          </a:ln>
        </p:spPr>
      </p:sp>
      <p:pic>
        <p:nvPicPr>
          <p:cNvPr id="5" name="Limit 1 icon" descr="preencoded.png">    </p:cNvPr>
          <p:cNvPicPr>
            <a:picLocks noChangeAspect="1"/>
          </p:cNvPicPr>
          <p:nvPr/>
        </p:nvPicPr>
        <p:blipFill>
          <a:blip r:embed="rId1"/>
          <a:stretch>
            <a:fillRect/>
          </a:stretch>
        </p:blipFill>
        <p:spPr>
          <a:xfrm>
            <a:off x="715061" y="1629461"/>
            <a:ext cx="307238" cy="307238"/>
          </a:xfrm>
          <a:prstGeom prst="rect">
            <a:avLst/>
          </a:prstGeom>
        </p:spPr>
      </p:pic>
      <p:sp>
        <p:nvSpPr>
          <p:cNvPr id="6" name="Limit title 1"/>
          <p:cNvSpPr txBox="1"/>
          <p:nvPr/>
        </p:nvSpPr>
        <p:spPr>
          <a:xfrm>
            <a:off x="1417320" y="1417320"/>
            <a:ext cx="4526280" cy="384048"/>
          </a:xfrm>
          <a:prstGeom prst="rect">
            <a:avLst/>
          </a:prstGeom>
          <a:noFill/>
          <a:ln/>
        </p:spPr>
        <p:txBody>
          <a:bodyPr wrap="square" lIns="0" tIns="0" rIns="0" bIns="0" rtlCol="0" anchor="t"/>
          <a:lstStyle/>
          <a:p>
            <a:pPr indent="0" marL="0">
              <a:buNone/>
            </a:pPr>
            <a:r>
              <a:rPr lang="en-US" sz="1800" b="1" dirty="0">
                <a:solidFill>
                  <a:schemeClr val="tx1"/>
                </a:solidFill>
              </a:rPr>
              <a:t>Small, near-linear dataset</a:t>
            </a:r>
            <a:endParaRPr lang="en-US" sz="1800" dirty="0"/>
          </a:p>
        </p:txBody>
      </p:sp>
      <p:sp>
        <p:nvSpPr>
          <p:cNvPr id="7" name="Limit desc 1"/>
          <p:cNvSpPr txBox="1"/>
          <p:nvPr/>
        </p:nvSpPr>
        <p:spPr>
          <a:xfrm>
            <a:off x="1417320" y="1828800"/>
            <a:ext cx="4526280" cy="822960"/>
          </a:xfrm>
          <a:prstGeom prst="rect">
            <a:avLst/>
          </a:prstGeom>
          <a:noFill/>
          <a:ln/>
        </p:spPr>
        <p:txBody>
          <a:bodyPr wrap="square" lIns="0" tIns="0" rIns="0" bIns="0" rtlCol="0" anchor="t"/>
          <a:lstStyle/>
          <a:p>
            <a:pPr indent="0" marL="0">
              <a:buNone/>
            </a:pPr>
            <a:r>
              <a:rPr lang="en-US" sz="1500" dirty="0">
                <a:solidFill>
                  <a:schemeClr val="tx2"/>
                </a:solidFill>
              </a:rPr>
              <a:t>503 records whose scores follow the specs almost in a straight line</a:t>
            </a:r>
            <a:endParaRPr lang="en-US" sz="1500" dirty="0"/>
          </a:p>
        </p:txBody>
      </p:sp>
      <p:sp>
        <p:nvSpPr>
          <p:cNvPr id="8" name="Limit 2 circle"/>
          <p:cNvSpPr/>
          <p:nvPr/>
        </p:nvSpPr>
        <p:spPr>
          <a:xfrm>
            <a:off x="6217920" y="1463040"/>
            <a:ext cx="640080" cy="640080"/>
          </a:xfrm>
          <a:prstGeom prst="ellipse">
            <a:avLst/>
          </a:prstGeom>
          <a:solidFill>
            <a:schemeClr val="accent3"/>
          </a:solidFill>
          <a:ln w="12700">
            <a:solidFill>
              <a:schemeClr val="accent3"/>
            </a:solidFill>
            <a:prstDash val="solid"/>
          </a:ln>
        </p:spPr>
      </p:sp>
      <p:pic>
        <p:nvPicPr>
          <p:cNvPr id="9" name="Limit 2 icon" descr="preencoded.png">    </p:cNvPr>
          <p:cNvPicPr>
            <a:picLocks noChangeAspect="1"/>
          </p:cNvPicPr>
          <p:nvPr/>
        </p:nvPicPr>
        <p:blipFill>
          <a:blip r:embed="rId2"/>
          <a:stretch>
            <a:fillRect/>
          </a:stretch>
        </p:blipFill>
        <p:spPr>
          <a:xfrm>
            <a:off x="6384341" y="1629461"/>
            <a:ext cx="307238" cy="307238"/>
          </a:xfrm>
          <a:prstGeom prst="rect">
            <a:avLst/>
          </a:prstGeom>
        </p:spPr>
      </p:pic>
      <p:sp>
        <p:nvSpPr>
          <p:cNvPr id="10" name="Limit title 2"/>
          <p:cNvSpPr txBox="1"/>
          <p:nvPr/>
        </p:nvSpPr>
        <p:spPr>
          <a:xfrm>
            <a:off x="7086600" y="1417320"/>
            <a:ext cx="4526280" cy="384048"/>
          </a:xfrm>
          <a:prstGeom prst="rect">
            <a:avLst/>
          </a:prstGeom>
          <a:noFill/>
          <a:ln/>
        </p:spPr>
        <p:txBody>
          <a:bodyPr wrap="square" lIns="0" tIns="0" rIns="0" bIns="0" rtlCol="0" anchor="t"/>
          <a:lstStyle/>
          <a:p>
            <a:pPr indent="0" marL="0">
              <a:buNone/>
            </a:pPr>
            <a:r>
              <a:rPr lang="en-US" sz="1800" b="1" dirty="0">
                <a:solidFill>
                  <a:schemeClr val="tx1"/>
                </a:solidFill>
              </a:rPr>
              <a:t>Modern parts exceed the ranges</a:t>
            </a:r>
            <a:endParaRPr lang="en-US" sz="1800" dirty="0"/>
          </a:p>
        </p:txBody>
      </p:sp>
      <p:sp>
        <p:nvSpPr>
          <p:cNvPr id="11" name="Limit desc 2"/>
          <p:cNvSpPr txBox="1"/>
          <p:nvPr/>
        </p:nvSpPr>
        <p:spPr>
          <a:xfrm>
            <a:off x="7086600" y="1828800"/>
            <a:ext cx="4526280" cy="822960"/>
          </a:xfrm>
          <a:prstGeom prst="rect">
            <a:avLst/>
          </a:prstGeom>
          <a:noFill/>
          <a:ln/>
        </p:spPr>
        <p:txBody>
          <a:bodyPr wrap="square" lIns="0" tIns="0" rIns="0" bIns="0" rtlCol="0" anchor="t"/>
          <a:lstStyle/>
          <a:p>
            <a:pPr indent="0" marL="0">
              <a:buNone/>
            </a:pPr>
            <a:r>
              <a:rPr lang="en-US" sz="1500" dirty="0">
                <a:solidFill>
                  <a:schemeClr val="tx2"/>
                </a:solidFill>
              </a:rPr>
              <a:t>Above 16 cores, 5 GHz, 64 GB or 2 TB, values are capped</a:t>
            </a:r>
            <a:endParaRPr lang="en-US" sz="1500" dirty="0"/>
          </a:p>
        </p:txBody>
      </p:sp>
      <p:sp>
        <p:nvSpPr>
          <p:cNvPr id="12" name="Limit 3 circle"/>
          <p:cNvSpPr/>
          <p:nvPr/>
        </p:nvSpPr>
        <p:spPr>
          <a:xfrm>
            <a:off x="548640" y="3063240"/>
            <a:ext cx="640080" cy="640080"/>
          </a:xfrm>
          <a:prstGeom prst="ellipse">
            <a:avLst/>
          </a:prstGeom>
          <a:solidFill>
            <a:schemeClr val="accent3"/>
          </a:solidFill>
          <a:ln w="12700">
            <a:solidFill>
              <a:schemeClr val="accent3"/>
            </a:solidFill>
            <a:prstDash val="solid"/>
          </a:ln>
        </p:spPr>
      </p:sp>
      <p:pic>
        <p:nvPicPr>
          <p:cNvPr id="13" name="Limit 3 icon" descr="preencoded.png">    </p:cNvPr>
          <p:cNvPicPr>
            <a:picLocks noChangeAspect="1"/>
          </p:cNvPicPr>
          <p:nvPr/>
        </p:nvPicPr>
        <p:blipFill>
          <a:blip r:embed="rId3"/>
          <a:stretch>
            <a:fillRect/>
          </a:stretch>
        </p:blipFill>
        <p:spPr>
          <a:xfrm>
            <a:off x="715061" y="3229661"/>
            <a:ext cx="307238" cy="307238"/>
          </a:xfrm>
          <a:prstGeom prst="rect">
            <a:avLst/>
          </a:prstGeom>
        </p:spPr>
      </p:pic>
      <p:sp>
        <p:nvSpPr>
          <p:cNvPr id="14" name="Limit title 3"/>
          <p:cNvSpPr txBox="1"/>
          <p:nvPr/>
        </p:nvSpPr>
        <p:spPr>
          <a:xfrm>
            <a:off x="1417320" y="3017520"/>
            <a:ext cx="4526280" cy="384048"/>
          </a:xfrm>
          <a:prstGeom prst="rect">
            <a:avLst/>
          </a:prstGeom>
          <a:noFill/>
          <a:ln/>
        </p:spPr>
        <p:txBody>
          <a:bodyPr wrap="square" lIns="0" tIns="0" rIns="0" bIns="0" rtlCol="0" anchor="t"/>
          <a:lstStyle/>
          <a:p>
            <a:pPr indent="0" marL="0">
              <a:buNone/>
            </a:pPr>
            <a:r>
              <a:rPr lang="en-US" sz="1800" b="1" dirty="0">
                <a:solidFill>
                  <a:schemeClr val="tx1"/>
                </a:solidFill>
              </a:rPr>
              <a:t>Several inputs are estimates</a:t>
            </a:r>
            <a:endParaRPr lang="en-US" sz="1800" dirty="0"/>
          </a:p>
        </p:txBody>
      </p:sp>
      <p:sp>
        <p:nvSpPr>
          <p:cNvPr id="15" name="Limit desc 3"/>
          <p:cNvSpPr txBox="1"/>
          <p:nvPr/>
        </p:nvSpPr>
        <p:spPr>
          <a:xfrm>
            <a:off x="1417320" y="3429000"/>
            <a:ext cx="4526280" cy="822960"/>
          </a:xfrm>
          <a:prstGeom prst="rect">
            <a:avLst/>
          </a:prstGeom>
          <a:noFill/>
          <a:ln/>
        </p:spPr>
        <p:txBody>
          <a:bodyPr wrap="square" lIns="0" tIns="0" rIns="0" bIns="0" rtlCol="0" anchor="t"/>
          <a:lstStyle/>
          <a:p>
            <a:pPr indent="0" marL="0">
              <a:buNone/>
            </a:pPr>
            <a:r>
              <a:rPr lang="en-US" sz="1500" dirty="0">
                <a:solidFill>
                  <a:schemeClr val="tx2"/>
                </a:solidFill>
              </a:rPr>
              <a:t>GPU tier, cooler capacity and CPU temperature are our approximations</a:t>
            </a:r>
            <a:endParaRPr lang="en-US" sz="1500" dirty="0"/>
          </a:p>
        </p:txBody>
      </p:sp>
      <p:sp>
        <p:nvSpPr>
          <p:cNvPr id="16" name="Limit 4 circle"/>
          <p:cNvSpPr/>
          <p:nvPr/>
        </p:nvSpPr>
        <p:spPr>
          <a:xfrm>
            <a:off x="6217920" y="3063240"/>
            <a:ext cx="640080" cy="640080"/>
          </a:xfrm>
          <a:prstGeom prst="ellipse">
            <a:avLst/>
          </a:prstGeom>
          <a:solidFill>
            <a:schemeClr val="accent3"/>
          </a:solidFill>
          <a:ln w="12700">
            <a:solidFill>
              <a:schemeClr val="accent3"/>
            </a:solidFill>
            <a:prstDash val="solid"/>
          </a:ln>
        </p:spPr>
      </p:sp>
      <p:pic>
        <p:nvPicPr>
          <p:cNvPr id="17" name="Limit 4 icon" descr="preencoded.png">    </p:cNvPr>
          <p:cNvPicPr>
            <a:picLocks noChangeAspect="1"/>
          </p:cNvPicPr>
          <p:nvPr/>
        </p:nvPicPr>
        <p:blipFill>
          <a:blip r:embed="rId4"/>
          <a:stretch>
            <a:fillRect/>
          </a:stretch>
        </p:blipFill>
        <p:spPr>
          <a:xfrm>
            <a:off x="6384341" y="3229661"/>
            <a:ext cx="307238" cy="307238"/>
          </a:xfrm>
          <a:prstGeom prst="rect">
            <a:avLst/>
          </a:prstGeom>
        </p:spPr>
      </p:pic>
      <p:sp>
        <p:nvSpPr>
          <p:cNvPr id="18" name="Limit title 4"/>
          <p:cNvSpPr txBox="1"/>
          <p:nvPr/>
        </p:nvSpPr>
        <p:spPr>
          <a:xfrm>
            <a:off x="7086600" y="3017520"/>
            <a:ext cx="4526280" cy="384048"/>
          </a:xfrm>
          <a:prstGeom prst="rect">
            <a:avLst/>
          </a:prstGeom>
          <a:noFill/>
          <a:ln/>
        </p:spPr>
        <p:txBody>
          <a:bodyPr wrap="square" lIns="0" tIns="0" rIns="0" bIns="0" rtlCol="0" anchor="t"/>
          <a:lstStyle/>
          <a:p>
            <a:pPr indent="0" marL="0">
              <a:buNone/>
            </a:pPr>
            <a:r>
              <a:rPr lang="en-US" sz="1800" b="1" dirty="0">
                <a:solidFill>
                  <a:schemeClr val="tx1"/>
                </a:solidFill>
              </a:rPr>
              <a:t>FPS is not learned</a:t>
            </a:r>
            <a:endParaRPr lang="en-US" sz="1800" dirty="0"/>
          </a:p>
        </p:txBody>
      </p:sp>
      <p:sp>
        <p:nvSpPr>
          <p:cNvPr id="19" name="Limit desc 4"/>
          <p:cNvSpPr txBox="1"/>
          <p:nvPr/>
        </p:nvSpPr>
        <p:spPr>
          <a:xfrm>
            <a:off x="7086600" y="3429000"/>
            <a:ext cx="4526280" cy="822960"/>
          </a:xfrm>
          <a:prstGeom prst="rect">
            <a:avLst/>
          </a:prstGeom>
          <a:noFill/>
          <a:ln/>
        </p:spPr>
        <p:txBody>
          <a:bodyPr wrap="square" lIns="0" tIns="0" rIns="0" bIns="0" rtlCol="0" anchor="t"/>
          <a:lstStyle/>
          <a:p>
            <a:pPr indent="0" marL="0">
              <a:buNone/>
            </a:pPr>
            <a:r>
              <a:rPr lang="en-US" sz="1500" dirty="0">
                <a:solidFill>
                  <a:schemeClr val="tx2"/>
                </a:solidFill>
              </a:rPr>
              <a:t>No FPS data in the dataset, so FPS uses a rule-based estimate</a:t>
            </a:r>
            <a:endParaRPr lang="en-US" sz="1500" dirty="0"/>
          </a:p>
        </p:txBody>
      </p:sp>
      <p:sp>
        <p:nvSpPr>
          <p:cNvPr id="20" name="Limit 5 circle"/>
          <p:cNvSpPr/>
          <p:nvPr/>
        </p:nvSpPr>
        <p:spPr>
          <a:xfrm>
            <a:off x="548640" y="4663440"/>
            <a:ext cx="640080" cy="640080"/>
          </a:xfrm>
          <a:prstGeom prst="ellipse">
            <a:avLst/>
          </a:prstGeom>
          <a:solidFill>
            <a:schemeClr val="accent3"/>
          </a:solidFill>
          <a:ln w="12700">
            <a:solidFill>
              <a:schemeClr val="accent3"/>
            </a:solidFill>
            <a:prstDash val="solid"/>
          </a:ln>
        </p:spPr>
      </p:sp>
      <p:pic>
        <p:nvPicPr>
          <p:cNvPr id="21" name="Limit 5 icon" descr="preencoded.png">    </p:cNvPr>
          <p:cNvPicPr>
            <a:picLocks noChangeAspect="1"/>
          </p:cNvPicPr>
          <p:nvPr/>
        </p:nvPicPr>
        <p:blipFill>
          <a:blip r:embed="rId5"/>
          <a:stretch>
            <a:fillRect/>
          </a:stretch>
        </p:blipFill>
        <p:spPr>
          <a:xfrm>
            <a:off x="715061" y="4829861"/>
            <a:ext cx="307238" cy="307238"/>
          </a:xfrm>
          <a:prstGeom prst="rect">
            <a:avLst/>
          </a:prstGeom>
        </p:spPr>
      </p:pic>
      <p:sp>
        <p:nvSpPr>
          <p:cNvPr id="22" name="Limit title 5"/>
          <p:cNvSpPr txBox="1"/>
          <p:nvPr/>
        </p:nvSpPr>
        <p:spPr>
          <a:xfrm>
            <a:off x="1417320" y="4617720"/>
            <a:ext cx="4526280" cy="384048"/>
          </a:xfrm>
          <a:prstGeom prst="rect">
            <a:avLst/>
          </a:prstGeom>
          <a:noFill/>
          <a:ln/>
        </p:spPr>
        <p:txBody>
          <a:bodyPr wrap="square" lIns="0" tIns="0" rIns="0" bIns="0" rtlCol="0" anchor="t"/>
          <a:lstStyle/>
          <a:p>
            <a:pPr indent="0" marL="0">
              <a:buNone/>
            </a:pPr>
            <a:r>
              <a:rPr lang="en-US" sz="1800" b="1" dirty="0">
                <a:solidFill>
                  <a:schemeClr val="tx1"/>
                </a:solidFill>
              </a:rPr>
              <a:t>Class imbalance</a:t>
            </a:r>
            <a:endParaRPr lang="en-US" sz="1800" dirty="0"/>
          </a:p>
        </p:txBody>
      </p:sp>
      <p:sp>
        <p:nvSpPr>
          <p:cNvPr id="23" name="Limit desc 5"/>
          <p:cNvSpPr txBox="1"/>
          <p:nvPr/>
        </p:nvSpPr>
        <p:spPr>
          <a:xfrm>
            <a:off x="1417320" y="5029200"/>
            <a:ext cx="4526280" cy="822960"/>
          </a:xfrm>
          <a:prstGeom prst="rect">
            <a:avLst/>
          </a:prstGeom>
          <a:noFill/>
          <a:ln/>
        </p:spPr>
        <p:txBody>
          <a:bodyPr wrap="square" lIns="0" tIns="0" rIns="0" bIns="0" rtlCol="0" anchor="t"/>
          <a:lstStyle/>
          <a:p>
            <a:pPr indent="0" marL="0">
              <a:buNone/>
            </a:pPr>
            <a:r>
              <a:rPr lang="en-US" sz="1500" dirty="0">
                <a:solidFill>
                  <a:schemeClr val="tx2"/>
                </a:solidFill>
              </a:rPr>
              <a:t>Only 11 PCs (2%) are in the Very High class</a:t>
            </a:r>
            <a:endParaRPr lang="en-US" sz="1500" dirty="0"/>
          </a:p>
        </p:txBody>
      </p:sp>
      <p:sp>
        <p:nvSpPr>
          <p:cNvPr id="24" name="Limit 6 circle"/>
          <p:cNvSpPr/>
          <p:nvPr/>
        </p:nvSpPr>
        <p:spPr>
          <a:xfrm>
            <a:off x="6217920" y="4663440"/>
            <a:ext cx="640080" cy="640080"/>
          </a:xfrm>
          <a:prstGeom prst="ellipse">
            <a:avLst/>
          </a:prstGeom>
          <a:solidFill>
            <a:schemeClr val="accent3"/>
          </a:solidFill>
          <a:ln w="12700">
            <a:solidFill>
              <a:schemeClr val="accent3"/>
            </a:solidFill>
            <a:prstDash val="solid"/>
          </a:ln>
        </p:spPr>
      </p:sp>
      <p:pic>
        <p:nvPicPr>
          <p:cNvPr id="25" name="Limit 6 icon" descr="preencoded.png">    </p:cNvPr>
          <p:cNvPicPr>
            <a:picLocks noChangeAspect="1"/>
          </p:cNvPicPr>
          <p:nvPr/>
        </p:nvPicPr>
        <p:blipFill>
          <a:blip r:embed="rId6"/>
          <a:stretch>
            <a:fillRect/>
          </a:stretch>
        </p:blipFill>
        <p:spPr>
          <a:xfrm>
            <a:off x="6384341" y="4829861"/>
            <a:ext cx="307238" cy="307238"/>
          </a:xfrm>
          <a:prstGeom prst="rect">
            <a:avLst/>
          </a:prstGeom>
        </p:spPr>
      </p:pic>
      <p:sp>
        <p:nvSpPr>
          <p:cNvPr id="26" name="Limit title 6"/>
          <p:cNvSpPr txBox="1"/>
          <p:nvPr/>
        </p:nvSpPr>
        <p:spPr>
          <a:xfrm>
            <a:off x="7086600" y="4617720"/>
            <a:ext cx="4526280" cy="384048"/>
          </a:xfrm>
          <a:prstGeom prst="rect">
            <a:avLst/>
          </a:prstGeom>
          <a:noFill/>
          <a:ln/>
        </p:spPr>
        <p:txBody>
          <a:bodyPr wrap="square" lIns="0" tIns="0" rIns="0" bIns="0" rtlCol="0" anchor="t"/>
          <a:lstStyle/>
          <a:p>
            <a:pPr indent="0" marL="0">
              <a:buNone/>
            </a:pPr>
            <a:r>
              <a:rPr lang="en-US" sz="1800" b="1" dirty="0">
                <a:solidFill>
                  <a:schemeClr val="tx1"/>
                </a:solidFill>
              </a:rPr>
              <a:t>Storage type ignored</a:t>
            </a:r>
            <a:endParaRPr lang="en-US" sz="1800" dirty="0"/>
          </a:p>
        </p:txBody>
      </p:sp>
      <p:sp>
        <p:nvSpPr>
          <p:cNvPr id="27" name="Limit desc 6"/>
          <p:cNvSpPr txBox="1"/>
          <p:nvPr/>
        </p:nvSpPr>
        <p:spPr>
          <a:xfrm>
            <a:off x="7086600" y="5029200"/>
            <a:ext cx="4526280" cy="822960"/>
          </a:xfrm>
          <a:prstGeom prst="rect">
            <a:avLst/>
          </a:prstGeom>
          <a:noFill/>
          <a:ln/>
        </p:spPr>
        <p:txBody>
          <a:bodyPr wrap="square" lIns="0" tIns="0" rIns="0" bIns="0" rtlCol="0" anchor="t"/>
          <a:lstStyle/>
          <a:p>
            <a:pPr indent="0" marL="0">
              <a:buNone/>
            </a:pPr>
            <a:r>
              <a:rPr lang="en-US" sz="1500" dirty="0">
                <a:solidFill>
                  <a:schemeClr val="tx2"/>
                </a:solidFill>
              </a:rPr>
              <a:t>The data records capacity only, so SSD vs HDD does not change the score</a:t>
            </a:r>
            <a:endParaRPr lang="en-US" sz="15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Future scope</a:t>
            </a:r>
            <a:endParaRPr lang="en-US" sz="3200" dirty="0"/>
          </a:p>
        </p:txBody>
      </p:sp>
      <p:sp>
        <p:nvSpPr>
          <p:cNvPr id="4" name="Future card 1"/>
          <p:cNvSpPr/>
          <p:nvPr/>
        </p:nvSpPr>
        <p:spPr>
          <a:xfrm>
            <a:off x="548640" y="1417320"/>
            <a:ext cx="3515258" cy="2194560"/>
          </a:xfrm>
          <a:prstGeom prst="roundRect">
            <a:avLst>
              <a:gd name="adj" fmla="val 3333"/>
            </a:avLst>
          </a:prstGeom>
          <a:solidFill>
            <a:schemeClr val="bg2"/>
          </a:solidFill>
          <a:ln w="12700">
            <a:solidFill>
              <a:schemeClr val="bg2"/>
            </a:solidFill>
            <a:prstDash val="solid"/>
          </a:ln>
        </p:spPr>
      </p:sp>
      <p:sp>
        <p:nvSpPr>
          <p:cNvPr id="5" name="Future 1 circle"/>
          <p:cNvSpPr/>
          <p:nvPr/>
        </p:nvSpPr>
        <p:spPr>
          <a:xfrm>
            <a:off x="822960" y="1691640"/>
            <a:ext cx="685800" cy="685800"/>
          </a:xfrm>
          <a:prstGeom prst="ellipse">
            <a:avLst/>
          </a:prstGeom>
          <a:solidFill>
            <a:schemeClr val="accent5"/>
          </a:solidFill>
          <a:ln w="12700">
            <a:solidFill>
              <a:schemeClr val="accent5"/>
            </a:solidFill>
            <a:prstDash val="solid"/>
          </a:ln>
        </p:spPr>
      </p:sp>
      <p:pic>
        <p:nvPicPr>
          <p:cNvPr id="6" name="Future 1 icon"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7" name="Future title 1"/>
          <p:cNvSpPr txBox="1"/>
          <p:nvPr/>
        </p:nvSpPr>
        <p:spPr>
          <a:xfrm>
            <a:off x="822960" y="2514600"/>
            <a:ext cx="2966618" cy="365760"/>
          </a:xfrm>
          <a:prstGeom prst="rect">
            <a:avLst/>
          </a:prstGeom>
          <a:noFill/>
          <a:ln/>
        </p:spPr>
        <p:txBody>
          <a:bodyPr wrap="square" lIns="0" tIns="0" rIns="0" bIns="0" rtlCol="0" anchor="t"/>
          <a:lstStyle/>
          <a:p>
            <a:pPr indent="0" marL="0">
              <a:buNone/>
            </a:pPr>
            <a:r>
              <a:rPr lang="en-US" sz="1800" b="1" dirty="0">
                <a:solidFill>
                  <a:schemeClr val="tx1"/>
                </a:solidFill>
              </a:rPr>
              <a:t>Real benchmark data</a:t>
            </a:r>
            <a:endParaRPr lang="en-US" sz="1800" dirty="0"/>
          </a:p>
        </p:txBody>
      </p:sp>
      <p:sp>
        <p:nvSpPr>
          <p:cNvPr id="8" name="Future desc 1"/>
          <p:cNvSpPr txBox="1"/>
          <p:nvPr/>
        </p:nvSpPr>
        <p:spPr>
          <a:xfrm>
            <a:off x="822960" y="2898648"/>
            <a:ext cx="2966618" cy="640080"/>
          </a:xfrm>
          <a:prstGeom prst="rect">
            <a:avLst/>
          </a:prstGeom>
          <a:noFill/>
          <a:ln/>
        </p:spPr>
        <p:txBody>
          <a:bodyPr wrap="square" lIns="0" tIns="0" rIns="0" bIns="0" rtlCol="0" anchor="t"/>
          <a:lstStyle/>
          <a:p>
            <a:pPr indent="0" marL="0">
              <a:buNone/>
            </a:pPr>
            <a:r>
              <a:rPr lang="en-US" sz="1400" dirty="0">
                <a:solidFill>
                  <a:schemeClr val="tx2"/>
                </a:solidFill>
              </a:rPr>
              <a:t>Train on measured results from real PCs, including modern high-end parts</a:t>
            </a:r>
            <a:endParaRPr lang="en-US" sz="1400" dirty="0"/>
          </a:p>
        </p:txBody>
      </p:sp>
      <p:sp>
        <p:nvSpPr>
          <p:cNvPr id="9" name="Future card 2"/>
          <p:cNvSpPr/>
          <p:nvPr/>
        </p:nvSpPr>
        <p:spPr>
          <a:xfrm>
            <a:off x="4338218" y="1417320"/>
            <a:ext cx="3515258" cy="2194560"/>
          </a:xfrm>
          <a:prstGeom prst="roundRect">
            <a:avLst>
              <a:gd name="adj" fmla="val 3333"/>
            </a:avLst>
          </a:prstGeom>
          <a:solidFill>
            <a:schemeClr val="bg2"/>
          </a:solidFill>
          <a:ln w="12700">
            <a:solidFill>
              <a:schemeClr val="bg2"/>
            </a:solidFill>
            <a:prstDash val="solid"/>
          </a:ln>
        </p:spPr>
      </p:sp>
      <p:sp>
        <p:nvSpPr>
          <p:cNvPr id="10" name="Future 2 circle"/>
          <p:cNvSpPr/>
          <p:nvPr/>
        </p:nvSpPr>
        <p:spPr>
          <a:xfrm>
            <a:off x="4612538" y="1691640"/>
            <a:ext cx="685800" cy="685800"/>
          </a:xfrm>
          <a:prstGeom prst="ellipse">
            <a:avLst/>
          </a:prstGeom>
          <a:solidFill>
            <a:schemeClr val="accent5"/>
          </a:solidFill>
          <a:ln w="12700">
            <a:solidFill>
              <a:schemeClr val="accent5"/>
            </a:solidFill>
            <a:prstDash val="solid"/>
          </a:ln>
        </p:spPr>
      </p:sp>
      <p:pic>
        <p:nvPicPr>
          <p:cNvPr id="11" name="Future 2 icon"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12" name="Future title 2"/>
          <p:cNvSpPr txBox="1"/>
          <p:nvPr/>
        </p:nvSpPr>
        <p:spPr>
          <a:xfrm>
            <a:off x="4612538" y="2514600"/>
            <a:ext cx="2966618" cy="365760"/>
          </a:xfrm>
          <a:prstGeom prst="rect">
            <a:avLst/>
          </a:prstGeom>
          <a:noFill/>
          <a:ln/>
        </p:spPr>
        <p:txBody>
          <a:bodyPr wrap="square" lIns="0" tIns="0" rIns="0" bIns="0" rtlCol="0" anchor="t"/>
          <a:lstStyle/>
          <a:p>
            <a:pPr indent="0" marL="0">
              <a:buNone/>
            </a:pPr>
            <a:r>
              <a:rPr lang="en-US" sz="1800" b="1" dirty="0">
                <a:solidFill>
                  <a:schemeClr val="tx1"/>
                </a:solidFill>
              </a:rPr>
              <a:t>Learned FPS model</a:t>
            </a:r>
            <a:endParaRPr lang="en-US" sz="1800" dirty="0"/>
          </a:p>
        </p:txBody>
      </p:sp>
      <p:sp>
        <p:nvSpPr>
          <p:cNvPr id="13" name="Future desc 2"/>
          <p:cNvSpPr txBox="1"/>
          <p:nvPr/>
        </p:nvSpPr>
        <p:spPr>
          <a:xfrm>
            <a:off x="4612538" y="2898648"/>
            <a:ext cx="2966618" cy="640080"/>
          </a:xfrm>
          <a:prstGeom prst="rect">
            <a:avLst/>
          </a:prstGeom>
          <a:noFill/>
          <a:ln/>
        </p:spPr>
        <p:txBody>
          <a:bodyPr wrap="square" lIns="0" tIns="0" rIns="0" bIns="0" rtlCol="0" anchor="t"/>
          <a:lstStyle/>
          <a:p>
            <a:pPr indent="0" marL="0">
              <a:buNone/>
            </a:pPr>
            <a:r>
              <a:rPr lang="en-US" sz="1400" dirty="0">
                <a:solidFill>
                  <a:schemeClr val="tx2"/>
                </a:solidFill>
              </a:rPr>
              <a:t>Replace the rule-based FPS estimate with a model trained on game benchmarks</a:t>
            </a:r>
            <a:endParaRPr lang="en-US" sz="1400" dirty="0"/>
          </a:p>
        </p:txBody>
      </p:sp>
      <p:sp>
        <p:nvSpPr>
          <p:cNvPr id="14" name="Future card 3"/>
          <p:cNvSpPr/>
          <p:nvPr/>
        </p:nvSpPr>
        <p:spPr>
          <a:xfrm>
            <a:off x="8127797" y="1417320"/>
            <a:ext cx="3515258" cy="2194560"/>
          </a:xfrm>
          <a:prstGeom prst="roundRect">
            <a:avLst>
              <a:gd name="adj" fmla="val 3333"/>
            </a:avLst>
          </a:prstGeom>
          <a:solidFill>
            <a:schemeClr val="bg2"/>
          </a:solidFill>
          <a:ln w="12700">
            <a:solidFill>
              <a:schemeClr val="bg2"/>
            </a:solidFill>
            <a:prstDash val="solid"/>
          </a:ln>
        </p:spPr>
      </p:sp>
      <p:sp>
        <p:nvSpPr>
          <p:cNvPr id="15" name="Future 3 circle"/>
          <p:cNvSpPr/>
          <p:nvPr/>
        </p:nvSpPr>
        <p:spPr>
          <a:xfrm>
            <a:off x="8402117" y="1691640"/>
            <a:ext cx="685800" cy="685800"/>
          </a:xfrm>
          <a:prstGeom prst="ellipse">
            <a:avLst/>
          </a:prstGeom>
          <a:solidFill>
            <a:schemeClr val="accent5"/>
          </a:solidFill>
          <a:ln w="12700">
            <a:solidFill>
              <a:schemeClr val="accent5"/>
            </a:solidFill>
            <a:prstDash val="solid"/>
          </a:ln>
        </p:spPr>
      </p:sp>
      <p:pic>
        <p:nvPicPr>
          <p:cNvPr id="16" name="Future 3 icon"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17" name="Future title 3"/>
          <p:cNvSpPr txBox="1"/>
          <p:nvPr/>
        </p:nvSpPr>
        <p:spPr>
          <a:xfrm>
            <a:off x="8402117" y="2514600"/>
            <a:ext cx="2966618" cy="365760"/>
          </a:xfrm>
          <a:prstGeom prst="rect">
            <a:avLst/>
          </a:prstGeom>
          <a:noFill/>
          <a:ln/>
        </p:spPr>
        <p:txBody>
          <a:bodyPr wrap="square" lIns="0" tIns="0" rIns="0" bIns="0" rtlCol="0" anchor="t"/>
          <a:lstStyle/>
          <a:p>
            <a:pPr indent="0" marL="0">
              <a:buNone/>
            </a:pPr>
            <a:r>
              <a:rPr lang="en-US" sz="1800" b="1" dirty="0">
                <a:solidFill>
                  <a:schemeClr val="tx1"/>
                </a:solidFill>
              </a:rPr>
              <a:t>Prices &amp; budget optimizer</a:t>
            </a:r>
            <a:endParaRPr lang="en-US" sz="1800" dirty="0"/>
          </a:p>
        </p:txBody>
      </p:sp>
      <p:sp>
        <p:nvSpPr>
          <p:cNvPr id="18" name="Future desc 3"/>
          <p:cNvSpPr txBox="1"/>
          <p:nvPr/>
        </p:nvSpPr>
        <p:spPr>
          <a:xfrm>
            <a:off x="8402117" y="2898648"/>
            <a:ext cx="2966618" cy="640080"/>
          </a:xfrm>
          <a:prstGeom prst="rect">
            <a:avLst/>
          </a:prstGeom>
          <a:noFill/>
          <a:ln/>
        </p:spPr>
        <p:txBody>
          <a:bodyPr wrap="square" lIns="0" tIns="0" rIns="0" bIns="0" rtlCol="0" anchor="t"/>
          <a:lstStyle/>
          <a:p>
            <a:pPr indent="0" marL="0">
              <a:buNone/>
            </a:pPr>
            <a:r>
              <a:rPr lang="en-US" sz="1400" dirty="0">
                <a:solidFill>
                  <a:schemeClr val="tx2"/>
                </a:solidFill>
              </a:rPr>
              <a:t>Suggest the best-performing build for a given budget</a:t>
            </a:r>
            <a:endParaRPr lang="en-US" sz="1400" dirty="0"/>
          </a:p>
        </p:txBody>
      </p:sp>
      <p:sp>
        <p:nvSpPr>
          <p:cNvPr id="19" name="Future card 4"/>
          <p:cNvSpPr/>
          <p:nvPr/>
        </p:nvSpPr>
        <p:spPr>
          <a:xfrm>
            <a:off x="548640" y="3840480"/>
            <a:ext cx="3515258" cy="2194560"/>
          </a:xfrm>
          <a:prstGeom prst="roundRect">
            <a:avLst>
              <a:gd name="adj" fmla="val 3333"/>
            </a:avLst>
          </a:prstGeom>
          <a:solidFill>
            <a:schemeClr val="bg2"/>
          </a:solidFill>
          <a:ln w="12700">
            <a:solidFill>
              <a:schemeClr val="bg2"/>
            </a:solidFill>
            <a:prstDash val="solid"/>
          </a:ln>
        </p:spPr>
      </p:sp>
      <p:sp>
        <p:nvSpPr>
          <p:cNvPr id="20" name="Future 4 circle"/>
          <p:cNvSpPr/>
          <p:nvPr/>
        </p:nvSpPr>
        <p:spPr>
          <a:xfrm>
            <a:off x="822960" y="4114800"/>
            <a:ext cx="685800" cy="685800"/>
          </a:xfrm>
          <a:prstGeom prst="ellipse">
            <a:avLst/>
          </a:prstGeom>
          <a:solidFill>
            <a:schemeClr val="accent5"/>
          </a:solidFill>
          <a:ln w="12700">
            <a:solidFill>
              <a:schemeClr val="accent5"/>
            </a:solidFill>
            <a:prstDash val="solid"/>
          </a:ln>
        </p:spPr>
      </p:sp>
      <p:pic>
        <p:nvPicPr>
          <p:cNvPr id="21" name="Future 4 icon" descr="preencoded.png">    </p:cNvPr>
          <p:cNvPicPr>
            <a:picLocks noChangeAspect="1"/>
          </p:cNvPicPr>
          <p:nvPr/>
        </p:nvPicPr>
        <p:blipFill>
          <a:blip r:embed="rId4"/>
          <a:stretch>
            <a:fillRect/>
          </a:stretch>
        </p:blipFill>
        <p:spPr>
          <a:xfrm>
            <a:off x="1001268" y="4293108"/>
            <a:ext cx="329184" cy="329184"/>
          </a:xfrm>
          <a:prstGeom prst="rect">
            <a:avLst/>
          </a:prstGeom>
        </p:spPr>
      </p:pic>
      <p:sp>
        <p:nvSpPr>
          <p:cNvPr id="22" name="Future title 4"/>
          <p:cNvSpPr txBox="1"/>
          <p:nvPr/>
        </p:nvSpPr>
        <p:spPr>
          <a:xfrm>
            <a:off x="822960" y="4937760"/>
            <a:ext cx="2966618" cy="365760"/>
          </a:xfrm>
          <a:prstGeom prst="rect">
            <a:avLst/>
          </a:prstGeom>
          <a:noFill/>
          <a:ln/>
        </p:spPr>
        <p:txBody>
          <a:bodyPr wrap="square" lIns="0" tIns="0" rIns="0" bIns="0" rtlCol="0" anchor="t"/>
          <a:lstStyle/>
          <a:p>
            <a:pPr indent="0" marL="0">
              <a:buNone/>
            </a:pPr>
            <a:r>
              <a:rPr lang="en-US" sz="1800" b="1" dirty="0">
                <a:solidFill>
                  <a:schemeClr val="tx1"/>
                </a:solidFill>
              </a:rPr>
              <a:t>Upgrade suggestions</a:t>
            </a:r>
            <a:endParaRPr lang="en-US" sz="1800" dirty="0"/>
          </a:p>
        </p:txBody>
      </p:sp>
      <p:sp>
        <p:nvSpPr>
          <p:cNvPr id="23" name="Future desc 4"/>
          <p:cNvSpPr txBox="1"/>
          <p:nvPr/>
        </p:nvSpPr>
        <p:spPr>
          <a:xfrm>
            <a:off x="822960" y="5321808"/>
            <a:ext cx="2966618" cy="640080"/>
          </a:xfrm>
          <a:prstGeom prst="rect">
            <a:avLst/>
          </a:prstGeom>
          <a:noFill/>
          <a:ln/>
        </p:spPr>
        <p:txBody>
          <a:bodyPr wrap="square" lIns="0" tIns="0" rIns="0" bIns="0" rtlCol="0" anchor="t"/>
          <a:lstStyle/>
          <a:p>
            <a:pPr indent="0" marL="0">
              <a:buNone/>
            </a:pPr>
            <a:r>
              <a:rPr lang="en-US" sz="1400" dirty="0">
                <a:solidFill>
                  <a:schemeClr val="tx2"/>
                </a:solidFill>
              </a:rPr>
              <a:t>Show which single upgrade raises the score the most</a:t>
            </a:r>
            <a:endParaRPr lang="en-US" sz="1400" dirty="0"/>
          </a:p>
        </p:txBody>
      </p:sp>
      <p:sp>
        <p:nvSpPr>
          <p:cNvPr id="24" name="Future card 5"/>
          <p:cNvSpPr/>
          <p:nvPr/>
        </p:nvSpPr>
        <p:spPr>
          <a:xfrm>
            <a:off x="4338218" y="3840480"/>
            <a:ext cx="3515258" cy="2194560"/>
          </a:xfrm>
          <a:prstGeom prst="roundRect">
            <a:avLst>
              <a:gd name="adj" fmla="val 3333"/>
            </a:avLst>
          </a:prstGeom>
          <a:solidFill>
            <a:schemeClr val="bg2"/>
          </a:solidFill>
          <a:ln w="12700">
            <a:solidFill>
              <a:schemeClr val="bg2"/>
            </a:solidFill>
            <a:prstDash val="solid"/>
          </a:ln>
        </p:spPr>
      </p:sp>
      <p:sp>
        <p:nvSpPr>
          <p:cNvPr id="25" name="Future 5 circle"/>
          <p:cNvSpPr/>
          <p:nvPr/>
        </p:nvSpPr>
        <p:spPr>
          <a:xfrm>
            <a:off x="4612538" y="4114800"/>
            <a:ext cx="685800" cy="685800"/>
          </a:xfrm>
          <a:prstGeom prst="ellipse">
            <a:avLst/>
          </a:prstGeom>
          <a:solidFill>
            <a:schemeClr val="accent5"/>
          </a:solidFill>
          <a:ln w="12700">
            <a:solidFill>
              <a:schemeClr val="accent5"/>
            </a:solidFill>
            <a:prstDash val="solid"/>
          </a:ln>
        </p:spPr>
      </p:sp>
      <p:pic>
        <p:nvPicPr>
          <p:cNvPr id="26" name="Future 5 icon" descr="preencoded.png">    </p:cNvPr>
          <p:cNvPicPr>
            <a:picLocks noChangeAspect="1"/>
          </p:cNvPicPr>
          <p:nvPr/>
        </p:nvPicPr>
        <p:blipFill>
          <a:blip r:embed="rId5"/>
          <a:stretch>
            <a:fillRect/>
          </a:stretch>
        </p:blipFill>
        <p:spPr>
          <a:xfrm>
            <a:off x="4790846" y="4293108"/>
            <a:ext cx="329184" cy="329184"/>
          </a:xfrm>
          <a:prstGeom prst="rect">
            <a:avLst/>
          </a:prstGeom>
        </p:spPr>
      </p:pic>
      <p:sp>
        <p:nvSpPr>
          <p:cNvPr id="27" name="Future title 5"/>
          <p:cNvSpPr txBox="1"/>
          <p:nvPr/>
        </p:nvSpPr>
        <p:spPr>
          <a:xfrm>
            <a:off x="4612538" y="4937760"/>
            <a:ext cx="2966618" cy="365760"/>
          </a:xfrm>
          <a:prstGeom prst="rect">
            <a:avLst/>
          </a:prstGeom>
          <a:noFill/>
          <a:ln/>
        </p:spPr>
        <p:txBody>
          <a:bodyPr wrap="square" lIns="0" tIns="0" rIns="0" bIns="0" rtlCol="0" anchor="t"/>
          <a:lstStyle/>
          <a:p>
            <a:pPr indent="0" marL="0">
              <a:buNone/>
            </a:pPr>
            <a:r>
              <a:rPr lang="en-US" sz="1800" b="1" dirty="0">
                <a:solidFill>
                  <a:schemeClr val="tx1"/>
                </a:solidFill>
              </a:rPr>
              <a:t>Deploy online</a:t>
            </a:r>
            <a:endParaRPr lang="en-US" sz="1800" dirty="0"/>
          </a:p>
        </p:txBody>
      </p:sp>
      <p:sp>
        <p:nvSpPr>
          <p:cNvPr id="28" name="Future desc 5"/>
          <p:cNvSpPr txBox="1"/>
          <p:nvPr/>
        </p:nvSpPr>
        <p:spPr>
          <a:xfrm>
            <a:off x="4612538" y="5321808"/>
            <a:ext cx="2966618" cy="640080"/>
          </a:xfrm>
          <a:prstGeom prst="rect">
            <a:avLst/>
          </a:prstGeom>
          <a:noFill/>
          <a:ln/>
        </p:spPr>
        <p:txBody>
          <a:bodyPr wrap="square" lIns="0" tIns="0" rIns="0" bIns="0" rtlCol="0" anchor="t"/>
          <a:lstStyle/>
          <a:p>
            <a:pPr indent="0" marL="0">
              <a:buNone/>
            </a:pPr>
            <a:r>
              <a:rPr lang="en-US" sz="1400" dirty="0">
                <a:solidFill>
                  <a:schemeClr val="tx2"/>
                </a:solidFill>
              </a:rPr>
              <a:t>Host the app publicly and expose the model through an API</a:t>
            </a:r>
            <a:endParaRPr lang="en-US" sz="1400" dirty="0"/>
          </a:p>
        </p:txBody>
      </p:sp>
      <p:sp>
        <p:nvSpPr>
          <p:cNvPr id="29" name="Future card 6"/>
          <p:cNvSpPr/>
          <p:nvPr/>
        </p:nvSpPr>
        <p:spPr>
          <a:xfrm>
            <a:off x="8127797" y="3840480"/>
            <a:ext cx="3515258" cy="2194560"/>
          </a:xfrm>
          <a:prstGeom prst="roundRect">
            <a:avLst>
              <a:gd name="adj" fmla="val 3333"/>
            </a:avLst>
          </a:prstGeom>
          <a:solidFill>
            <a:schemeClr val="bg2"/>
          </a:solidFill>
          <a:ln w="12700">
            <a:solidFill>
              <a:schemeClr val="bg2"/>
            </a:solidFill>
            <a:prstDash val="solid"/>
          </a:ln>
        </p:spPr>
      </p:sp>
      <p:sp>
        <p:nvSpPr>
          <p:cNvPr id="30" name="Future 6 circle"/>
          <p:cNvSpPr/>
          <p:nvPr/>
        </p:nvSpPr>
        <p:spPr>
          <a:xfrm>
            <a:off x="8402117" y="4114800"/>
            <a:ext cx="685800" cy="685800"/>
          </a:xfrm>
          <a:prstGeom prst="ellipse">
            <a:avLst/>
          </a:prstGeom>
          <a:solidFill>
            <a:schemeClr val="accent5"/>
          </a:solidFill>
          <a:ln w="12700">
            <a:solidFill>
              <a:schemeClr val="accent5"/>
            </a:solidFill>
            <a:prstDash val="solid"/>
          </a:ln>
        </p:spPr>
      </p:sp>
      <p:pic>
        <p:nvPicPr>
          <p:cNvPr id="31" name="Future 6 icon" descr="preencoded.png">    </p:cNvPr>
          <p:cNvPicPr>
            <a:picLocks noChangeAspect="1"/>
          </p:cNvPicPr>
          <p:nvPr/>
        </p:nvPicPr>
        <p:blipFill>
          <a:blip r:embed="rId6"/>
          <a:stretch>
            <a:fillRect/>
          </a:stretch>
        </p:blipFill>
        <p:spPr>
          <a:xfrm>
            <a:off x="8580425" y="4293108"/>
            <a:ext cx="329184" cy="329184"/>
          </a:xfrm>
          <a:prstGeom prst="rect">
            <a:avLst/>
          </a:prstGeom>
        </p:spPr>
      </p:pic>
      <p:sp>
        <p:nvSpPr>
          <p:cNvPr id="32" name="Future title 6"/>
          <p:cNvSpPr txBox="1"/>
          <p:nvPr/>
        </p:nvSpPr>
        <p:spPr>
          <a:xfrm>
            <a:off x="8402117" y="4937760"/>
            <a:ext cx="2966618" cy="365760"/>
          </a:xfrm>
          <a:prstGeom prst="rect">
            <a:avLst/>
          </a:prstGeom>
          <a:noFill/>
          <a:ln/>
        </p:spPr>
        <p:txBody>
          <a:bodyPr wrap="square" lIns="0" tIns="0" rIns="0" bIns="0" rtlCol="0" anchor="t"/>
          <a:lstStyle/>
          <a:p>
            <a:pPr indent="0" marL="0">
              <a:buNone/>
            </a:pPr>
            <a:r>
              <a:rPr lang="en-US" sz="1800" b="1" dirty="0">
                <a:solidFill>
                  <a:schemeClr val="tx1"/>
                </a:solidFill>
              </a:rPr>
              <a:t>Live monitoring</a:t>
            </a:r>
            <a:endParaRPr lang="en-US" sz="1800" dirty="0"/>
          </a:p>
        </p:txBody>
      </p:sp>
      <p:sp>
        <p:nvSpPr>
          <p:cNvPr id="33" name="Future desc 6"/>
          <p:cNvSpPr txBox="1"/>
          <p:nvPr/>
        </p:nvSpPr>
        <p:spPr>
          <a:xfrm>
            <a:off x="8402117" y="5321808"/>
            <a:ext cx="2966618" cy="640080"/>
          </a:xfrm>
          <a:prstGeom prst="rect">
            <a:avLst/>
          </a:prstGeom>
          <a:noFill/>
          <a:ln/>
        </p:spPr>
        <p:txBody>
          <a:bodyPr wrap="square" lIns="0" tIns="0" rIns="0" bIns="0" rtlCol="0" anchor="t"/>
          <a:lstStyle/>
          <a:p>
            <a:pPr indent="0" marL="0">
              <a:buNone/>
            </a:pPr>
            <a:r>
              <a:rPr lang="en-US" sz="1400" dirty="0">
                <a:solidFill>
                  <a:schemeClr val="tx2"/>
                </a:solidFill>
              </a:rPr>
              <a:t>Read real temperature and usage from the user's own PC</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4" name="Takeaway card 1"/>
          <p:cNvSpPr/>
          <p:nvPr/>
        </p:nvSpPr>
        <p:spPr>
          <a:xfrm>
            <a:off x="548640" y="1554480"/>
            <a:ext cx="3515258" cy="2377440"/>
          </a:xfrm>
          <a:prstGeom prst="roundRect">
            <a:avLst>
              <a:gd name="adj" fmla="val 3077"/>
            </a:avLst>
          </a:prstGeom>
          <a:solidFill>
            <a:schemeClr val="tx2"/>
          </a:solidFill>
          <a:ln w="12700">
            <a:solidFill>
              <a:schemeClr val="tx2"/>
            </a:solidFill>
            <a:prstDash val="solid"/>
          </a:ln>
        </p:spPr>
      </p:sp>
      <p:sp>
        <p:nvSpPr>
          <p:cNvPr id="5" name="Takeaway value 1"/>
          <p:cNvSpPr txBox="1"/>
          <p:nvPr/>
        </p:nvSpPr>
        <p:spPr>
          <a:xfrm>
            <a:off x="868680" y="1874520"/>
            <a:ext cx="2875178" cy="731520"/>
          </a:xfrm>
          <a:prstGeom prst="rect">
            <a:avLst/>
          </a:prstGeom>
          <a:noFill/>
          <a:ln/>
        </p:spPr>
        <p:txBody>
          <a:bodyPr wrap="square" lIns="0" tIns="0" rIns="0" bIns="0" rtlCol="0" anchor="t"/>
          <a:lstStyle/>
          <a:p>
            <a:pPr indent="0" marL="0">
              <a:buNone/>
            </a:pPr>
            <a:r>
              <a:rPr lang="en-US" sz="4000" b="1" dirty="0">
                <a:solidFill>
                  <a:schemeClr val="accent1"/>
                </a:solidFill>
              </a:rPr>
              <a:t>520 → 503</a:t>
            </a:r>
            <a:endParaRPr lang="en-US" sz="4000" dirty="0"/>
          </a:p>
        </p:txBody>
      </p:sp>
      <p:sp>
        <p:nvSpPr>
          <p:cNvPr id="6" name="Takeaway text 1"/>
          <p:cNvSpPr txBox="1"/>
          <p:nvPr/>
        </p:nvSpPr>
        <p:spPr>
          <a:xfrm>
            <a:off x="868680" y="2743200"/>
            <a:ext cx="2875178" cy="1005840"/>
          </a:xfrm>
          <a:prstGeom prst="rect">
            <a:avLst/>
          </a:prstGeom>
          <a:noFill/>
          <a:ln/>
        </p:spPr>
        <p:txBody>
          <a:bodyPr wrap="square" lIns="0" tIns="0" rIns="0" bIns="0" rtlCol="0" anchor="t"/>
          <a:lstStyle/>
          <a:p>
            <a:pPr indent="0" marL="0">
              <a:buNone/>
            </a:pPr>
            <a:r>
              <a:rPr lang="en-US" sz="1700" dirty="0">
                <a:solidFill>
                  <a:schemeClr val="bg1"/>
                </a:solidFill>
              </a:rPr>
              <a:t>clean, consistent records from a messy raw file</a:t>
            </a:r>
            <a:endParaRPr lang="en-US" sz="1700" dirty="0"/>
          </a:p>
        </p:txBody>
      </p:sp>
      <p:sp>
        <p:nvSpPr>
          <p:cNvPr id="7" name="Takeaway card 2"/>
          <p:cNvSpPr/>
          <p:nvPr/>
        </p:nvSpPr>
        <p:spPr>
          <a:xfrm>
            <a:off x="4338218" y="1554480"/>
            <a:ext cx="3515258" cy="2377440"/>
          </a:xfrm>
          <a:prstGeom prst="roundRect">
            <a:avLst>
              <a:gd name="adj" fmla="val 3077"/>
            </a:avLst>
          </a:prstGeom>
          <a:solidFill>
            <a:schemeClr val="tx2"/>
          </a:solidFill>
          <a:ln w="12700">
            <a:solidFill>
              <a:schemeClr val="tx2"/>
            </a:solidFill>
            <a:prstDash val="solid"/>
          </a:ln>
        </p:spPr>
      </p:sp>
      <p:sp>
        <p:nvSpPr>
          <p:cNvPr id="8" name="Takeaway value 2"/>
          <p:cNvSpPr txBox="1"/>
          <p:nvPr/>
        </p:nvSpPr>
        <p:spPr>
          <a:xfrm>
            <a:off x="4658258" y="1874520"/>
            <a:ext cx="2875178" cy="731520"/>
          </a:xfrm>
          <a:prstGeom prst="rect">
            <a:avLst/>
          </a:prstGeom>
          <a:noFill/>
          <a:ln/>
        </p:spPr>
        <p:txBody>
          <a:bodyPr wrap="square" lIns="0" tIns="0" rIns="0" bIns="0" rtlCol="0" anchor="t"/>
          <a:lstStyle/>
          <a:p>
            <a:pPr indent="0" marL="0">
              <a:buNone/>
            </a:pPr>
            <a:r>
              <a:rPr lang="en-US" sz="4000" b="1" dirty="0">
                <a:solidFill>
                  <a:schemeClr val="accent1"/>
                </a:solidFill>
              </a:rPr>
              <a:t>R² 0.929</a:t>
            </a:r>
            <a:endParaRPr lang="en-US" sz="4000" dirty="0"/>
          </a:p>
        </p:txBody>
      </p:sp>
      <p:sp>
        <p:nvSpPr>
          <p:cNvPr id="9" name="Takeaway text 2"/>
          <p:cNvSpPr txBox="1"/>
          <p:nvPr/>
        </p:nvSpPr>
        <p:spPr>
          <a:xfrm>
            <a:off x="4658258" y="2743200"/>
            <a:ext cx="2875178" cy="1005840"/>
          </a:xfrm>
          <a:prstGeom prst="rect">
            <a:avLst/>
          </a:prstGeom>
          <a:noFill/>
          <a:ln/>
        </p:spPr>
        <p:txBody>
          <a:bodyPr wrap="square" lIns="0" tIns="0" rIns="0" bIns="0" rtlCol="0" anchor="t"/>
          <a:lstStyle/>
          <a:p>
            <a:pPr indent="0" marL="0">
              <a:buNone/>
            </a:pPr>
            <a:r>
              <a:rPr lang="en-US" sz="1700" dirty="0">
                <a:solidFill>
                  <a:schemeClr val="bg1"/>
                </a:solidFill>
              </a:rPr>
              <a:t>Linear Regression, chosen from 9 supervised models, predicts within about ±44 points</a:t>
            </a:r>
            <a:endParaRPr lang="en-US" sz="1700" dirty="0"/>
          </a:p>
        </p:txBody>
      </p:sp>
      <p:sp>
        <p:nvSpPr>
          <p:cNvPr id="10" name="Takeaway card 3"/>
          <p:cNvSpPr/>
          <p:nvPr/>
        </p:nvSpPr>
        <p:spPr>
          <a:xfrm>
            <a:off x="8127797" y="1554480"/>
            <a:ext cx="3515258" cy="2377440"/>
          </a:xfrm>
          <a:prstGeom prst="roundRect">
            <a:avLst>
              <a:gd name="adj" fmla="val 3077"/>
            </a:avLst>
          </a:prstGeom>
          <a:solidFill>
            <a:schemeClr val="tx2"/>
          </a:solidFill>
          <a:ln w="12700">
            <a:solidFill>
              <a:schemeClr val="tx2"/>
            </a:solidFill>
            <a:prstDash val="solid"/>
          </a:ln>
        </p:spPr>
      </p:sp>
      <p:sp>
        <p:nvSpPr>
          <p:cNvPr id="11" name="Takeaway value 3"/>
          <p:cNvSpPr txBox="1"/>
          <p:nvPr/>
        </p:nvSpPr>
        <p:spPr>
          <a:xfrm>
            <a:off x="8447837" y="1874520"/>
            <a:ext cx="2875178" cy="731520"/>
          </a:xfrm>
          <a:prstGeom prst="rect">
            <a:avLst/>
          </a:prstGeom>
          <a:noFill/>
          <a:ln/>
        </p:spPr>
        <p:txBody>
          <a:bodyPr wrap="square" lIns="0" tIns="0" rIns="0" bIns="0" rtlCol="0" anchor="t"/>
          <a:lstStyle/>
          <a:p>
            <a:pPr indent="0" marL="0">
              <a:buNone/>
            </a:pPr>
            <a:r>
              <a:rPr lang="en-US" sz="4000" b="1" dirty="0">
                <a:solidFill>
                  <a:schemeClr val="accent1"/>
                </a:solidFill>
              </a:rPr>
              <a:t>222 parts</a:t>
            </a:r>
            <a:endParaRPr lang="en-US" sz="4000" dirty="0"/>
          </a:p>
        </p:txBody>
      </p:sp>
      <p:sp>
        <p:nvSpPr>
          <p:cNvPr id="12" name="Takeaway text 3"/>
          <p:cNvSpPr txBox="1"/>
          <p:nvPr/>
        </p:nvSpPr>
        <p:spPr>
          <a:xfrm>
            <a:off x="8447837" y="2743200"/>
            <a:ext cx="2875178" cy="1005840"/>
          </a:xfrm>
          <a:prstGeom prst="rect">
            <a:avLst/>
          </a:prstGeom>
          <a:noFill/>
          <a:ln/>
        </p:spPr>
        <p:txBody>
          <a:bodyPr wrap="square" lIns="0" tIns="0" rIns="0" bIns="0" rtlCol="0" anchor="t"/>
          <a:lstStyle/>
          <a:p>
            <a:pPr indent="0" marL="0">
              <a:buNone/>
            </a:pPr>
            <a:r>
              <a:rPr lang="en-US" sz="1700" dirty="0">
                <a:solidFill>
                  <a:schemeClr val="bg1"/>
                </a:solidFill>
              </a:rPr>
              <a:t>real-time PC builder with compatibility checks, FPS estimates and Excel export</a:t>
            </a:r>
            <a:endParaRPr lang="en-US" sz="1700" dirty="0"/>
          </a:p>
        </p:txBody>
      </p:sp>
      <p:sp>
        <p:nvSpPr>
          <p:cNvPr id="13" name="Thank you"/>
          <p:cNvSpPr txBox="1"/>
          <p:nvPr/>
        </p:nvSpPr>
        <p:spPr>
          <a:xfrm>
            <a:off x="548640" y="4526280"/>
            <a:ext cx="7315200" cy="822960"/>
          </a:xfrm>
          <a:prstGeom prst="rect">
            <a:avLst/>
          </a:prstGeom>
          <a:noFill/>
          <a:ln/>
        </p:spPr>
        <p:txBody>
          <a:bodyPr wrap="square" lIns="0" tIns="0" rIns="0" bIns="0" rtlCol="0" anchor="t"/>
          <a:lstStyle/>
          <a:p>
            <a:pPr indent="0" marL="0">
              <a:buNone/>
            </a:pPr>
            <a:r>
              <a:rPr lang="en-US" sz="4400" b="1" dirty="0">
                <a:solidFill>
                  <a:schemeClr val="bg1"/>
                </a:solidFill>
              </a:rPr>
              <a:t>Thank you</a:t>
            </a:r>
            <a:endParaRPr lang="en-US" sz="4400" dirty="0"/>
          </a:p>
        </p:txBody>
      </p:sp>
      <p:sp>
        <p:nvSpPr>
          <p:cNvPr id="14" name="Questions"/>
          <p:cNvSpPr txBox="1"/>
          <p:nvPr/>
        </p:nvSpPr>
        <p:spPr>
          <a:xfrm>
            <a:off x="548640" y="5349240"/>
            <a:ext cx="7315200" cy="548640"/>
          </a:xfrm>
          <a:prstGeom prst="rect">
            <a:avLst/>
          </a:prstGeom>
          <a:noFill/>
          <a:ln/>
        </p:spPr>
        <p:txBody>
          <a:bodyPr wrap="square" lIns="0" tIns="0" rIns="0" bIns="0" rtlCol="0" anchor="t"/>
          <a:lstStyle/>
          <a:p>
            <a:pPr indent="0" marL="0">
              <a:buNone/>
            </a:pPr>
            <a:r>
              <a:rPr lang="en-US" sz="2400" dirty="0">
                <a:solidFill>
                  <a:schemeClr val="accent1"/>
                </a:solidFill>
              </a:rPr>
              <a:t>Questions?</a:t>
            </a:r>
            <a:endParaRPr lang="en-US" sz="2400" dirty="0"/>
          </a:p>
        </p:txBody>
      </p:sp>
      <p:sp>
        <p:nvSpPr>
          <p:cNvPr id="15" name="Closing chip circle"/>
          <p:cNvSpPr/>
          <p:nvPr/>
        </p:nvSpPr>
        <p:spPr>
          <a:xfrm>
            <a:off x="9966960" y="4434840"/>
            <a:ext cx="1463040" cy="1463040"/>
          </a:xfrm>
          <a:prstGeom prst="ellipse">
            <a:avLst/>
          </a:prstGeom>
          <a:solidFill>
            <a:schemeClr val="accent1"/>
          </a:solidFill>
          <a:ln w="12700">
            <a:solidFill>
              <a:schemeClr val="accent1"/>
            </a:solidFill>
            <a:prstDash val="solid"/>
          </a:ln>
        </p:spPr>
      </p:sp>
      <p:pic>
        <p:nvPicPr>
          <p:cNvPr id="16" name="Closing chip icon" descr="preencoded.png">    </p:cNvPr>
          <p:cNvPicPr>
            <a:picLocks noChangeAspect="1"/>
          </p:cNvPicPr>
          <p:nvPr/>
        </p:nvPicPr>
        <p:blipFill>
          <a:blip r:embed="rId1"/>
          <a:stretch>
            <a:fillRect/>
          </a:stretch>
        </p:blipFill>
        <p:spPr>
          <a:xfrm>
            <a:off x="10347350" y="4815230"/>
            <a:ext cx="702259" cy="702259"/>
          </a:xfrm>
          <a:prstGeom prst="rect">
            <a:avLst/>
          </a:prstGeom>
        </p:spPr>
      </p:pic>
    </p:spTree>
  </p:cSld>
  <p:clrMapOvr>
    <a:masterClrMapping/>
  </p:clrMapOvr>
</p:sld>
</file>

<file path=ppt/theme/theme1.xml><?xml version="1.0" encoding="utf-8"?>
<a:theme xmlns:a="http://schemas.openxmlformats.org/drawingml/2006/main" name="PC Performance Predictor">
  <a:themeElements>
    <a:clrScheme name="PC Performance Predictor">
      <a:dk1>
        <a:srgbClr val="161A23"/>
      </a:dk1>
      <a:lt1>
        <a:srgbClr val="FFFFFF"/>
      </a:lt1>
      <a:dk2>
        <a:srgbClr val="3A4250"/>
      </a:dk2>
      <a:lt2>
        <a:srgbClr val="F1F3F6"/>
      </a:lt2>
      <a:accent1>
        <a:srgbClr val="FF5A36"/>
      </a:accent1>
      <a:accent2>
        <a:srgbClr val="14B8A6"/>
      </a:accent2>
      <a:accent3>
        <a:srgbClr val="FFB020"/>
      </a:accent3>
      <a:accent4>
        <a:srgbClr val="7C8796"/>
      </a:accent4>
      <a:accent5>
        <a:srgbClr val="6366F1"/>
      </a:accent5>
      <a:accent6>
        <a:srgbClr val="E11D48"/>
      </a:accent6>
      <a:hlink>
        <a:srgbClr val="14B8A6"/>
      </a:hlink>
      <a:folHlink>
        <a:srgbClr val="6366F1"/>
      </a:folHlink>
    </a:clrScheme>
    <a:fontScheme name="PC Performance Predic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 Performance Predictor</dc:title>
  <dc:subject>PptxGenJS Presentation</dc:subject>
  <dc:creator>Team 7</dc:creator>
  <cp:lastModifiedBy>Team 7</cp:lastModifiedBy>
  <cp:revision>1</cp:revision>
  <dcterms:created xsi:type="dcterms:W3CDTF">2026-10-05T06:17:20Z</dcterms:created>
  <dcterms:modified xsi:type="dcterms:W3CDTF">2026-10-05T06:17:20Z</dcterms:modified>
</cp:coreProperties>
</file>