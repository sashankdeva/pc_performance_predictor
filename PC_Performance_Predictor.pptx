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8f5dd71-e622-3599-bb6e-58951e6fcc29}">
          <p14:sldIdLst>
            <p14:sldId id="256"/>
            <p14:sldId id="257"/>
          </p14:sldIdLst>
        </p14:section>
        <p14:section name="Data" id="{099fc1b3-f2dd-5bef-e00b-68304127c712}">
          <p14:sldIdLst>
            <p14:sldId id="258"/>
            <p14:sldId id="259"/>
            <p14:sldId id="260"/>
          </p14:sldIdLst>
        </p14:section>
        <p14:section name="Model" id="{8384c340-1e27-c961-cc46-aff148189c28}">
          <p14:sldIdLst>
            <p14:sldId id="261"/>
            <p14:sldId id="262"/>
          </p14:sldIdLst>
        </p14:section>
        <p14:section name="Application" id="{a3c1be82-b86b-012c-c076-aadff65b6dae}">
          <p14:sldIdLst>
            <p14:sldId id="263"/>
          </p14:sldIdLst>
        </p14:section>
        <p14:section name="Syllabus" id="{1f28fffb-3f29-81fa-372d-1f4fb61f21fe}">
          <p14:sldIdLst>
            <p14:sldId id="264"/>
          </p14:sldIdLst>
        </p14:section>
        <p14:section name="Conclusion" id="{831f29b2-900f-4666-139f-5bd363c506cf}">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PCs per performance class</a:t>
            </a:r>
          </a:p>
        </c:rich>
      </c:tx>
      <c:layout/>
      <c:overlay val="0"/>
    </c:title>
    <c:autoTitleDeleted val="0"/>
    <c:plotArea>
      <c:layout/>
      <c:barChart>
        <c:barDir val="col"/>
        <c:grouping val="clustered"/>
        <c:varyColors val="0"/>
        <c:ser>
          <c:idx val="0"/>
          <c:order val="0"/>
          <c:tx>
            <c:strRef>
              <c:f>Sheet1!$B$1</c:f>
              <c:strCache>
                <c:ptCount val="1"/>
                <c:pt idx="0">
                  <c:v>PCs</c:v>
                </c:pt>
              </c:strCache>
            </c:strRef>
          </c:tx>
          <c:spPr>
            <a:solidFill>
              <a:srgbClr val="7C8796"/>
            </a:solidFill>
            <a:effectLst/>
          </c:spPr>
          <c:invertIfNegative val="0"/>
          <c:dLbls>
            <c:numFmt formatCode="#,##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7C8796"/>
              </a:solidFill>
              <a:effectLst/>
            </c:spPr>
          </c:dPt>
          <c:dPt>
            <c:idx val="1"/>
            <c:invertIfNegative val="0"/>
            <c:bubble3D val="0"/>
            <c:spPr>
              <a:solidFill>
                <a:srgbClr val="FF5A36"/>
              </a:solidFill>
              <a:effectLst/>
            </c:spPr>
          </c:dPt>
          <c:dPt>
            <c:idx val="2"/>
            <c:invertIfNegative val="0"/>
            <c:bubble3D val="0"/>
            <c:spPr>
              <a:solidFill>
                <a:srgbClr val="14B8A6"/>
              </a:solidFill>
              <a:effectLst/>
            </c:spPr>
          </c:dPt>
          <c:dPt>
            <c:idx val="3"/>
            <c:invertIfNegative val="0"/>
            <c:bubble3D val="0"/>
            <c:spPr>
              <a:solidFill>
                <a:srgbClr val="6366F1"/>
              </a:solidFill>
              <a:effectLst/>
            </c:spPr>
          </c:dPt>
          <c:cat>
            <c:multiLvlStrRef>
              <c:f>Sheet1!$A$2:$A$5</c:f>
              <c:multiLvlStrCache>
                <c:ptCount val="4"/>
                <c:lvl>
                  <c:pt idx="0">
                    <c:v>Low</c:v>
                  </c:pt>
                  <c:pt idx="1">
                    <c:v>Medium</c:v>
                  </c:pt>
                  <c:pt idx="2">
                    <c:v>High</c:v>
                  </c:pt>
                  <c:pt idx="3">
                    <c:v>Very High</c:v>
                  </c:pt>
                </c:lvl>
              </c:multiLvlStrCache>
            </c:multiLvlStrRef>
          </c:cat>
          <c:val>
            <c:numRef>
              <c:f>Sheet1!$B$2:$B$5</c:f>
              <c:numCache>
                <c:formatCode>General</c:formatCode>
                <c:ptCount val="4"/>
                <c:pt idx="0">
                  <c:v>136</c:v>
                </c:pt>
                <c:pt idx="1">
                  <c:v>267</c:v>
                </c:pt>
                <c:pt idx="2">
                  <c:v>89</c:v>
                </c:pt>
                <c:pt idx="3">
                  <c:v>11</c:v>
                </c:pt>
              </c:numCache>
            </c:numRef>
          </c:val>
        </c:ser>
        <c:dLbls>
          <c:numFmt formatCode="#,##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chemeClr val="tx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Correlation with Performance_Score</a:t>
            </a:r>
          </a:p>
        </c:rich>
      </c:tx>
      <c:layout/>
      <c:overlay val="0"/>
    </c:title>
    <c:autoTitleDeleted val="0"/>
    <c:plotArea>
      <c:layout/>
      <c:barChart>
        <c:barDir val="bar"/>
        <c:grouping val="clustered"/>
        <c:varyColors val="0"/>
        <c:ser>
          <c:idx val="0"/>
          <c:order val="0"/>
          <c:tx>
            <c:strRef>
              <c:f>Sheet1!$B$1</c:f>
              <c:strCache>
                <c:ptCount val="1"/>
                <c:pt idx="0">
                  <c:v>Correlation</c:v>
                </c:pt>
              </c:strCache>
            </c:strRef>
          </c:tx>
          <c:spPr>
            <a:solidFill>
              <a:srgbClr val="7C8796"/>
            </a:solidFill>
            <a:effectLst/>
          </c:spPr>
          <c:invertIfNegative val="0"/>
          <c:dLbls>
            <c:numFmt formatCode="0.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7C8796"/>
              </a:solidFill>
              <a:effectLst/>
            </c:spPr>
          </c:dPt>
          <c:dPt>
            <c:idx val="1"/>
            <c:invertIfNegative val="0"/>
            <c:bubble3D val="0"/>
            <c:spPr>
              <a:solidFill>
                <a:srgbClr val="7C8796"/>
              </a:solidFill>
              <a:effectLst/>
            </c:spPr>
          </c:dPt>
          <c:dPt>
            <c:idx val="2"/>
            <c:invertIfNegative val="0"/>
            <c:bubble3D val="0"/>
            <c:spPr>
              <a:solidFill>
                <a:srgbClr val="FF5A36"/>
              </a:solidFill>
              <a:effectLst/>
            </c:spPr>
          </c:dPt>
          <c:dPt>
            <c:idx val="3"/>
            <c:invertIfNegative val="0"/>
            <c:bubble3D val="0"/>
            <c:spPr>
              <a:solidFill>
                <a:srgbClr val="FF5A36"/>
              </a:solidFill>
              <a:effectLst/>
            </c:spPr>
          </c:dPt>
          <c:dPt>
            <c:idx val="4"/>
            <c:invertIfNegative val="0"/>
            <c:bubble3D val="0"/>
            <c:spPr>
              <a:solidFill>
                <a:srgbClr val="FF5A36"/>
              </a:solidFill>
              <a:effectLst/>
            </c:spPr>
          </c:dPt>
          <c:dPt>
            <c:idx val="5"/>
            <c:invertIfNegative val="0"/>
            <c:bubble3D val="0"/>
            <c:spPr>
              <a:solidFill>
                <a:srgbClr val="FF5A36"/>
              </a:solidFill>
              <a:effectLst/>
            </c:spPr>
          </c:dPt>
          <c:dPt>
            <c:idx val="6"/>
            <c:invertIfNegative val="0"/>
            <c:bubble3D val="0"/>
            <c:spPr>
              <a:solidFill>
                <a:srgbClr val="FF5A36"/>
              </a:solidFill>
              <a:effectLst/>
            </c:spPr>
          </c:dPt>
          <c:cat>
            <c:multiLvlStrRef>
              <c:f>Sheet1!$A$2:$A$8</c:f>
              <c:multiLvlStrCache>
                <c:ptCount val="7"/>
                <c:lvl>
                  <c:pt idx="0">
                    <c:v>Age_Years</c:v>
                  </c:pt>
                  <c:pt idx="1">
                    <c:v>Temperature_C</c:v>
                  </c:pt>
                  <c:pt idx="2">
                    <c:v>Storage_GB</c:v>
                  </c:pt>
                  <c:pt idx="3">
                    <c:v>Clock_GHz</c:v>
                  </c:pt>
                  <c:pt idx="4">
                    <c:v>GPU_Level</c:v>
                  </c:pt>
                  <c:pt idx="5">
                    <c:v>CPU_Cores</c:v>
                  </c:pt>
                  <c:pt idx="6">
                    <c:v>RAM_GB</c:v>
                  </c:pt>
                </c:lvl>
              </c:multiLvlStrCache>
            </c:multiLvlStrRef>
          </c:cat>
          <c:val>
            <c:numRef>
              <c:f>Sheet1!$B$2:$B$8</c:f>
              <c:numCache>
                <c:formatCode>General</c:formatCode>
                <c:ptCount val="7"/>
                <c:pt idx="0">
                  <c:v>-0.293</c:v>
                </c:pt>
                <c:pt idx="1">
                  <c:v>-0.136</c:v>
                </c:pt>
                <c:pt idx="2">
                  <c:v>0.134</c:v>
                </c:pt>
                <c:pt idx="3">
                  <c:v>0.334</c:v>
                </c:pt>
                <c:pt idx="4">
                  <c:v>0.443</c:v>
                </c:pt>
                <c:pt idx="5">
                  <c:v>0.491</c:v>
                </c:pt>
                <c:pt idx="6">
                  <c:v>0.543</c:v>
                </c:pt>
              </c:numCache>
            </c:numRef>
          </c:val>
        </c:ser>
        <c:dLbls>
          <c:numFmt formatCode="0.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0.7"/>
          <c:min val="-0.4"/>
        </c:scaling>
        <c:delete val="0"/>
        <c:axPos val="b"/>
        <c:majorGridlines>
          <c:spPr>
            <a:ln w="6350" cap="flat">
              <a:solidFill>
                <a:srgbClr val="E3E6EB"/>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chemeClr val="tx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1"/>
                </a:solidFill>
                <a:latin typeface="+mn-lt"/>
              </a:defRPr>
            </a:pPr>
            <a:r>
              <a:rPr sz="1400" b="0" i="0" u="none" strike="noStrike">
                <a:solidFill>
                  <a:schemeClr val="tx1"/>
                </a:solidFill>
                <a:latin typeface="+mn-lt"/>
              </a:rPr>
              <a:t>Actual vs predicted score (101 test PCs)</a:t>
            </a:r>
          </a:p>
        </c:rich>
      </c:tx>
      <c:layout/>
      <c:overlay val="0"/>
    </c:title>
    <c:autoTitleDeleted val="0"/>
    <c:plotArea>
      <c:layout/>
      <c:scatterChart>
        <c:scatterStyle val="lineMarker"/>
        <c:varyColors val="0"/>
        <c:ser>
          <c:idx val="0"/>
          <c:order val="0"/>
          <c:tx>
            <c:strRef>
              <c:f>Sheet1!$B$1</c:f>
              <c:strCache>
                <c:ptCount val="1"/>
                <c:pt idx="0">
                  <c:v>Perfect prediction</c:v>
                </c:pt>
              </c:strCache>
            </c:strRef>
          </c:tx>
          <c:spPr>
            <a:solidFill>
              <a:srgbClr val="7C8796"/>
            </a:solidFill>
            <a:ln>
              <a:noFill/>
            </a:ln>
            <a:effectLst/>
          </c:spPr>
          <c:marker>
            <c:symbol val="circle"/>
            <c:size val="6"/>
            <c:spPr>
              <a:solidFill>
                <a:srgbClr val="7C8796"/>
              </a:solidFill>
              <a:ln w="9525" cap="flat">
                <a:solidFill>
                  <a:srgbClr val="7C8796"/>
                </a:solidFill>
                <a:prstDash val="solid"/>
                <a:round/>
              </a:ln>
              <a:effectLst/>
            </c:spPr>
          </c:marker>
          <c:xVal>
            <c:numRef>
              <c:f>Sheet1!$A$2:$A$102</c:f>
              <c:numCache>
                <c:formatCode>General</c:formatCode>
                <c:ptCount val="101"/>
                <c:pt idx="0">
                  <c:v>377.1</c:v>
                </c:pt>
                <c:pt idx="1">
                  <c:v>768.7</c:v>
                </c:pt>
                <c:pt idx="2">
                  <c:v>491.7</c:v>
                </c:pt>
                <c:pt idx="3">
                  <c:v>536</c:v>
                </c:pt>
                <c:pt idx="4">
                  <c:v>502.8</c:v>
                </c:pt>
                <c:pt idx="5">
                  <c:v>525.2</c:v>
                </c:pt>
                <c:pt idx="6">
                  <c:v>446.1</c:v>
                </c:pt>
                <c:pt idx="7">
                  <c:v>578.3</c:v>
                </c:pt>
                <c:pt idx="8">
                  <c:v>361.9</c:v>
                </c:pt>
                <c:pt idx="9">
                  <c:v>414.7</c:v>
                </c:pt>
                <c:pt idx="10">
                  <c:v>288.2</c:v>
                </c:pt>
                <c:pt idx="11">
                  <c:v>362.4</c:v>
                </c:pt>
                <c:pt idx="12">
                  <c:v>618.2</c:v>
                </c:pt>
                <c:pt idx="13">
                  <c:v>406.2</c:v>
                </c:pt>
                <c:pt idx="14">
                  <c:v>889</c:v>
                </c:pt>
                <c:pt idx="15">
                  <c:v>683.5</c:v>
                </c:pt>
                <c:pt idx="16">
                  <c:v>247.1</c:v>
                </c:pt>
                <c:pt idx="17">
                  <c:v>602</c:v>
                </c:pt>
                <c:pt idx="18">
                  <c:v>538.2</c:v>
                </c:pt>
                <c:pt idx="19">
                  <c:v>216.2</c:v>
                </c:pt>
                <c:pt idx="20">
                  <c:v>597.2</c:v>
                </c:pt>
                <c:pt idx="21">
                  <c:v>653.1</c:v>
                </c:pt>
                <c:pt idx="22">
                  <c:v>620.8</c:v>
                </c:pt>
                <c:pt idx="23">
                  <c:v>590.7</c:v>
                </c:pt>
                <c:pt idx="24">
                  <c:v>649.9</c:v>
                </c:pt>
                <c:pt idx="25">
                  <c:v>509.5</c:v>
                </c:pt>
                <c:pt idx="26">
                  <c:v>628.8</c:v>
                </c:pt>
                <c:pt idx="27">
                  <c:v>425.9</c:v>
                </c:pt>
                <c:pt idx="28">
                  <c:v>420.5</c:v>
                </c:pt>
                <c:pt idx="29">
                  <c:v>462.4</c:v>
                </c:pt>
                <c:pt idx="30">
                  <c:v>535.4</c:v>
                </c:pt>
                <c:pt idx="31">
                  <c:v>593.6</c:v>
                </c:pt>
                <c:pt idx="32">
                  <c:v>521</c:v>
                </c:pt>
                <c:pt idx="33">
                  <c:v>547.3</c:v>
                </c:pt>
                <c:pt idx="34">
                  <c:v>343.9</c:v>
                </c:pt>
                <c:pt idx="35">
                  <c:v>264</c:v>
                </c:pt>
                <c:pt idx="36">
                  <c:v>278.9</c:v>
                </c:pt>
                <c:pt idx="37">
                  <c:v>434.2</c:v>
                </c:pt>
                <c:pt idx="38">
                  <c:v>527.2</c:v>
                </c:pt>
                <c:pt idx="39">
                  <c:v>781.8</c:v>
                </c:pt>
                <c:pt idx="40">
                  <c:v>548.3</c:v>
                </c:pt>
                <c:pt idx="41">
                  <c:v>359.3</c:v>
                </c:pt>
                <c:pt idx="42">
                  <c:v>385.2</c:v>
                </c:pt>
                <c:pt idx="43">
                  <c:v>612.2</c:v>
                </c:pt>
                <c:pt idx="44">
                  <c:v>611</c:v>
                </c:pt>
                <c:pt idx="45">
                  <c:v>421.1</c:v>
                </c:pt>
                <c:pt idx="46">
                  <c:v>232.2</c:v>
                </c:pt>
                <c:pt idx="47">
                  <c:v>582.9</c:v>
                </c:pt>
                <c:pt idx="48">
                  <c:v>480.4</c:v>
                </c:pt>
                <c:pt idx="49">
                  <c:v>308.6</c:v>
                </c:pt>
                <c:pt idx="50">
                  <c:v>249.9</c:v>
                </c:pt>
                <c:pt idx="51">
                  <c:v>446.6</c:v>
                </c:pt>
                <c:pt idx="52">
                  <c:v>235.1</c:v>
                </c:pt>
                <c:pt idx="53">
                  <c:v>763.9</c:v>
                </c:pt>
                <c:pt idx="54">
                  <c:v>684.7</c:v>
                </c:pt>
                <c:pt idx="55">
                  <c:v>584.6</c:v>
                </c:pt>
                <c:pt idx="56">
                  <c:v>661.4</c:v>
                </c:pt>
                <c:pt idx="57">
                  <c:v>468.7</c:v>
                </c:pt>
                <c:pt idx="58">
                  <c:v>470.2</c:v>
                </c:pt>
                <c:pt idx="59">
                  <c:v>907.2</c:v>
                </c:pt>
                <c:pt idx="60">
                  <c:v>448.4</c:v>
                </c:pt>
                <c:pt idx="61">
                  <c:v>578.6</c:v>
                </c:pt>
                <c:pt idx="62">
                  <c:v>567.8</c:v>
                </c:pt>
                <c:pt idx="63">
                  <c:v>501.4</c:v>
                </c:pt>
                <c:pt idx="64">
                  <c:v>476.1</c:v>
                </c:pt>
                <c:pt idx="65">
                  <c:v>808.4</c:v>
                </c:pt>
                <c:pt idx="66">
                  <c:v>478.8</c:v>
                </c:pt>
                <c:pt idx="67">
                  <c:v>374.6</c:v>
                </c:pt>
                <c:pt idx="68">
                  <c:v>156.5</c:v>
                </c:pt>
                <c:pt idx="69">
                  <c:v>647.8</c:v>
                </c:pt>
                <c:pt idx="70">
                  <c:v>606.9</c:v>
                </c:pt>
                <c:pt idx="71">
                  <c:v>621.1</c:v>
                </c:pt>
                <c:pt idx="72">
                  <c:v>380.2</c:v>
                </c:pt>
                <c:pt idx="73">
                  <c:v>740.9</c:v>
                </c:pt>
                <c:pt idx="74">
                  <c:v>770</c:v>
                </c:pt>
                <c:pt idx="75">
                  <c:v>650.8</c:v>
                </c:pt>
                <c:pt idx="76">
                  <c:v>184</c:v>
                </c:pt>
                <c:pt idx="77">
                  <c:v>359.4</c:v>
                </c:pt>
                <c:pt idx="78">
                  <c:v>307.8</c:v>
                </c:pt>
                <c:pt idx="79">
                  <c:v>704.8</c:v>
                </c:pt>
                <c:pt idx="80">
                  <c:v>319.2</c:v>
                </c:pt>
                <c:pt idx="81">
                  <c:v>767.2</c:v>
                </c:pt>
                <c:pt idx="82">
                  <c:v>740.8</c:v>
                </c:pt>
                <c:pt idx="83">
                  <c:v>207.8</c:v>
                </c:pt>
                <c:pt idx="84">
                  <c:v>515.3</c:v>
                </c:pt>
                <c:pt idx="85">
                  <c:v>727.6</c:v>
                </c:pt>
                <c:pt idx="86">
                  <c:v>616.2</c:v>
                </c:pt>
                <c:pt idx="87">
                  <c:v>412.4</c:v>
                </c:pt>
                <c:pt idx="88">
                  <c:v>425</c:v>
                </c:pt>
                <c:pt idx="89">
                  <c:v>550.3</c:v>
                </c:pt>
                <c:pt idx="90">
                  <c:v>477.6</c:v>
                </c:pt>
                <c:pt idx="91">
                  <c:v>554.7</c:v>
                </c:pt>
                <c:pt idx="92">
                  <c:v>475.6</c:v>
                </c:pt>
                <c:pt idx="93">
                  <c:v>353.7</c:v>
                </c:pt>
                <c:pt idx="94">
                  <c:v>270.2</c:v>
                </c:pt>
                <c:pt idx="95">
                  <c:v>614.6</c:v>
                </c:pt>
                <c:pt idx="96">
                  <c:v>878.9</c:v>
                </c:pt>
                <c:pt idx="97">
                  <c:v>520.2</c:v>
                </c:pt>
                <c:pt idx="98">
                  <c:v>358.5</c:v>
                </c:pt>
                <c:pt idx="99">
                  <c:v>631.6</c:v>
                </c:pt>
                <c:pt idx="100">
                  <c:v>479.5</c:v>
                </c:pt>
              </c:numCache>
            </c:numRef>
          </c:xVal>
          <c:yVal>
            <c:numRef>
              <c:f>Sheet1!$B$2:$B$102</c:f>
              <c:numCache>
                <c:formatCode>General</c:formatCode>
                <c:ptCount val="101"/>
                <c:pt idx="0">
                  <c:v>377.1</c:v>
                </c:pt>
                <c:pt idx="1">
                  <c:v>768.7</c:v>
                </c:pt>
                <c:pt idx="2">
                  <c:v>491.7</c:v>
                </c:pt>
                <c:pt idx="3">
                  <c:v>536</c:v>
                </c:pt>
                <c:pt idx="4">
                  <c:v>502.8</c:v>
                </c:pt>
                <c:pt idx="5">
                  <c:v>525.2</c:v>
                </c:pt>
                <c:pt idx="6">
                  <c:v>446.1</c:v>
                </c:pt>
                <c:pt idx="7">
                  <c:v>578.3</c:v>
                </c:pt>
                <c:pt idx="8">
                  <c:v>361.9</c:v>
                </c:pt>
                <c:pt idx="9">
                  <c:v>414.7</c:v>
                </c:pt>
                <c:pt idx="10">
                  <c:v>288.2</c:v>
                </c:pt>
                <c:pt idx="11">
                  <c:v>362.4</c:v>
                </c:pt>
                <c:pt idx="12">
                  <c:v>618.2</c:v>
                </c:pt>
                <c:pt idx="13">
                  <c:v>406.2</c:v>
                </c:pt>
                <c:pt idx="14">
                  <c:v>889</c:v>
                </c:pt>
                <c:pt idx="15">
                  <c:v>683.5</c:v>
                </c:pt>
                <c:pt idx="16">
                  <c:v>247.1</c:v>
                </c:pt>
                <c:pt idx="17">
                  <c:v>602</c:v>
                </c:pt>
                <c:pt idx="18">
                  <c:v>538.2</c:v>
                </c:pt>
                <c:pt idx="19">
                  <c:v>216.2</c:v>
                </c:pt>
                <c:pt idx="20">
                  <c:v>597.2</c:v>
                </c:pt>
                <c:pt idx="21">
                  <c:v>653.1</c:v>
                </c:pt>
                <c:pt idx="22">
                  <c:v>620.8</c:v>
                </c:pt>
                <c:pt idx="23">
                  <c:v>590.7</c:v>
                </c:pt>
                <c:pt idx="24">
                  <c:v>649.9</c:v>
                </c:pt>
                <c:pt idx="25">
                  <c:v>509.5</c:v>
                </c:pt>
                <c:pt idx="26">
                  <c:v>628.8</c:v>
                </c:pt>
                <c:pt idx="27">
                  <c:v>425.9</c:v>
                </c:pt>
                <c:pt idx="28">
                  <c:v>420.5</c:v>
                </c:pt>
                <c:pt idx="29">
                  <c:v>462.4</c:v>
                </c:pt>
                <c:pt idx="30">
                  <c:v>535.4</c:v>
                </c:pt>
                <c:pt idx="31">
                  <c:v>593.6</c:v>
                </c:pt>
                <c:pt idx="32">
                  <c:v>521</c:v>
                </c:pt>
                <c:pt idx="33">
                  <c:v>547.3</c:v>
                </c:pt>
                <c:pt idx="34">
                  <c:v>343.9</c:v>
                </c:pt>
                <c:pt idx="35">
                  <c:v>264</c:v>
                </c:pt>
                <c:pt idx="36">
                  <c:v>278.9</c:v>
                </c:pt>
                <c:pt idx="37">
                  <c:v>434.2</c:v>
                </c:pt>
                <c:pt idx="38">
                  <c:v>527.2</c:v>
                </c:pt>
                <c:pt idx="39">
                  <c:v>781.8</c:v>
                </c:pt>
                <c:pt idx="40">
                  <c:v>548.3</c:v>
                </c:pt>
                <c:pt idx="41">
                  <c:v>359.3</c:v>
                </c:pt>
                <c:pt idx="42">
                  <c:v>385.2</c:v>
                </c:pt>
                <c:pt idx="43">
                  <c:v>612.2</c:v>
                </c:pt>
                <c:pt idx="44">
                  <c:v>611</c:v>
                </c:pt>
                <c:pt idx="45">
                  <c:v>421.1</c:v>
                </c:pt>
                <c:pt idx="46">
                  <c:v>232.2</c:v>
                </c:pt>
                <c:pt idx="47">
                  <c:v>582.9</c:v>
                </c:pt>
                <c:pt idx="48">
                  <c:v>480.4</c:v>
                </c:pt>
                <c:pt idx="49">
                  <c:v>308.6</c:v>
                </c:pt>
                <c:pt idx="50">
                  <c:v>249.9</c:v>
                </c:pt>
                <c:pt idx="51">
                  <c:v>446.6</c:v>
                </c:pt>
                <c:pt idx="52">
                  <c:v>235.1</c:v>
                </c:pt>
                <c:pt idx="53">
                  <c:v>763.9</c:v>
                </c:pt>
                <c:pt idx="54">
                  <c:v>684.7</c:v>
                </c:pt>
                <c:pt idx="55">
                  <c:v>584.6</c:v>
                </c:pt>
                <c:pt idx="56">
                  <c:v>661.4</c:v>
                </c:pt>
                <c:pt idx="57">
                  <c:v>468.7</c:v>
                </c:pt>
                <c:pt idx="58">
                  <c:v>470.2</c:v>
                </c:pt>
                <c:pt idx="59">
                  <c:v>907.2</c:v>
                </c:pt>
                <c:pt idx="60">
                  <c:v>448.4</c:v>
                </c:pt>
                <c:pt idx="61">
                  <c:v>578.6</c:v>
                </c:pt>
                <c:pt idx="62">
                  <c:v>567.8</c:v>
                </c:pt>
                <c:pt idx="63">
                  <c:v>501.4</c:v>
                </c:pt>
                <c:pt idx="64">
                  <c:v>476.1</c:v>
                </c:pt>
                <c:pt idx="65">
                  <c:v>808.4</c:v>
                </c:pt>
                <c:pt idx="66">
                  <c:v>478.8</c:v>
                </c:pt>
                <c:pt idx="67">
                  <c:v>374.6</c:v>
                </c:pt>
                <c:pt idx="68">
                  <c:v>156.5</c:v>
                </c:pt>
                <c:pt idx="69">
                  <c:v>647.8</c:v>
                </c:pt>
                <c:pt idx="70">
                  <c:v>606.9</c:v>
                </c:pt>
                <c:pt idx="71">
                  <c:v>621.1</c:v>
                </c:pt>
                <c:pt idx="72">
                  <c:v>380.2</c:v>
                </c:pt>
                <c:pt idx="73">
                  <c:v>740.9</c:v>
                </c:pt>
                <c:pt idx="74">
                  <c:v>770</c:v>
                </c:pt>
                <c:pt idx="75">
                  <c:v>650.8</c:v>
                </c:pt>
                <c:pt idx="76">
                  <c:v>184</c:v>
                </c:pt>
                <c:pt idx="77">
                  <c:v>359.4</c:v>
                </c:pt>
                <c:pt idx="78">
                  <c:v>307.8</c:v>
                </c:pt>
                <c:pt idx="79">
                  <c:v>704.8</c:v>
                </c:pt>
                <c:pt idx="80">
                  <c:v>319.2</c:v>
                </c:pt>
                <c:pt idx="81">
                  <c:v>767.2</c:v>
                </c:pt>
                <c:pt idx="82">
                  <c:v>740.8</c:v>
                </c:pt>
                <c:pt idx="83">
                  <c:v>207.8</c:v>
                </c:pt>
                <c:pt idx="84">
                  <c:v>515.3</c:v>
                </c:pt>
                <c:pt idx="85">
                  <c:v>727.6</c:v>
                </c:pt>
                <c:pt idx="86">
                  <c:v>616.2</c:v>
                </c:pt>
                <c:pt idx="87">
                  <c:v>412.4</c:v>
                </c:pt>
                <c:pt idx="88">
                  <c:v>425</c:v>
                </c:pt>
                <c:pt idx="89">
                  <c:v>550.3</c:v>
                </c:pt>
                <c:pt idx="90">
                  <c:v>477.6</c:v>
                </c:pt>
                <c:pt idx="91">
                  <c:v>554.7</c:v>
                </c:pt>
                <c:pt idx="92">
                  <c:v>475.6</c:v>
                </c:pt>
                <c:pt idx="93">
                  <c:v>353.7</c:v>
                </c:pt>
                <c:pt idx="94">
                  <c:v>270.2</c:v>
                </c:pt>
                <c:pt idx="95">
                  <c:v>614.6</c:v>
                </c:pt>
                <c:pt idx="96">
                  <c:v>878.9</c:v>
                </c:pt>
                <c:pt idx="97">
                  <c:v>520.2</c:v>
                </c:pt>
                <c:pt idx="98">
                  <c:v>358.5</c:v>
                </c:pt>
                <c:pt idx="99">
                  <c:v>631.6</c:v>
                </c:pt>
                <c:pt idx="100">
                  <c:v>479.5</c:v>
                </c:pt>
              </c:numCache>
            </c:numRef>
          </c:yVal>
          <c:smooth val="0"/>
        </c:ser>
        <c:ser>
          <c:idx val="1"/>
          <c:order val="1"/>
          <c:tx>
            <c:strRef>
              <c:f>Sheet1!$C$1</c:f>
              <c:strCache>
                <c:ptCount val="1"/>
                <c:pt idx="0">
                  <c:v>Predicted score</c:v>
                </c:pt>
              </c:strCache>
            </c:strRef>
          </c:tx>
          <c:spPr>
            <a:solidFill>
              <a:srgbClr val="FF5A36"/>
            </a:solidFill>
            <a:ln>
              <a:noFill/>
            </a:ln>
            <a:effectLst/>
          </c:spPr>
          <c:marker>
            <c:symbol val="circle"/>
            <c:size val="6"/>
            <c:spPr>
              <a:solidFill>
                <a:srgbClr val="FF5A36"/>
              </a:solidFill>
              <a:ln w="9525" cap="flat">
                <a:solidFill>
                  <a:srgbClr val="FF5A36"/>
                </a:solidFill>
                <a:prstDash val="solid"/>
                <a:round/>
              </a:ln>
              <a:effectLst/>
            </c:spPr>
          </c:marker>
          <c:xVal>
            <c:numRef>
              <c:f>Sheet1!$A$2:$A$102</c:f>
              <c:numCache>
                <c:formatCode>General</c:formatCode>
                <c:ptCount val="101"/>
                <c:pt idx="0">
                  <c:v>377.1</c:v>
                </c:pt>
                <c:pt idx="1">
                  <c:v>768.7</c:v>
                </c:pt>
                <c:pt idx="2">
                  <c:v>491.7</c:v>
                </c:pt>
                <c:pt idx="3">
                  <c:v>536</c:v>
                </c:pt>
                <c:pt idx="4">
                  <c:v>502.8</c:v>
                </c:pt>
                <c:pt idx="5">
                  <c:v>525.2</c:v>
                </c:pt>
                <c:pt idx="6">
                  <c:v>446.1</c:v>
                </c:pt>
                <c:pt idx="7">
                  <c:v>578.3</c:v>
                </c:pt>
                <c:pt idx="8">
                  <c:v>361.9</c:v>
                </c:pt>
                <c:pt idx="9">
                  <c:v>414.7</c:v>
                </c:pt>
                <c:pt idx="10">
                  <c:v>288.2</c:v>
                </c:pt>
                <c:pt idx="11">
                  <c:v>362.4</c:v>
                </c:pt>
                <c:pt idx="12">
                  <c:v>618.2</c:v>
                </c:pt>
                <c:pt idx="13">
                  <c:v>406.2</c:v>
                </c:pt>
                <c:pt idx="14">
                  <c:v>889</c:v>
                </c:pt>
                <c:pt idx="15">
                  <c:v>683.5</c:v>
                </c:pt>
                <c:pt idx="16">
                  <c:v>247.1</c:v>
                </c:pt>
                <c:pt idx="17">
                  <c:v>602</c:v>
                </c:pt>
                <c:pt idx="18">
                  <c:v>538.2</c:v>
                </c:pt>
                <c:pt idx="19">
                  <c:v>216.2</c:v>
                </c:pt>
                <c:pt idx="20">
                  <c:v>597.2</c:v>
                </c:pt>
                <c:pt idx="21">
                  <c:v>653.1</c:v>
                </c:pt>
                <c:pt idx="22">
                  <c:v>620.8</c:v>
                </c:pt>
                <c:pt idx="23">
                  <c:v>590.7</c:v>
                </c:pt>
                <c:pt idx="24">
                  <c:v>649.9</c:v>
                </c:pt>
                <c:pt idx="25">
                  <c:v>509.5</c:v>
                </c:pt>
                <c:pt idx="26">
                  <c:v>628.8</c:v>
                </c:pt>
                <c:pt idx="27">
                  <c:v>425.9</c:v>
                </c:pt>
                <c:pt idx="28">
                  <c:v>420.5</c:v>
                </c:pt>
                <c:pt idx="29">
                  <c:v>462.4</c:v>
                </c:pt>
                <c:pt idx="30">
                  <c:v>535.4</c:v>
                </c:pt>
                <c:pt idx="31">
                  <c:v>593.6</c:v>
                </c:pt>
                <c:pt idx="32">
                  <c:v>521</c:v>
                </c:pt>
                <c:pt idx="33">
                  <c:v>547.3</c:v>
                </c:pt>
                <c:pt idx="34">
                  <c:v>343.9</c:v>
                </c:pt>
                <c:pt idx="35">
                  <c:v>264</c:v>
                </c:pt>
                <c:pt idx="36">
                  <c:v>278.9</c:v>
                </c:pt>
                <c:pt idx="37">
                  <c:v>434.2</c:v>
                </c:pt>
                <c:pt idx="38">
                  <c:v>527.2</c:v>
                </c:pt>
                <c:pt idx="39">
                  <c:v>781.8</c:v>
                </c:pt>
                <c:pt idx="40">
                  <c:v>548.3</c:v>
                </c:pt>
                <c:pt idx="41">
                  <c:v>359.3</c:v>
                </c:pt>
                <c:pt idx="42">
                  <c:v>385.2</c:v>
                </c:pt>
                <c:pt idx="43">
                  <c:v>612.2</c:v>
                </c:pt>
                <c:pt idx="44">
                  <c:v>611</c:v>
                </c:pt>
                <c:pt idx="45">
                  <c:v>421.1</c:v>
                </c:pt>
                <c:pt idx="46">
                  <c:v>232.2</c:v>
                </c:pt>
                <c:pt idx="47">
                  <c:v>582.9</c:v>
                </c:pt>
                <c:pt idx="48">
                  <c:v>480.4</c:v>
                </c:pt>
                <c:pt idx="49">
                  <c:v>308.6</c:v>
                </c:pt>
                <c:pt idx="50">
                  <c:v>249.9</c:v>
                </c:pt>
                <c:pt idx="51">
                  <c:v>446.6</c:v>
                </c:pt>
                <c:pt idx="52">
                  <c:v>235.1</c:v>
                </c:pt>
                <c:pt idx="53">
                  <c:v>763.9</c:v>
                </c:pt>
                <c:pt idx="54">
                  <c:v>684.7</c:v>
                </c:pt>
                <c:pt idx="55">
                  <c:v>584.6</c:v>
                </c:pt>
                <c:pt idx="56">
                  <c:v>661.4</c:v>
                </c:pt>
                <c:pt idx="57">
                  <c:v>468.7</c:v>
                </c:pt>
                <c:pt idx="58">
                  <c:v>470.2</c:v>
                </c:pt>
                <c:pt idx="59">
                  <c:v>907.2</c:v>
                </c:pt>
                <c:pt idx="60">
                  <c:v>448.4</c:v>
                </c:pt>
                <c:pt idx="61">
                  <c:v>578.6</c:v>
                </c:pt>
                <c:pt idx="62">
                  <c:v>567.8</c:v>
                </c:pt>
                <c:pt idx="63">
                  <c:v>501.4</c:v>
                </c:pt>
                <c:pt idx="64">
                  <c:v>476.1</c:v>
                </c:pt>
                <c:pt idx="65">
                  <c:v>808.4</c:v>
                </c:pt>
                <c:pt idx="66">
                  <c:v>478.8</c:v>
                </c:pt>
                <c:pt idx="67">
                  <c:v>374.6</c:v>
                </c:pt>
                <c:pt idx="68">
                  <c:v>156.5</c:v>
                </c:pt>
                <c:pt idx="69">
                  <c:v>647.8</c:v>
                </c:pt>
                <c:pt idx="70">
                  <c:v>606.9</c:v>
                </c:pt>
                <c:pt idx="71">
                  <c:v>621.1</c:v>
                </c:pt>
                <c:pt idx="72">
                  <c:v>380.2</c:v>
                </c:pt>
                <c:pt idx="73">
                  <c:v>740.9</c:v>
                </c:pt>
                <c:pt idx="74">
                  <c:v>770</c:v>
                </c:pt>
                <c:pt idx="75">
                  <c:v>650.8</c:v>
                </c:pt>
                <c:pt idx="76">
                  <c:v>184</c:v>
                </c:pt>
                <c:pt idx="77">
                  <c:v>359.4</c:v>
                </c:pt>
                <c:pt idx="78">
                  <c:v>307.8</c:v>
                </c:pt>
                <c:pt idx="79">
                  <c:v>704.8</c:v>
                </c:pt>
                <c:pt idx="80">
                  <c:v>319.2</c:v>
                </c:pt>
                <c:pt idx="81">
                  <c:v>767.2</c:v>
                </c:pt>
                <c:pt idx="82">
                  <c:v>740.8</c:v>
                </c:pt>
                <c:pt idx="83">
                  <c:v>207.8</c:v>
                </c:pt>
                <c:pt idx="84">
                  <c:v>515.3</c:v>
                </c:pt>
                <c:pt idx="85">
                  <c:v>727.6</c:v>
                </c:pt>
                <c:pt idx="86">
                  <c:v>616.2</c:v>
                </c:pt>
                <c:pt idx="87">
                  <c:v>412.4</c:v>
                </c:pt>
                <c:pt idx="88">
                  <c:v>425</c:v>
                </c:pt>
                <c:pt idx="89">
                  <c:v>550.3</c:v>
                </c:pt>
                <c:pt idx="90">
                  <c:v>477.6</c:v>
                </c:pt>
                <c:pt idx="91">
                  <c:v>554.7</c:v>
                </c:pt>
                <c:pt idx="92">
                  <c:v>475.6</c:v>
                </c:pt>
                <c:pt idx="93">
                  <c:v>353.7</c:v>
                </c:pt>
                <c:pt idx="94">
                  <c:v>270.2</c:v>
                </c:pt>
                <c:pt idx="95">
                  <c:v>614.6</c:v>
                </c:pt>
                <c:pt idx="96">
                  <c:v>878.9</c:v>
                </c:pt>
                <c:pt idx="97">
                  <c:v>520.2</c:v>
                </c:pt>
                <c:pt idx="98">
                  <c:v>358.5</c:v>
                </c:pt>
                <c:pt idx="99">
                  <c:v>631.6</c:v>
                </c:pt>
                <c:pt idx="100">
                  <c:v>479.5</c:v>
                </c:pt>
              </c:numCache>
            </c:numRef>
          </c:xVal>
          <c:yVal>
            <c:numRef>
              <c:f>Sheet1!$C$2:$C$102</c:f>
              <c:numCache>
                <c:formatCode>General</c:formatCode>
                <c:ptCount val="101"/>
                <c:pt idx="0">
                  <c:v>488.8</c:v>
                </c:pt>
                <c:pt idx="1">
                  <c:v>757.3</c:v>
                </c:pt>
                <c:pt idx="2">
                  <c:v>508.9</c:v>
                </c:pt>
                <c:pt idx="3">
                  <c:v>496.8</c:v>
                </c:pt>
                <c:pt idx="4">
                  <c:v>536.9</c:v>
                </c:pt>
                <c:pt idx="5">
                  <c:v>422</c:v>
                </c:pt>
                <c:pt idx="6">
                  <c:v>492.3</c:v>
                </c:pt>
                <c:pt idx="7">
                  <c:v>537.5</c:v>
                </c:pt>
                <c:pt idx="8">
                  <c:v>370.8</c:v>
                </c:pt>
                <c:pt idx="9">
                  <c:v>382</c:v>
                </c:pt>
                <c:pt idx="10">
                  <c:v>250.7</c:v>
                </c:pt>
                <c:pt idx="11">
                  <c:v>391.5</c:v>
                </c:pt>
                <c:pt idx="12">
                  <c:v>611</c:v>
                </c:pt>
                <c:pt idx="13">
                  <c:v>464.2</c:v>
                </c:pt>
                <c:pt idx="14">
                  <c:v>860.8</c:v>
                </c:pt>
                <c:pt idx="15">
                  <c:v>692.6</c:v>
                </c:pt>
                <c:pt idx="16">
                  <c:v>235.7</c:v>
                </c:pt>
                <c:pt idx="17">
                  <c:v>648.2</c:v>
                </c:pt>
                <c:pt idx="18">
                  <c:v>568.5</c:v>
                </c:pt>
                <c:pt idx="19">
                  <c:v>243.3</c:v>
                </c:pt>
                <c:pt idx="20">
                  <c:v>598.3</c:v>
                </c:pt>
                <c:pt idx="21">
                  <c:v>654.5</c:v>
                </c:pt>
                <c:pt idx="22">
                  <c:v>609.9</c:v>
                </c:pt>
                <c:pt idx="23">
                  <c:v>590.3</c:v>
                </c:pt>
                <c:pt idx="24">
                  <c:v>624.8</c:v>
                </c:pt>
                <c:pt idx="25">
                  <c:v>541.3</c:v>
                </c:pt>
                <c:pt idx="26">
                  <c:v>617.4</c:v>
                </c:pt>
                <c:pt idx="27">
                  <c:v>412.2</c:v>
                </c:pt>
                <c:pt idx="28">
                  <c:v>513</c:v>
                </c:pt>
                <c:pt idx="29">
                  <c:v>477.8</c:v>
                </c:pt>
                <c:pt idx="30">
                  <c:v>488</c:v>
                </c:pt>
                <c:pt idx="31">
                  <c:v>603.9</c:v>
                </c:pt>
                <c:pt idx="32">
                  <c:v>474.4</c:v>
                </c:pt>
                <c:pt idx="33">
                  <c:v>541.2</c:v>
                </c:pt>
                <c:pt idx="34">
                  <c:v>327.8</c:v>
                </c:pt>
                <c:pt idx="35">
                  <c:v>310.2</c:v>
                </c:pt>
                <c:pt idx="36">
                  <c:v>318.1</c:v>
                </c:pt>
                <c:pt idx="37">
                  <c:v>320.2</c:v>
                </c:pt>
                <c:pt idx="38">
                  <c:v>490.4</c:v>
                </c:pt>
                <c:pt idx="39">
                  <c:v>824.1</c:v>
                </c:pt>
                <c:pt idx="40">
                  <c:v>438.5</c:v>
                </c:pt>
                <c:pt idx="41">
                  <c:v>346.8</c:v>
                </c:pt>
                <c:pt idx="42">
                  <c:v>370.8</c:v>
                </c:pt>
                <c:pt idx="43">
                  <c:v>561.5</c:v>
                </c:pt>
                <c:pt idx="44">
                  <c:v>646</c:v>
                </c:pt>
                <c:pt idx="45">
                  <c:v>445.1</c:v>
                </c:pt>
                <c:pt idx="46">
                  <c:v>338.2</c:v>
                </c:pt>
                <c:pt idx="47">
                  <c:v>558.8</c:v>
                </c:pt>
                <c:pt idx="48">
                  <c:v>511.4</c:v>
                </c:pt>
                <c:pt idx="49">
                  <c:v>340.8</c:v>
                </c:pt>
                <c:pt idx="50">
                  <c:v>240.7</c:v>
                </c:pt>
                <c:pt idx="51">
                  <c:v>494.8</c:v>
                </c:pt>
                <c:pt idx="52">
                  <c:v>321.3</c:v>
                </c:pt>
                <c:pt idx="53">
                  <c:v>745.5</c:v>
                </c:pt>
                <c:pt idx="54">
                  <c:v>628.9</c:v>
                </c:pt>
                <c:pt idx="55">
                  <c:v>534.2</c:v>
                </c:pt>
                <c:pt idx="56">
                  <c:v>600.3</c:v>
                </c:pt>
                <c:pt idx="57">
                  <c:v>518.2</c:v>
                </c:pt>
                <c:pt idx="58">
                  <c:v>506.5</c:v>
                </c:pt>
                <c:pt idx="59">
                  <c:v>879.1</c:v>
                </c:pt>
                <c:pt idx="60">
                  <c:v>409.9</c:v>
                </c:pt>
                <c:pt idx="61">
                  <c:v>563.1</c:v>
                </c:pt>
                <c:pt idx="62">
                  <c:v>631.6</c:v>
                </c:pt>
                <c:pt idx="63">
                  <c:v>520.1</c:v>
                </c:pt>
                <c:pt idx="64">
                  <c:v>436.3</c:v>
                </c:pt>
                <c:pt idx="65">
                  <c:v>721.9</c:v>
                </c:pt>
                <c:pt idx="66">
                  <c:v>464.6</c:v>
                </c:pt>
                <c:pt idx="67">
                  <c:v>421.4</c:v>
                </c:pt>
                <c:pt idx="68">
                  <c:v>185.5</c:v>
                </c:pt>
                <c:pt idx="69">
                  <c:v>654.2</c:v>
                </c:pt>
                <c:pt idx="70">
                  <c:v>573.4</c:v>
                </c:pt>
                <c:pt idx="71">
                  <c:v>603.5</c:v>
                </c:pt>
                <c:pt idx="72">
                  <c:v>406.9</c:v>
                </c:pt>
                <c:pt idx="73">
                  <c:v>772.3</c:v>
                </c:pt>
                <c:pt idx="74">
                  <c:v>839.7</c:v>
                </c:pt>
                <c:pt idx="75">
                  <c:v>648.6</c:v>
                </c:pt>
                <c:pt idx="76">
                  <c:v>179.1</c:v>
                </c:pt>
                <c:pt idx="77">
                  <c:v>358.4</c:v>
                </c:pt>
                <c:pt idx="78">
                  <c:v>371.8</c:v>
                </c:pt>
                <c:pt idx="79">
                  <c:v>563.4</c:v>
                </c:pt>
                <c:pt idx="80">
                  <c:v>370.5</c:v>
                </c:pt>
                <c:pt idx="81">
                  <c:v>763.7</c:v>
                </c:pt>
                <c:pt idx="82">
                  <c:v>722.5</c:v>
                </c:pt>
                <c:pt idx="83">
                  <c:v>211.5</c:v>
                </c:pt>
                <c:pt idx="84">
                  <c:v>502.7</c:v>
                </c:pt>
                <c:pt idx="85">
                  <c:v>752.9</c:v>
                </c:pt>
                <c:pt idx="86">
                  <c:v>647.8</c:v>
                </c:pt>
                <c:pt idx="87">
                  <c:v>472</c:v>
                </c:pt>
                <c:pt idx="88">
                  <c:v>400</c:v>
                </c:pt>
                <c:pt idx="89">
                  <c:v>594</c:v>
                </c:pt>
                <c:pt idx="90">
                  <c:v>472.2</c:v>
                </c:pt>
                <c:pt idx="91">
                  <c:v>566.6</c:v>
                </c:pt>
                <c:pt idx="92">
                  <c:v>491.9</c:v>
                </c:pt>
                <c:pt idx="93">
                  <c:v>363.2</c:v>
                </c:pt>
                <c:pt idx="94">
                  <c:v>294</c:v>
                </c:pt>
                <c:pt idx="95">
                  <c:v>605.1</c:v>
                </c:pt>
                <c:pt idx="96">
                  <c:v>864.4</c:v>
                </c:pt>
                <c:pt idx="97">
                  <c:v>549.6</c:v>
                </c:pt>
                <c:pt idx="98">
                  <c:v>367.3</c:v>
                </c:pt>
                <c:pt idx="99">
                  <c:v>647.4</c:v>
                </c:pt>
                <c:pt idx="100">
                  <c:v>505.5</c:v>
                </c:pt>
              </c:numCache>
            </c:numRef>
          </c:yVal>
          <c:smooth val="0"/>
        </c:ser>
        <c:dLbls>
          <c:numFmt formatCode="General" sourceLinked="0"/>
          <c:txPr>
            <a:bodyPr/>
            <a:lstStyle/>
            <a:p>
              <a:pPr>
                <a:defRPr b="0" i="0" strike="noStrike" sz="1100" u="none">
                  <a:solidFill>
                    <a:schemeClr val="tx1"/>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000"/>
          <c:min val="0"/>
        </c:scaling>
        <c:delete val="0"/>
        <c:axPos val="b"/>
        <c:majorGridlines>
          <c:spPr>
            <a:ln w="6350" cap="flat">
              <a:solidFill>
                <a:srgbClr val="E3E6EB"/>
              </a:solidFill>
              <a:prstDash val="solid"/>
              <a:round/>
            </a:ln>
          </c:spPr>
        </c:majorGridlines>
        <c:title>
          <c:tx>
            <c:rich>
              <a:bodyPr/>
              <a:lstStyle/>
              <a:p>
                <a:pPr>
                  <a:defRPr sz="1200" b="0" i="0" u="none" strike="noStrike">
                    <a:solidFill>
                      <a:schemeClr val="tx2"/>
                    </a:solidFill>
                    <a:latin typeface="+mn-lt"/>
                  </a:defRPr>
                </a:pPr>
                <a:r>
                  <a:rPr sz="1200" b="0" i="0" u="none" strike="noStrike">
                    <a:solidFill>
                      <a:schemeClr val="tx2"/>
                    </a:solidFill>
                    <a:latin typeface="+mn-lt"/>
                  </a:rPr>
                  <a:t>Actual</a:t>
                </a:r>
              </a:p>
            </c:rich>
          </c:tx>
          <c:layout/>
          <c:overlay val="0"/>
        </c:title>
        <c:numFmt formatCode="General" sourceLinked="1"/>
        <c:majorTickMark val="none"/>
        <c:minorTickMark val="none"/>
        <c:tickLblPos val="nextTo"/>
        <c:spPr>
          <a:ln w="12700" cap="flat">
            <a:no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valAx>
      <c:valAx>
        <c:axId val="2094734552"/>
        <c:scaling>
          <c:orientation val="minMax"/>
          <c:max val="1000"/>
          <c:min val="0"/>
        </c:scaling>
        <c:delete val="0"/>
        <c:axPos val="l"/>
        <c:majorGridlines>
          <c:spPr>
            <a:ln w="6350" cap="flat">
              <a:solidFill>
                <a:srgbClr val="E3E6EB"/>
              </a:solidFill>
              <a:prstDash val="solid"/>
              <a:round/>
            </a:ln>
          </c:spPr>
        </c:majorGridlines>
        <c:title>
          <c:tx>
            <c:rich>
              <a:bodyPr/>
              <a:lstStyle/>
              <a:p>
                <a:pPr>
                  <a:defRPr sz="1200" b="0" i="0" u="none" strike="noStrike">
                    <a:solidFill>
                      <a:schemeClr val="tx2"/>
                    </a:solidFill>
                    <a:latin typeface="+mn-lt"/>
                  </a:defRPr>
                </a:pPr>
                <a:r>
                  <a:rPr sz="1200" b="0" i="0" u="none" strike="noStrike">
                    <a:solidFill>
                      <a:schemeClr val="tx2"/>
                    </a:solidFill>
                    <a:latin typeface="+mn-lt"/>
                  </a:rPr>
                  <a:t>Predicted</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chemeClr val="tx2"/>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200">
              <a:solidFill>
                <a:schemeClr val="tx2"/>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a supervised regression model that predicts a PC's Performance Score from its hardware, built into a real-time PC builder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there are thousands of PC configurations and no easy way to estimate performance without benchmarking, and raw records are messy. Our four objectives follow from that. The learning type is supervised regression: every PC in the data has a known score, and we predict a number, so we do not need unsupervised methods such as clustering, or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 raw records with 11 attributes each. Before cleaning we found 156 missing cells (26 in each of six columns), 11 different spellings of the operating system plus 26 blanks, 9 RAM values stored as text, 9 duplicate rows and 8 values that are physically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src/preprocess.py applies seven steps in this order. The result exactly matches the cleaned CSV from Review-1. Encoding and scaling are not done here; they happen inside the model pipeline so they are fitted on the training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more than half the PCs are Medium; Very High has only 11 PCs. Scores average 509 and range from 97.65 to 1000. Right: RAM, CPU cores and GPU level have the strongest positive correlation with the score; age and temperature lower it; storage barely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80/20 split (402 training, 101 test PCs). Each model is a pipeline that scales the 7 numeric attributes and one-hot encodes OS, tuned with 5-fold GridSearchCV. Training vs test R² shows overfitting: kNN scores 1.00 on training data but 0.80 on test data. SVR, Linear and Ridge are within one standard error of each other, so we keep the simplest, Linear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predicts the score as a weighted sum of the attributes. The weights are fitted by ordinary least squares, which is the maximum-likelihood estimate when errors are Gaussian. On 101 unseen PCs it explains about 93% of the variation, with a typical error of about 34 points. Strong Ridge regularization only made it worse, so no penalty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Streamlit app lets a user pick real parts from a 222-part catalog. Each choice filters the next, the build is checked for compatibility, converted into the 8 model inputs, and the score updates live. Game FPS is a separate rule-based estimate, not the ML model, because the dataset has no FPS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course units appear in the project. Unit III gives the final model; Units II, III and V supply the alternatives we compared; Unit IV is how we evaluated them. Clustering, classification methods and concept learning were not used, for the reasons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results, be upfront about the limitations, mention the next steps,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337560"/>
            <a:ext cx="7680960" cy="10058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2743200" cy="1097280"/>
          </a:xfrm>
          <a:prstGeom prst="rect">
            <a:avLst/>
          </a:prstGeom>
          <a:noFill/>
          <a:ln/>
        </p:spPr>
        <p:txBody>
          <a:bodyPr wrap="square" rtlCol="0"/>
          <a:lstStyle>
            <a:lvl1pPr indent="0" marL="0">
              <a:buNone/>
              <a:defRPr lang="en-US" sz="6600" b="1" dirty="0">
                <a:solidFill>
                  <a:schemeClr val="accent1"/>
                </a:solidFill>
              </a:defRPr>
            </a:lvl1pPr>
          </a:lstStyle>
          <a:p>
            <a:pPr indent="0" marL="0">
              <a:buNone/>
            </a:pPr>
            <a:endParaRPr lang="en-US" sz="6600" dirty="0"/>
          </a:p>
        </p:txBody>
      </p:sp>
      <p:sp>
        <p:nvSpPr>
          <p:cNvPr id="3" name="Text 0"/>
          <p:cNvSpPr/>
          <p:nvPr>
            <p:ph idx="101" type="title" hasCustomPrompt="1"/>
          </p:nvPr>
        </p:nvSpPr>
        <p:spPr>
          <a:xfrm>
            <a:off x="548640" y="3017520"/>
            <a:ext cx="100584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77640"/>
            <a:ext cx="914400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PC Performance Predictor  |  Team 7</a:t>
            </a:r>
            <a:endParaRPr lang="en-US" sz="10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chart" Target="/ppt/charts/chart3.xm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1371600"/>
          </a:xfrm>
          <a:prstGeom prst="rect">
            <a:avLst/>
          </a:prstGeom>
          <a:noFill/>
          <a:ln/>
        </p:spPr>
        <p:txBody>
          <a:bodyPr wrap="square" lIns="0" tIns="0" rIns="0" bIns="0" rtlCol="0" anchor="b"/>
          <a:lstStyle/>
          <a:p>
            <a:pPr algn="l" indent="0" marL="0">
              <a:buNone/>
            </a:pPr>
            <a:r>
              <a:rPr lang="en-US" sz="4800" b="1" dirty="0">
                <a:solidFill>
                  <a:schemeClr val="bg1"/>
                </a:solidFill>
              </a:rPr>
              <a:t>PC Performance Predictor</a:t>
            </a:r>
            <a:endParaRPr lang="en-US" sz="4800" dirty="0"/>
          </a:p>
        </p:txBody>
      </p:sp>
      <p:sp>
        <p:nvSpPr>
          <p:cNvPr id="3" name="Text 0"/>
          <p:cNvSpPr/>
          <p:nvPr>
            <p:ph idx="101" type="body" hasCustomPrompt="1"/>
          </p:nvPr>
        </p:nvSpPr>
        <p:spPr>
          <a:xfrm>
            <a:off x="548640" y="3337560"/>
            <a:ext cx="7680960" cy="1005840"/>
          </a:xfrm>
          <a:prstGeom prst="rect">
            <a:avLst/>
          </a:prstGeom>
          <a:noFill/>
          <a:ln/>
        </p:spPr>
        <p:txBody>
          <a:bodyPr wrap="square" lIns="0" tIns="0" rIns="0" bIns="0" rtlCol="0" anchor="t"/>
          <a:lstStyle/>
          <a:p>
            <a:pPr indent="0" marL="0">
              <a:buNone/>
            </a:pPr>
            <a:r>
              <a:rPr lang="en-US" sz="2000" dirty="0">
                <a:solidFill>
                  <a:schemeClr val="bg2"/>
                </a:solidFill>
              </a:rPr>
              <a:t>Predicting a PC's performance score from its hardware using supervised learning (regression), with a real-time PC builder app</a:t>
            </a:r>
            <a:endParaRPr lang="en-US" sz="2000" dirty="0"/>
          </a:p>
        </p:txBody>
      </p:sp>
      <p:sp>
        <p:nvSpPr>
          <p:cNvPr id="4" name="Title chip circle"/>
          <p:cNvSpPr/>
          <p:nvPr/>
        </p:nvSpPr>
        <p:spPr>
          <a:xfrm>
            <a:off x="9006840" y="1600200"/>
            <a:ext cx="2377440" cy="2377440"/>
          </a:xfrm>
          <a:prstGeom prst="ellipse">
            <a:avLst/>
          </a:prstGeom>
          <a:solidFill>
            <a:schemeClr val="accent1"/>
          </a:solidFill>
          <a:ln w="12700">
            <a:solidFill>
              <a:schemeClr val="accent1"/>
            </a:solidFill>
            <a:prstDash val="solid"/>
          </a:ln>
        </p:spPr>
      </p:sp>
      <p:pic>
        <p:nvPicPr>
          <p:cNvPr id="5" name="Title chip icon" descr="preencoded.png">    </p:cNvPr>
          <p:cNvPicPr>
            <a:picLocks noChangeAspect="1"/>
          </p:cNvPicPr>
          <p:nvPr/>
        </p:nvPicPr>
        <p:blipFill>
          <a:blip r:embed="rId1"/>
          <a:stretch>
            <a:fillRect/>
          </a:stretch>
        </p:blipFill>
        <p:spPr>
          <a:xfrm>
            <a:off x="9624974" y="2218334"/>
            <a:ext cx="1141171" cy="1141171"/>
          </a:xfrm>
          <a:prstGeom prst="rect">
            <a:avLst/>
          </a:prstGeom>
        </p:spPr>
      </p:pic>
      <p:sp>
        <p:nvSpPr>
          <p:cNvPr id="6" name="Team label"/>
          <p:cNvSpPr txBox="1"/>
          <p:nvPr/>
        </p:nvSpPr>
        <p:spPr>
          <a:xfrm>
            <a:off x="548640" y="480060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Team 7  (TT - 5)</a:t>
            </a:r>
            <a:endParaRPr lang="en-US" sz="1800" dirty="0"/>
          </a:p>
        </p:txBody>
      </p:sp>
      <p:sp>
        <p:nvSpPr>
          <p:cNvPr id="7" name="Member 1"/>
          <p:cNvSpPr txBox="1"/>
          <p:nvPr/>
        </p:nvSpPr>
        <p:spPr>
          <a:xfrm>
            <a:off x="548640" y="5257800"/>
            <a:ext cx="4114800" cy="365760"/>
          </a:xfrm>
          <a:prstGeom prst="rect">
            <a:avLst/>
          </a:prstGeom>
          <a:noFill/>
          <a:ln/>
        </p:spPr>
        <p:txBody>
          <a:bodyPr wrap="square" lIns="0" tIns="0" rIns="0" bIns="0" rtlCol="0" anchor="t"/>
          <a:lstStyle/>
          <a:p>
            <a:pPr indent="0" marL="0">
              <a:buNone/>
            </a:pPr>
            <a:r>
              <a:rPr lang="en-US" sz="1500" b="1" dirty="0">
                <a:solidFill>
                  <a:schemeClr val="bg1"/>
                </a:solidFill>
              </a:rPr>
              <a:t>Mohammed Akmal K M</a:t>
            </a:r>
            <a:pPr indent="0" marL="0">
              <a:buNone/>
            </a:pPr>
            <a:r>
              <a:rPr lang="en-US" sz="1500" dirty="0">
                <a:solidFill>
                  <a:schemeClr val="accent4"/>
                </a:solidFill>
              </a:rPr>
              <a:t>   24B11AI262</a:t>
            </a:r>
            <a:endParaRPr lang="en-US" sz="1500" dirty="0"/>
          </a:p>
        </p:txBody>
      </p:sp>
      <p:sp>
        <p:nvSpPr>
          <p:cNvPr id="8" name="Member 2"/>
          <p:cNvSpPr txBox="1"/>
          <p:nvPr/>
        </p:nvSpPr>
        <p:spPr>
          <a:xfrm>
            <a:off x="4754880" y="5257800"/>
            <a:ext cx="4114800" cy="365760"/>
          </a:xfrm>
          <a:prstGeom prst="rect">
            <a:avLst/>
          </a:prstGeom>
          <a:noFill/>
          <a:ln/>
        </p:spPr>
        <p:txBody>
          <a:bodyPr wrap="square" lIns="0" tIns="0" rIns="0" bIns="0" rtlCol="0" anchor="t"/>
          <a:lstStyle/>
          <a:p>
            <a:pPr indent="0" marL="0">
              <a:buNone/>
            </a:pPr>
            <a:r>
              <a:rPr lang="en-US" sz="1500" b="1" dirty="0">
                <a:solidFill>
                  <a:schemeClr val="bg1"/>
                </a:solidFill>
              </a:rPr>
              <a:t>Sri Naga Vijay Kumar Chikkala</a:t>
            </a:r>
            <a:pPr indent="0" marL="0">
              <a:buNone/>
            </a:pPr>
            <a:r>
              <a:rPr lang="en-US" sz="1500" dirty="0">
                <a:solidFill>
                  <a:schemeClr val="accent4"/>
                </a:solidFill>
              </a:rPr>
              <a:t>   24B11AI062</a:t>
            </a:r>
            <a:endParaRPr lang="en-US" sz="1500" dirty="0"/>
          </a:p>
        </p:txBody>
      </p:sp>
      <p:sp>
        <p:nvSpPr>
          <p:cNvPr id="9" name="Member 3"/>
          <p:cNvSpPr txBox="1"/>
          <p:nvPr/>
        </p:nvSpPr>
        <p:spPr>
          <a:xfrm>
            <a:off x="548640" y="5669280"/>
            <a:ext cx="4114800" cy="365760"/>
          </a:xfrm>
          <a:prstGeom prst="rect">
            <a:avLst/>
          </a:prstGeom>
          <a:noFill/>
          <a:ln/>
        </p:spPr>
        <p:txBody>
          <a:bodyPr wrap="square" lIns="0" tIns="0" rIns="0" bIns="0" rtlCol="0" anchor="t"/>
          <a:lstStyle/>
          <a:p>
            <a:pPr indent="0" marL="0">
              <a:buNone/>
            </a:pPr>
            <a:r>
              <a:rPr lang="en-US" sz="1500" b="1" dirty="0">
                <a:solidFill>
                  <a:schemeClr val="bg1"/>
                </a:solidFill>
              </a:rPr>
              <a:t>Sri Sashank Devarakonda</a:t>
            </a:r>
            <a:pPr indent="0" marL="0">
              <a:buNone/>
            </a:pPr>
            <a:r>
              <a:rPr lang="en-US" sz="1500" dirty="0">
                <a:solidFill>
                  <a:schemeClr val="accent4"/>
                </a:solidFill>
              </a:rPr>
              <a:t>   24B11AI085</a:t>
            </a:r>
            <a:endParaRPr lang="en-US" sz="1500" dirty="0"/>
          </a:p>
        </p:txBody>
      </p:sp>
      <p:sp>
        <p:nvSpPr>
          <p:cNvPr id="10" name="Member 4"/>
          <p:cNvSpPr txBox="1"/>
          <p:nvPr/>
        </p:nvSpPr>
        <p:spPr>
          <a:xfrm>
            <a:off x="4754880" y="5669280"/>
            <a:ext cx="4114800" cy="365760"/>
          </a:xfrm>
          <a:prstGeom prst="rect">
            <a:avLst/>
          </a:prstGeom>
          <a:noFill/>
          <a:ln/>
        </p:spPr>
        <p:txBody>
          <a:bodyPr wrap="square" lIns="0" tIns="0" rIns="0" bIns="0" rtlCol="0" anchor="t"/>
          <a:lstStyle/>
          <a:p>
            <a:pPr indent="0" marL="0">
              <a:buNone/>
            </a:pPr>
            <a:r>
              <a:rPr lang="en-US" sz="1500" b="1" dirty="0">
                <a:solidFill>
                  <a:schemeClr val="bg1"/>
                </a:solidFill>
              </a:rPr>
              <a:t>Sai Sri Pavan Guvvala</a:t>
            </a:r>
            <a:pPr indent="0" marL="0">
              <a:buNone/>
            </a:pPr>
            <a:r>
              <a:rPr lang="en-US" sz="1500" dirty="0">
                <a:solidFill>
                  <a:schemeClr val="accent4"/>
                </a:solidFill>
              </a:rPr>
              <a:t>   24B11AI139</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Problem, objectives and learning type</a:t>
            </a:r>
            <a:endParaRPr lang="en-US" sz="3200" dirty="0"/>
          </a:p>
        </p:txBody>
      </p:sp>
      <p:sp>
        <p:nvSpPr>
          <p:cNvPr id="4" name="Problem text"/>
          <p:cNvSpPr txBox="1"/>
          <p:nvPr/>
        </p:nvSpPr>
        <p:spPr>
          <a:xfrm>
            <a:off x="548640" y="1371600"/>
            <a:ext cx="5577840" cy="1325880"/>
          </a:xfrm>
          <a:prstGeom prst="rect">
            <a:avLst/>
          </a:prstGeom>
          <a:noFill/>
          <a:ln/>
        </p:spPr>
        <p:txBody>
          <a:bodyPr wrap="square" lIns="0" tIns="0" rIns="0" bIns="0" rtlCol="0" anchor="t"/>
          <a:lstStyle/>
          <a:p>
            <a:pPr indent="0" marL="0">
              <a:buNone/>
            </a:pPr>
            <a:r>
              <a:rPr lang="en-US" sz="1600" dirty="0">
                <a:solidFill>
                  <a:schemeClr val="tx1"/>
                </a:solidFill>
              </a:rPr>
              <a:t>Estimating how fast a PC will be from its individual parts is hard, and benchmarking every configuration by hand is slow. Raw performance records are also messy, with missing, duplicate and impossible values.</a:t>
            </a:r>
            <a:endParaRPr lang="en-US" sz="1600" dirty="0"/>
          </a:p>
        </p:txBody>
      </p:sp>
      <p:sp>
        <p:nvSpPr>
          <p:cNvPr id="5" name="Objectives title"/>
          <p:cNvSpPr txBox="1"/>
          <p:nvPr/>
        </p:nvSpPr>
        <p:spPr>
          <a:xfrm>
            <a:off x="548640" y="2880360"/>
            <a:ext cx="5486400" cy="365760"/>
          </a:xfrm>
          <a:prstGeom prst="rect">
            <a:avLst/>
          </a:prstGeom>
          <a:noFill/>
          <a:ln/>
        </p:spPr>
        <p:txBody>
          <a:bodyPr wrap="square" lIns="0" tIns="0" rIns="0" bIns="0" rtlCol="0" anchor="t"/>
          <a:lstStyle/>
          <a:p>
            <a:pPr indent="0" marL="0">
              <a:buNone/>
            </a:pPr>
            <a:r>
              <a:rPr lang="en-US" sz="1800" b="1" dirty="0">
                <a:solidFill>
                  <a:schemeClr val="tx1"/>
                </a:solidFill>
              </a:rPr>
              <a:t>Objectives</a:t>
            </a:r>
            <a:endParaRPr lang="en-US" sz="1800" dirty="0"/>
          </a:p>
        </p:txBody>
      </p:sp>
      <p:sp>
        <p:nvSpPr>
          <p:cNvPr id="6" name="Objective 1 circle"/>
          <p:cNvSpPr/>
          <p:nvPr/>
        </p:nvSpPr>
        <p:spPr>
          <a:xfrm>
            <a:off x="548640" y="3383280"/>
            <a:ext cx="502920" cy="502920"/>
          </a:xfrm>
          <a:prstGeom prst="ellipse">
            <a:avLst/>
          </a:prstGeom>
          <a:solidFill>
            <a:schemeClr val="accent1"/>
          </a:solidFill>
          <a:ln w="12700">
            <a:solidFill>
              <a:schemeClr val="accent1"/>
            </a:solidFill>
            <a:prstDash val="solid"/>
          </a:ln>
        </p:spPr>
      </p:sp>
      <p:pic>
        <p:nvPicPr>
          <p:cNvPr id="7" name="Objective 1 icon" descr="preencoded.png">    </p:cNvPr>
          <p:cNvPicPr>
            <a:picLocks noChangeAspect="1"/>
          </p:cNvPicPr>
          <p:nvPr/>
        </p:nvPicPr>
        <p:blipFill>
          <a:blip r:embed="rId1"/>
          <a:stretch>
            <a:fillRect/>
          </a:stretch>
        </p:blipFill>
        <p:spPr>
          <a:xfrm>
            <a:off x="679399" y="3514039"/>
            <a:ext cx="241402" cy="241402"/>
          </a:xfrm>
          <a:prstGeom prst="rect">
            <a:avLst/>
          </a:prstGeom>
        </p:spPr>
      </p:pic>
      <p:sp>
        <p:nvSpPr>
          <p:cNvPr id="8" name="Objective text 1"/>
          <p:cNvSpPr txBox="1"/>
          <p:nvPr/>
        </p:nvSpPr>
        <p:spPr>
          <a:xfrm>
            <a:off x="1234440" y="3383280"/>
            <a:ext cx="4892040" cy="502920"/>
          </a:xfrm>
          <a:prstGeom prst="rect">
            <a:avLst/>
          </a:prstGeom>
          <a:noFill/>
          <a:ln/>
        </p:spPr>
        <p:txBody>
          <a:bodyPr wrap="square" lIns="0" tIns="0" rIns="0" bIns="0" rtlCol="0" anchor="ctr"/>
          <a:lstStyle/>
          <a:p>
            <a:pPr indent="0" marL="0">
              <a:buNone/>
            </a:pPr>
            <a:r>
              <a:rPr lang="en-US" sz="1600" dirty="0">
                <a:solidFill>
                  <a:schemeClr val="tx1"/>
                </a:solidFill>
              </a:rPr>
              <a:t>Clean the raw data into an ML-ready dataset</a:t>
            </a:r>
            <a:endParaRPr lang="en-US" sz="1600" dirty="0"/>
          </a:p>
        </p:txBody>
      </p:sp>
      <p:sp>
        <p:nvSpPr>
          <p:cNvPr id="9" name="Objective 2 circle"/>
          <p:cNvSpPr/>
          <p:nvPr/>
        </p:nvSpPr>
        <p:spPr>
          <a:xfrm>
            <a:off x="548640" y="4069080"/>
            <a:ext cx="502920" cy="502920"/>
          </a:xfrm>
          <a:prstGeom prst="ellipse">
            <a:avLst/>
          </a:prstGeom>
          <a:solidFill>
            <a:schemeClr val="accent1"/>
          </a:solidFill>
          <a:ln w="12700">
            <a:solidFill>
              <a:schemeClr val="accent1"/>
            </a:solidFill>
            <a:prstDash val="solid"/>
          </a:ln>
        </p:spPr>
      </p:sp>
      <p:pic>
        <p:nvPicPr>
          <p:cNvPr id="10" name="Objective 2 icon" descr="preencoded.png">    </p:cNvPr>
          <p:cNvPicPr>
            <a:picLocks noChangeAspect="1"/>
          </p:cNvPicPr>
          <p:nvPr/>
        </p:nvPicPr>
        <p:blipFill>
          <a:blip r:embed="rId2"/>
          <a:stretch>
            <a:fillRect/>
          </a:stretch>
        </p:blipFill>
        <p:spPr>
          <a:xfrm>
            <a:off x="679399" y="4199839"/>
            <a:ext cx="241402" cy="241402"/>
          </a:xfrm>
          <a:prstGeom prst="rect">
            <a:avLst/>
          </a:prstGeom>
        </p:spPr>
      </p:pic>
      <p:sp>
        <p:nvSpPr>
          <p:cNvPr id="11" name="Objective text 2"/>
          <p:cNvSpPr txBox="1"/>
          <p:nvPr/>
        </p:nvSpPr>
        <p:spPr>
          <a:xfrm>
            <a:off x="1234440" y="4069080"/>
            <a:ext cx="4892040" cy="502920"/>
          </a:xfrm>
          <a:prstGeom prst="rect">
            <a:avLst/>
          </a:prstGeom>
          <a:noFill/>
          <a:ln/>
        </p:spPr>
        <p:txBody>
          <a:bodyPr wrap="square" lIns="0" tIns="0" rIns="0" bIns="0" rtlCol="0" anchor="ctr"/>
          <a:lstStyle/>
          <a:p>
            <a:pPr indent="0" marL="0">
              <a:buNone/>
            </a:pPr>
            <a:r>
              <a:rPr lang="en-US" sz="1600" dirty="0">
                <a:solidFill>
                  <a:schemeClr val="tx1"/>
                </a:solidFill>
              </a:rPr>
              <a:t>Train and compare supervised regression models</a:t>
            </a:r>
            <a:endParaRPr lang="en-US" sz="1600" dirty="0"/>
          </a:p>
        </p:txBody>
      </p:sp>
      <p:sp>
        <p:nvSpPr>
          <p:cNvPr id="12" name="Objective 3 circle"/>
          <p:cNvSpPr/>
          <p:nvPr/>
        </p:nvSpPr>
        <p:spPr>
          <a:xfrm>
            <a:off x="548640" y="4754880"/>
            <a:ext cx="502920" cy="502920"/>
          </a:xfrm>
          <a:prstGeom prst="ellipse">
            <a:avLst/>
          </a:prstGeom>
          <a:solidFill>
            <a:schemeClr val="accent1"/>
          </a:solidFill>
          <a:ln w="12700">
            <a:solidFill>
              <a:schemeClr val="accent1"/>
            </a:solidFill>
            <a:prstDash val="solid"/>
          </a:ln>
        </p:spPr>
      </p:sp>
      <p:pic>
        <p:nvPicPr>
          <p:cNvPr id="13" name="Objective 3 icon" descr="preencoded.png">    </p:cNvPr>
          <p:cNvPicPr>
            <a:picLocks noChangeAspect="1"/>
          </p:cNvPicPr>
          <p:nvPr/>
        </p:nvPicPr>
        <p:blipFill>
          <a:blip r:embed="rId3"/>
          <a:stretch>
            <a:fillRect/>
          </a:stretch>
        </p:blipFill>
        <p:spPr>
          <a:xfrm>
            <a:off x="679399" y="4885639"/>
            <a:ext cx="241402" cy="241402"/>
          </a:xfrm>
          <a:prstGeom prst="rect">
            <a:avLst/>
          </a:prstGeom>
        </p:spPr>
      </p:pic>
      <p:sp>
        <p:nvSpPr>
          <p:cNvPr id="14" name="Objective text 3"/>
          <p:cNvSpPr txBox="1"/>
          <p:nvPr/>
        </p:nvSpPr>
        <p:spPr>
          <a:xfrm>
            <a:off x="1234440" y="4754880"/>
            <a:ext cx="4892040" cy="502920"/>
          </a:xfrm>
          <a:prstGeom prst="rect">
            <a:avLst/>
          </a:prstGeom>
          <a:noFill/>
          <a:ln/>
        </p:spPr>
        <p:txBody>
          <a:bodyPr wrap="square" lIns="0" tIns="0" rIns="0" bIns="0" rtlCol="0" anchor="ctr"/>
          <a:lstStyle/>
          <a:p>
            <a:pPr indent="0" marL="0">
              <a:buNone/>
            </a:pPr>
            <a:r>
              <a:rPr lang="en-US" sz="1600" dirty="0">
                <a:solidFill>
                  <a:schemeClr val="tx1"/>
                </a:solidFill>
              </a:rPr>
              <a:t>Predict Performance_Score (0-1000) from 8 attributes</a:t>
            </a:r>
            <a:endParaRPr lang="en-US" sz="1600" dirty="0"/>
          </a:p>
        </p:txBody>
      </p:sp>
      <p:sp>
        <p:nvSpPr>
          <p:cNvPr id="15" name="Objective 4 circle"/>
          <p:cNvSpPr/>
          <p:nvPr/>
        </p:nvSpPr>
        <p:spPr>
          <a:xfrm>
            <a:off x="548640" y="5440680"/>
            <a:ext cx="502920" cy="502920"/>
          </a:xfrm>
          <a:prstGeom prst="ellipse">
            <a:avLst/>
          </a:prstGeom>
          <a:solidFill>
            <a:schemeClr val="accent1"/>
          </a:solidFill>
          <a:ln w="12700">
            <a:solidFill>
              <a:schemeClr val="accent1"/>
            </a:solidFill>
            <a:prstDash val="solid"/>
          </a:ln>
        </p:spPr>
      </p:sp>
      <p:pic>
        <p:nvPicPr>
          <p:cNvPr id="16" name="Objective 4 icon" descr="preencoded.png">    </p:cNvPr>
          <p:cNvPicPr>
            <a:picLocks noChangeAspect="1"/>
          </p:cNvPicPr>
          <p:nvPr/>
        </p:nvPicPr>
        <p:blipFill>
          <a:blip r:embed="rId4"/>
          <a:stretch>
            <a:fillRect/>
          </a:stretch>
        </p:blipFill>
        <p:spPr>
          <a:xfrm>
            <a:off x="679399" y="5571439"/>
            <a:ext cx="241402" cy="241402"/>
          </a:xfrm>
          <a:prstGeom prst="rect">
            <a:avLst/>
          </a:prstGeom>
        </p:spPr>
      </p:pic>
      <p:sp>
        <p:nvSpPr>
          <p:cNvPr id="17" name="Objective text 4"/>
          <p:cNvSpPr txBox="1"/>
          <p:nvPr/>
        </p:nvSpPr>
        <p:spPr>
          <a:xfrm>
            <a:off x="1234440" y="5440680"/>
            <a:ext cx="4892040" cy="502920"/>
          </a:xfrm>
          <a:prstGeom prst="rect">
            <a:avLst/>
          </a:prstGeom>
          <a:noFill/>
          <a:ln/>
        </p:spPr>
        <p:txBody>
          <a:bodyPr wrap="square" lIns="0" tIns="0" rIns="0" bIns="0" rtlCol="0" anchor="ctr"/>
          <a:lstStyle/>
          <a:p>
            <a:pPr indent="0" marL="0">
              <a:buNone/>
            </a:pPr>
            <a:r>
              <a:rPr lang="en-US" sz="1600" dirty="0">
                <a:solidFill>
                  <a:schemeClr val="tx1"/>
                </a:solidFill>
              </a:rPr>
              <a:t>Build an app that predicts the score for any PC build</a:t>
            </a:r>
            <a:endParaRPr lang="en-US" sz="1600" dirty="0"/>
          </a:p>
        </p:txBody>
      </p:sp>
      <p:sp>
        <p:nvSpPr>
          <p:cNvPr id="18" name="Learning type card"/>
          <p:cNvSpPr/>
          <p:nvPr/>
        </p:nvSpPr>
        <p:spPr>
          <a:xfrm>
            <a:off x="6446520" y="1371600"/>
            <a:ext cx="5193792" cy="4800600"/>
          </a:xfrm>
          <a:prstGeom prst="roundRect">
            <a:avLst>
              <a:gd name="adj" fmla="val 1524"/>
            </a:avLst>
          </a:prstGeom>
          <a:solidFill>
            <a:schemeClr val="tx1"/>
          </a:solidFill>
          <a:ln w="12700">
            <a:solidFill>
              <a:schemeClr val="tx1"/>
            </a:solidFill>
            <a:prstDash val="solid"/>
          </a:ln>
        </p:spPr>
      </p:sp>
      <p:sp>
        <p:nvSpPr>
          <p:cNvPr id="19" name="Learning type label"/>
          <p:cNvSpPr txBox="1"/>
          <p:nvPr/>
        </p:nvSpPr>
        <p:spPr>
          <a:xfrm>
            <a:off x="6766560" y="1600200"/>
            <a:ext cx="4572000" cy="320040"/>
          </a:xfrm>
          <a:prstGeom prst="rect">
            <a:avLst/>
          </a:prstGeom>
          <a:noFill/>
          <a:ln/>
        </p:spPr>
        <p:txBody>
          <a:bodyPr wrap="square" lIns="0" tIns="0" rIns="0" bIns="0" rtlCol="0" anchor="t"/>
          <a:lstStyle/>
          <a:p>
            <a:pPr indent="0" marL="0">
              <a:buNone/>
            </a:pPr>
            <a:r>
              <a:rPr lang="en-US" sz="1400" b="1" dirty="0">
                <a:solidFill>
                  <a:schemeClr val="accent4"/>
                </a:solidFill>
              </a:rPr>
              <a:t>Learning type</a:t>
            </a:r>
            <a:endParaRPr lang="en-US" sz="1400" dirty="0"/>
          </a:p>
        </p:txBody>
      </p:sp>
      <p:sp>
        <p:nvSpPr>
          <p:cNvPr id="20" name="Learning type value"/>
          <p:cNvSpPr txBox="1"/>
          <p:nvPr/>
        </p:nvSpPr>
        <p:spPr>
          <a:xfrm>
            <a:off x="6766560" y="1920240"/>
            <a:ext cx="4572000" cy="457200"/>
          </a:xfrm>
          <a:prstGeom prst="rect">
            <a:avLst/>
          </a:prstGeom>
          <a:noFill/>
          <a:ln/>
        </p:spPr>
        <p:txBody>
          <a:bodyPr wrap="square" lIns="0" tIns="0" rIns="0" bIns="0" rtlCol="0" anchor="t"/>
          <a:lstStyle/>
          <a:p>
            <a:pPr indent="0" marL="0">
              <a:buNone/>
            </a:pPr>
            <a:r>
              <a:rPr lang="en-US" sz="2200" b="1" dirty="0">
                <a:solidFill>
                  <a:schemeClr val="accent1"/>
                </a:solidFill>
              </a:rPr>
              <a:t>Supervised learning: Regression</a:t>
            </a:r>
            <a:endParaRPr lang="en-US" sz="2200" dirty="0"/>
          </a:p>
        </p:txBody>
      </p:sp>
      <p:sp>
        <p:nvSpPr>
          <p:cNvPr id="21" name="LT key 1"/>
          <p:cNvSpPr txBox="1"/>
          <p:nvPr/>
        </p:nvSpPr>
        <p:spPr>
          <a:xfrm>
            <a:off x="6766560" y="2560320"/>
            <a:ext cx="1691640" cy="594360"/>
          </a:xfrm>
          <a:prstGeom prst="rect">
            <a:avLst/>
          </a:prstGeom>
          <a:noFill/>
          <a:ln/>
        </p:spPr>
        <p:txBody>
          <a:bodyPr wrap="square" lIns="0" tIns="0" rIns="0" bIns="0" rtlCol="0" anchor="t"/>
          <a:lstStyle/>
          <a:p>
            <a:pPr indent="0" marL="0">
              <a:buNone/>
            </a:pPr>
            <a:r>
              <a:rPr lang="en-US" sz="1400" b="1" dirty="0">
                <a:solidFill>
                  <a:schemeClr val="bg1"/>
                </a:solidFill>
              </a:rPr>
              <a:t>Input (X)</a:t>
            </a:r>
            <a:endParaRPr lang="en-US" sz="1400" dirty="0"/>
          </a:p>
        </p:txBody>
      </p:sp>
      <p:sp>
        <p:nvSpPr>
          <p:cNvPr id="22" name="LT value 1"/>
          <p:cNvSpPr txBox="1"/>
          <p:nvPr/>
        </p:nvSpPr>
        <p:spPr>
          <a:xfrm>
            <a:off x="8503920" y="2560320"/>
            <a:ext cx="2926080" cy="640080"/>
          </a:xfrm>
          <a:prstGeom prst="rect">
            <a:avLst/>
          </a:prstGeom>
          <a:noFill/>
          <a:ln/>
        </p:spPr>
        <p:txBody>
          <a:bodyPr wrap="square" lIns="0" tIns="0" rIns="0" bIns="0" rtlCol="0" anchor="t"/>
          <a:lstStyle/>
          <a:p>
            <a:pPr indent="0" marL="0">
              <a:buNone/>
            </a:pPr>
            <a:r>
              <a:rPr lang="en-US" sz="1400" dirty="0">
                <a:solidFill>
                  <a:schemeClr val="bg2"/>
                </a:solidFill>
              </a:rPr>
              <a:t>8 attributes: RAM, CPU cores, GPU level, storage, clock speed, age, temperature, OS</a:t>
            </a:r>
            <a:endParaRPr lang="en-US" sz="1400" dirty="0"/>
          </a:p>
        </p:txBody>
      </p:sp>
      <p:sp>
        <p:nvSpPr>
          <p:cNvPr id="23" name="LT key 2"/>
          <p:cNvSpPr txBox="1"/>
          <p:nvPr/>
        </p:nvSpPr>
        <p:spPr>
          <a:xfrm>
            <a:off x="6766560" y="3246120"/>
            <a:ext cx="1691640" cy="594360"/>
          </a:xfrm>
          <a:prstGeom prst="rect">
            <a:avLst/>
          </a:prstGeom>
          <a:noFill/>
          <a:ln/>
        </p:spPr>
        <p:txBody>
          <a:bodyPr wrap="square" lIns="0" tIns="0" rIns="0" bIns="0" rtlCol="0" anchor="t"/>
          <a:lstStyle/>
          <a:p>
            <a:pPr indent="0" marL="0">
              <a:buNone/>
            </a:pPr>
            <a:r>
              <a:rPr lang="en-US" sz="1400" b="1" dirty="0">
                <a:solidFill>
                  <a:schemeClr val="bg1"/>
                </a:solidFill>
              </a:rPr>
              <a:t>Output (y)</a:t>
            </a:r>
            <a:endParaRPr lang="en-US" sz="1400" dirty="0"/>
          </a:p>
        </p:txBody>
      </p:sp>
      <p:sp>
        <p:nvSpPr>
          <p:cNvPr id="24" name="LT value 2"/>
          <p:cNvSpPr txBox="1"/>
          <p:nvPr/>
        </p:nvSpPr>
        <p:spPr>
          <a:xfrm>
            <a:off x="8503920" y="3246120"/>
            <a:ext cx="2926080" cy="640080"/>
          </a:xfrm>
          <a:prstGeom prst="rect">
            <a:avLst/>
          </a:prstGeom>
          <a:noFill/>
          <a:ln/>
        </p:spPr>
        <p:txBody>
          <a:bodyPr wrap="square" lIns="0" tIns="0" rIns="0" bIns="0" rtlCol="0" anchor="t"/>
          <a:lstStyle/>
          <a:p>
            <a:pPr indent="0" marL="0">
              <a:buNone/>
            </a:pPr>
            <a:r>
              <a:rPr lang="en-US" sz="1400" dirty="0">
                <a:solidFill>
                  <a:schemeClr val="bg2"/>
                </a:solidFill>
              </a:rPr>
              <a:t>Performance_Score, a number from 0 to 1000</a:t>
            </a:r>
            <a:endParaRPr lang="en-US" sz="1400" dirty="0"/>
          </a:p>
        </p:txBody>
      </p:sp>
      <p:sp>
        <p:nvSpPr>
          <p:cNvPr id="25" name="LT key 3"/>
          <p:cNvSpPr txBox="1"/>
          <p:nvPr/>
        </p:nvSpPr>
        <p:spPr>
          <a:xfrm>
            <a:off x="6766560" y="3931920"/>
            <a:ext cx="1691640" cy="594360"/>
          </a:xfrm>
          <a:prstGeom prst="rect">
            <a:avLst/>
          </a:prstGeom>
          <a:noFill/>
          <a:ln/>
        </p:spPr>
        <p:txBody>
          <a:bodyPr wrap="square" lIns="0" tIns="0" rIns="0" bIns="0" rtlCol="0" anchor="t"/>
          <a:lstStyle/>
          <a:p>
            <a:pPr indent="0" marL="0">
              <a:buNone/>
            </a:pPr>
            <a:r>
              <a:rPr lang="en-US" sz="1400" b="1" dirty="0">
                <a:solidFill>
                  <a:schemeClr val="bg1"/>
                </a:solidFill>
              </a:rPr>
              <a:t>Labelled data</a:t>
            </a:r>
            <a:endParaRPr lang="en-US" sz="1400" dirty="0"/>
          </a:p>
        </p:txBody>
      </p:sp>
      <p:sp>
        <p:nvSpPr>
          <p:cNvPr id="26" name="LT value 3"/>
          <p:cNvSpPr txBox="1"/>
          <p:nvPr/>
        </p:nvSpPr>
        <p:spPr>
          <a:xfrm>
            <a:off x="8503920" y="3931920"/>
            <a:ext cx="2926080" cy="640080"/>
          </a:xfrm>
          <a:prstGeom prst="rect">
            <a:avLst/>
          </a:prstGeom>
          <a:noFill/>
          <a:ln/>
        </p:spPr>
        <p:txBody>
          <a:bodyPr wrap="square" lIns="0" tIns="0" rIns="0" bIns="0" rtlCol="0" anchor="t"/>
          <a:lstStyle/>
          <a:p>
            <a:pPr indent="0" marL="0">
              <a:buNone/>
            </a:pPr>
            <a:r>
              <a:rPr lang="en-US" sz="1400" dirty="0">
                <a:solidFill>
                  <a:schemeClr val="bg2"/>
                </a:solidFill>
              </a:rPr>
              <a:t>503 PCs, each with a known score</a:t>
            </a:r>
            <a:endParaRPr lang="en-US" sz="1400" dirty="0"/>
          </a:p>
        </p:txBody>
      </p:sp>
      <p:sp>
        <p:nvSpPr>
          <p:cNvPr id="27" name="LT key 4"/>
          <p:cNvSpPr txBox="1"/>
          <p:nvPr/>
        </p:nvSpPr>
        <p:spPr>
          <a:xfrm>
            <a:off x="6766560" y="4617720"/>
            <a:ext cx="1691640" cy="594360"/>
          </a:xfrm>
          <a:prstGeom prst="rect">
            <a:avLst/>
          </a:prstGeom>
          <a:noFill/>
          <a:ln/>
        </p:spPr>
        <p:txBody>
          <a:bodyPr wrap="square" lIns="0" tIns="0" rIns="0" bIns="0" rtlCol="0" anchor="t"/>
          <a:lstStyle/>
          <a:p>
            <a:pPr indent="0" marL="0">
              <a:buNone/>
            </a:pPr>
            <a:r>
              <a:rPr lang="en-US" sz="1400" b="1" dirty="0">
                <a:solidFill>
                  <a:schemeClr val="bg1"/>
                </a:solidFill>
              </a:rPr>
              <a:t>Not unsupervised</a:t>
            </a:r>
            <a:endParaRPr lang="en-US" sz="1400" dirty="0"/>
          </a:p>
        </p:txBody>
      </p:sp>
      <p:sp>
        <p:nvSpPr>
          <p:cNvPr id="28" name="LT value 4"/>
          <p:cNvSpPr txBox="1"/>
          <p:nvPr/>
        </p:nvSpPr>
        <p:spPr>
          <a:xfrm>
            <a:off x="8503920" y="4617720"/>
            <a:ext cx="2926080" cy="640080"/>
          </a:xfrm>
          <a:prstGeom prst="rect">
            <a:avLst/>
          </a:prstGeom>
          <a:noFill/>
          <a:ln/>
        </p:spPr>
        <p:txBody>
          <a:bodyPr wrap="square" lIns="0" tIns="0" rIns="0" bIns="0" rtlCol="0" anchor="t"/>
          <a:lstStyle/>
          <a:p>
            <a:pPr indent="0" marL="0">
              <a:buNone/>
            </a:pPr>
            <a:r>
              <a:rPr lang="en-US" sz="1400" dirty="0">
                <a:solidFill>
                  <a:schemeClr val="bg2"/>
                </a:solidFill>
              </a:rPr>
              <a:t>No clustering: the target is already known</a:t>
            </a:r>
            <a:endParaRPr lang="en-US" sz="1400" dirty="0"/>
          </a:p>
        </p:txBody>
      </p:sp>
      <p:sp>
        <p:nvSpPr>
          <p:cNvPr id="29" name="LT key 5"/>
          <p:cNvSpPr txBox="1"/>
          <p:nvPr/>
        </p:nvSpPr>
        <p:spPr>
          <a:xfrm>
            <a:off x="6766560" y="5303520"/>
            <a:ext cx="1691640" cy="594360"/>
          </a:xfrm>
          <a:prstGeom prst="rect">
            <a:avLst/>
          </a:prstGeom>
          <a:noFill/>
          <a:ln/>
        </p:spPr>
        <p:txBody>
          <a:bodyPr wrap="square" lIns="0" tIns="0" rIns="0" bIns="0" rtlCol="0" anchor="t"/>
          <a:lstStyle/>
          <a:p>
            <a:pPr indent="0" marL="0">
              <a:buNone/>
            </a:pPr>
            <a:r>
              <a:rPr lang="en-US" sz="1400" b="1" dirty="0">
                <a:solidFill>
                  <a:schemeClr val="bg1"/>
                </a:solidFill>
              </a:rPr>
              <a:t>Not classification</a:t>
            </a:r>
            <a:endParaRPr lang="en-US" sz="1400" dirty="0"/>
          </a:p>
        </p:txBody>
      </p:sp>
      <p:sp>
        <p:nvSpPr>
          <p:cNvPr id="30" name="LT value 5"/>
          <p:cNvSpPr txBox="1"/>
          <p:nvPr/>
        </p:nvSpPr>
        <p:spPr>
          <a:xfrm>
            <a:off x="8503920" y="5303520"/>
            <a:ext cx="2926080" cy="640080"/>
          </a:xfrm>
          <a:prstGeom prst="rect">
            <a:avLst/>
          </a:prstGeom>
          <a:noFill/>
          <a:ln/>
        </p:spPr>
        <p:txBody>
          <a:bodyPr wrap="square" lIns="0" tIns="0" rIns="0" bIns="0" rtlCol="0" anchor="t"/>
          <a:lstStyle/>
          <a:p>
            <a:pPr indent="0" marL="0">
              <a:buNone/>
            </a:pPr>
            <a:r>
              <a:rPr lang="en-US" sz="1400" dirty="0">
                <a:solidFill>
                  <a:schemeClr val="bg2"/>
                </a:solidFill>
              </a:rPr>
              <a:t>We predict a number, not a Low / High class</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dataset and what was wrong with it</a:t>
            </a:r>
            <a:endParaRPr lang="en-US" sz="3200" dirty="0"/>
          </a:p>
        </p:txBody>
      </p:sp>
      <p:sp>
        <p:nvSpPr>
          <p:cNvPr id="4" name="Raw records value"/>
          <p:cNvSpPr txBox="1"/>
          <p:nvPr/>
        </p:nvSpPr>
        <p:spPr>
          <a:xfrm>
            <a:off x="548640" y="1417320"/>
            <a:ext cx="2377440" cy="670560"/>
          </a:xfrm>
          <a:prstGeom prst="rect">
            <a:avLst/>
          </a:prstGeom>
          <a:noFill/>
          <a:ln/>
        </p:spPr>
        <p:txBody>
          <a:bodyPr wrap="square" lIns="0" tIns="0" rIns="0" bIns="0" rtlCol="0" anchor="t"/>
          <a:lstStyle/>
          <a:p>
            <a:pPr indent="0" marL="0">
              <a:buNone/>
            </a:pPr>
            <a:r>
              <a:rPr lang="en-US" sz="4400" b="1" dirty="0">
                <a:solidFill>
                  <a:schemeClr val="accent1"/>
                </a:solidFill>
              </a:rPr>
              <a:t>520</a:t>
            </a:r>
            <a:endParaRPr lang="en-US" sz="4400" dirty="0"/>
          </a:p>
        </p:txBody>
      </p:sp>
      <p:sp>
        <p:nvSpPr>
          <p:cNvPr id="5" name="Raw records label"/>
          <p:cNvSpPr txBox="1"/>
          <p:nvPr/>
        </p:nvSpPr>
        <p:spPr>
          <a:xfrm>
            <a:off x="548640" y="2133600"/>
            <a:ext cx="2377440" cy="548640"/>
          </a:xfrm>
          <a:prstGeom prst="rect">
            <a:avLst/>
          </a:prstGeom>
          <a:noFill/>
          <a:ln/>
        </p:spPr>
        <p:txBody>
          <a:bodyPr wrap="square" lIns="0" tIns="0" rIns="0" bIns="0" rtlCol="0" anchor="t"/>
          <a:lstStyle/>
          <a:p>
            <a:pPr indent="0" marL="0">
              <a:buNone/>
            </a:pPr>
            <a:r>
              <a:rPr lang="en-US" sz="1400" dirty="0">
                <a:solidFill>
                  <a:schemeClr val="tx2"/>
                </a:solidFill>
              </a:rPr>
              <a:t>raw PC records</a:t>
            </a:r>
            <a:endParaRPr lang="en-US" sz="1400" dirty="0"/>
          </a:p>
        </p:txBody>
      </p:sp>
      <p:sp>
        <p:nvSpPr>
          <p:cNvPr id="6" name="Attributes value"/>
          <p:cNvSpPr txBox="1"/>
          <p:nvPr/>
        </p:nvSpPr>
        <p:spPr>
          <a:xfrm>
            <a:off x="548640" y="2971800"/>
            <a:ext cx="2377440" cy="670560"/>
          </a:xfrm>
          <a:prstGeom prst="rect">
            <a:avLst/>
          </a:prstGeom>
          <a:noFill/>
          <a:ln/>
        </p:spPr>
        <p:txBody>
          <a:bodyPr wrap="square" lIns="0" tIns="0" rIns="0" bIns="0" rtlCol="0" anchor="t"/>
          <a:lstStyle/>
          <a:p>
            <a:pPr indent="0" marL="0">
              <a:buNone/>
            </a:pPr>
            <a:r>
              <a:rPr lang="en-US" sz="4400" b="1" dirty="0">
                <a:solidFill>
                  <a:schemeClr val="accent1"/>
                </a:solidFill>
              </a:rPr>
              <a:t>11</a:t>
            </a:r>
            <a:endParaRPr lang="en-US" sz="4400" dirty="0"/>
          </a:p>
        </p:txBody>
      </p:sp>
      <p:sp>
        <p:nvSpPr>
          <p:cNvPr id="7" name="Attributes label"/>
          <p:cNvSpPr txBox="1"/>
          <p:nvPr/>
        </p:nvSpPr>
        <p:spPr>
          <a:xfrm>
            <a:off x="548640" y="3688080"/>
            <a:ext cx="2377440" cy="548640"/>
          </a:xfrm>
          <a:prstGeom prst="rect">
            <a:avLst/>
          </a:prstGeom>
          <a:noFill/>
          <a:ln/>
        </p:spPr>
        <p:txBody>
          <a:bodyPr wrap="square" lIns="0" tIns="0" rIns="0" bIns="0" rtlCol="0" anchor="t"/>
          <a:lstStyle/>
          <a:p>
            <a:pPr indent="0" marL="0">
              <a:buNone/>
            </a:pPr>
            <a:r>
              <a:rPr lang="en-US" sz="1400" dirty="0">
                <a:solidFill>
                  <a:schemeClr val="tx2"/>
                </a:solidFill>
              </a:rPr>
              <a:t>attributes per record</a:t>
            </a:r>
            <a:endParaRPr lang="en-US" sz="1400" dirty="0"/>
          </a:p>
        </p:txBody>
      </p:sp>
      <p:sp>
        <p:nvSpPr>
          <p:cNvPr id="8" name="Clean records value"/>
          <p:cNvSpPr txBox="1"/>
          <p:nvPr/>
        </p:nvSpPr>
        <p:spPr>
          <a:xfrm>
            <a:off x="548640" y="4526280"/>
            <a:ext cx="2377440" cy="670560"/>
          </a:xfrm>
          <a:prstGeom prst="rect">
            <a:avLst/>
          </a:prstGeom>
          <a:noFill/>
          <a:ln/>
        </p:spPr>
        <p:txBody>
          <a:bodyPr wrap="square" lIns="0" tIns="0" rIns="0" bIns="0" rtlCol="0" anchor="t"/>
          <a:lstStyle/>
          <a:p>
            <a:pPr indent="0" marL="0">
              <a:buNone/>
            </a:pPr>
            <a:r>
              <a:rPr lang="en-US" sz="4400" b="1" dirty="0">
                <a:solidFill>
                  <a:schemeClr val="accent2"/>
                </a:solidFill>
              </a:rPr>
              <a:t>503</a:t>
            </a:r>
            <a:endParaRPr lang="en-US" sz="4400" dirty="0"/>
          </a:p>
        </p:txBody>
      </p:sp>
      <p:sp>
        <p:nvSpPr>
          <p:cNvPr id="9" name="Clean records label"/>
          <p:cNvSpPr txBox="1"/>
          <p:nvPr/>
        </p:nvSpPr>
        <p:spPr>
          <a:xfrm>
            <a:off x="548640" y="5242560"/>
            <a:ext cx="2377440" cy="548640"/>
          </a:xfrm>
          <a:prstGeom prst="rect">
            <a:avLst/>
          </a:prstGeom>
          <a:noFill/>
          <a:ln/>
        </p:spPr>
        <p:txBody>
          <a:bodyPr wrap="square" lIns="0" tIns="0" rIns="0" bIns="0" rtlCol="0" anchor="t"/>
          <a:lstStyle/>
          <a:p>
            <a:pPr indent="0" marL="0">
              <a:buNone/>
            </a:pPr>
            <a:r>
              <a:rPr lang="en-US" sz="1400" dirty="0">
                <a:solidFill>
                  <a:schemeClr val="tx2"/>
                </a:solidFill>
              </a:rPr>
              <a:t>clean records</a:t>
            </a:r>
            <a:endParaRPr lang="en-US" sz="1400" dirty="0"/>
          </a:p>
        </p:txBody>
      </p:sp>
      <p:sp>
        <p:nvSpPr>
          <p:cNvPr id="10" name="Issue card 1"/>
          <p:cNvSpPr/>
          <p:nvPr/>
        </p:nvSpPr>
        <p:spPr>
          <a:xfrm>
            <a:off x="3246120" y="1371600"/>
            <a:ext cx="4061308" cy="1188720"/>
          </a:xfrm>
          <a:prstGeom prst="roundRect">
            <a:avLst>
              <a:gd name="adj" fmla="val 6154"/>
            </a:avLst>
          </a:prstGeom>
          <a:solidFill>
            <a:schemeClr val="bg2"/>
          </a:solidFill>
          <a:ln w="12700">
            <a:solidFill>
              <a:schemeClr val="bg2"/>
            </a:solidFill>
            <a:prstDash val="solid"/>
          </a:ln>
        </p:spPr>
      </p:sp>
      <p:sp>
        <p:nvSpPr>
          <p:cNvPr id="11" name="Issue value 1"/>
          <p:cNvSpPr txBox="1"/>
          <p:nvPr/>
        </p:nvSpPr>
        <p:spPr>
          <a:xfrm>
            <a:off x="3474720" y="1536192"/>
            <a:ext cx="1188720" cy="640080"/>
          </a:xfrm>
          <a:prstGeom prst="rect">
            <a:avLst/>
          </a:prstGeom>
          <a:noFill/>
          <a:ln/>
        </p:spPr>
        <p:txBody>
          <a:bodyPr wrap="square" lIns="0" tIns="0" rIns="0" bIns="0" rtlCol="0" anchor="t"/>
          <a:lstStyle/>
          <a:p>
            <a:pPr indent="0" marL="0">
              <a:buNone/>
            </a:pPr>
            <a:r>
              <a:rPr lang="en-US" sz="3200" b="1" dirty="0">
                <a:solidFill>
                  <a:schemeClr val="accent1"/>
                </a:solidFill>
              </a:rPr>
              <a:t>156</a:t>
            </a:r>
            <a:endParaRPr lang="en-US" sz="3200" dirty="0"/>
          </a:p>
        </p:txBody>
      </p:sp>
      <p:sp>
        <p:nvSpPr>
          <p:cNvPr id="12" name="Issue label 1"/>
          <p:cNvSpPr txBox="1"/>
          <p:nvPr/>
        </p:nvSpPr>
        <p:spPr>
          <a:xfrm>
            <a:off x="4663440" y="1554480"/>
            <a:ext cx="2461108" cy="365760"/>
          </a:xfrm>
          <a:prstGeom prst="rect">
            <a:avLst/>
          </a:prstGeom>
          <a:noFill/>
          <a:ln/>
        </p:spPr>
        <p:txBody>
          <a:bodyPr wrap="square" lIns="0" tIns="0" rIns="0" bIns="0" rtlCol="0" anchor="t"/>
          <a:lstStyle/>
          <a:p>
            <a:pPr indent="0" marL="0">
              <a:buNone/>
            </a:pPr>
            <a:r>
              <a:rPr lang="en-US" sz="1700" b="1" dirty="0">
                <a:solidFill>
                  <a:schemeClr val="tx1"/>
                </a:solidFill>
              </a:rPr>
              <a:t>missing cells</a:t>
            </a:r>
            <a:endParaRPr lang="en-US" sz="1700" dirty="0"/>
          </a:p>
        </p:txBody>
      </p:sp>
      <p:sp>
        <p:nvSpPr>
          <p:cNvPr id="13" name="Issue desc 1"/>
          <p:cNvSpPr txBox="1"/>
          <p:nvPr/>
        </p:nvSpPr>
        <p:spPr>
          <a:xfrm>
            <a:off x="4663440" y="1920240"/>
            <a:ext cx="2461108" cy="548640"/>
          </a:xfrm>
          <a:prstGeom prst="rect">
            <a:avLst/>
          </a:prstGeom>
          <a:noFill/>
          <a:ln/>
        </p:spPr>
        <p:txBody>
          <a:bodyPr wrap="square" lIns="0" tIns="0" rIns="0" bIns="0" rtlCol="0" anchor="t"/>
          <a:lstStyle/>
          <a:p>
            <a:pPr indent="0" marL="0">
              <a:buNone/>
            </a:pPr>
            <a:r>
              <a:rPr lang="en-US" sz="1300" dirty="0">
                <a:solidFill>
                  <a:schemeClr val="tx2"/>
                </a:solidFill>
              </a:rPr>
              <a:t>26 each in RAM, cores, storage, clock, temperature, OS</a:t>
            </a:r>
            <a:endParaRPr lang="en-US" sz="1300" dirty="0"/>
          </a:p>
        </p:txBody>
      </p:sp>
      <p:sp>
        <p:nvSpPr>
          <p:cNvPr id="14" name="Issue card 2"/>
          <p:cNvSpPr/>
          <p:nvPr/>
        </p:nvSpPr>
        <p:spPr>
          <a:xfrm>
            <a:off x="7581748" y="1371600"/>
            <a:ext cx="4061308" cy="1188720"/>
          </a:xfrm>
          <a:prstGeom prst="roundRect">
            <a:avLst>
              <a:gd name="adj" fmla="val 6154"/>
            </a:avLst>
          </a:prstGeom>
          <a:solidFill>
            <a:schemeClr val="bg2"/>
          </a:solidFill>
          <a:ln w="12700">
            <a:solidFill>
              <a:schemeClr val="bg2"/>
            </a:solidFill>
            <a:prstDash val="solid"/>
          </a:ln>
        </p:spPr>
      </p:sp>
      <p:sp>
        <p:nvSpPr>
          <p:cNvPr id="15" name="Issue value 2"/>
          <p:cNvSpPr txBox="1"/>
          <p:nvPr/>
        </p:nvSpPr>
        <p:spPr>
          <a:xfrm>
            <a:off x="7810348" y="1536192"/>
            <a:ext cx="1188720" cy="640080"/>
          </a:xfrm>
          <a:prstGeom prst="rect">
            <a:avLst/>
          </a:prstGeom>
          <a:noFill/>
          <a:ln/>
        </p:spPr>
        <p:txBody>
          <a:bodyPr wrap="square" lIns="0" tIns="0" rIns="0" bIns="0" rtlCol="0" anchor="t"/>
          <a:lstStyle/>
          <a:p>
            <a:pPr indent="0" marL="0">
              <a:buNone/>
            </a:pPr>
            <a:r>
              <a:rPr lang="en-US" sz="3200" b="1" dirty="0">
                <a:solidFill>
                  <a:schemeClr val="accent1"/>
                </a:solidFill>
              </a:rPr>
              <a:t>11</a:t>
            </a:r>
            <a:endParaRPr lang="en-US" sz="3200" dirty="0"/>
          </a:p>
        </p:txBody>
      </p:sp>
      <p:sp>
        <p:nvSpPr>
          <p:cNvPr id="16" name="Issue label 2"/>
          <p:cNvSpPr txBox="1"/>
          <p:nvPr/>
        </p:nvSpPr>
        <p:spPr>
          <a:xfrm>
            <a:off x="8999068" y="1554480"/>
            <a:ext cx="2461108" cy="365760"/>
          </a:xfrm>
          <a:prstGeom prst="rect">
            <a:avLst/>
          </a:prstGeom>
          <a:noFill/>
          <a:ln/>
        </p:spPr>
        <p:txBody>
          <a:bodyPr wrap="square" lIns="0" tIns="0" rIns="0" bIns="0" rtlCol="0" anchor="t"/>
          <a:lstStyle/>
          <a:p>
            <a:pPr indent="0" marL="0">
              <a:buNone/>
            </a:pPr>
            <a:r>
              <a:rPr lang="en-US" sz="1700" b="1" dirty="0">
                <a:solidFill>
                  <a:schemeClr val="tx1"/>
                </a:solidFill>
              </a:rPr>
              <a:t>OS spellings</a:t>
            </a:r>
            <a:endParaRPr lang="en-US" sz="1700" dirty="0"/>
          </a:p>
        </p:txBody>
      </p:sp>
      <p:sp>
        <p:nvSpPr>
          <p:cNvPr id="17" name="Issue desc 2"/>
          <p:cNvSpPr txBox="1"/>
          <p:nvPr/>
        </p:nvSpPr>
        <p:spPr>
          <a:xfrm>
            <a:off x="8999068" y="1920240"/>
            <a:ext cx="2461108" cy="548640"/>
          </a:xfrm>
          <a:prstGeom prst="rect">
            <a:avLst/>
          </a:prstGeom>
          <a:noFill/>
          <a:ln/>
        </p:spPr>
        <p:txBody>
          <a:bodyPr wrap="square" lIns="0" tIns="0" rIns="0" bIns="0" rtlCol="0" anchor="t"/>
          <a:lstStyle/>
          <a:p>
            <a:pPr indent="0" marL="0">
              <a:buNone/>
            </a:pPr>
            <a:r>
              <a:rPr lang="en-US" sz="1300" dirty="0">
                <a:solidFill>
                  <a:schemeClr val="tx2"/>
                </a:solidFill>
              </a:rPr>
              <a:t>Win10, WINDOWS, Ubuntu, 'Linux ' ... plus 26 blanks</a:t>
            </a:r>
            <a:endParaRPr lang="en-US" sz="1300" dirty="0"/>
          </a:p>
        </p:txBody>
      </p:sp>
      <p:sp>
        <p:nvSpPr>
          <p:cNvPr id="18" name="Issue card 3"/>
          <p:cNvSpPr/>
          <p:nvPr/>
        </p:nvSpPr>
        <p:spPr>
          <a:xfrm>
            <a:off x="3246120" y="2743200"/>
            <a:ext cx="4061308" cy="1188720"/>
          </a:xfrm>
          <a:prstGeom prst="roundRect">
            <a:avLst>
              <a:gd name="adj" fmla="val 6154"/>
            </a:avLst>
          </a:prstGeom>
          <a:solidFill>
            <a:schemeClr val="bg2"/>
          </a:solidFill>
          <a:ln w="12700">
            <a:solidFill>
              <a:schemeClr val="bg2"/>
            </a:solidFill>
            <a:prstDash val="solid"/>
          </a:ln>
        </p:spPr>
      </p:sp>
      <p:sp>
        <p:nvSpPr>
          <p:cNvPr id="19" name="Issue value 3"/>
          <p:cNvSpPr txBox="1"/>
          <p:nvPr/>
        </p:nvSpPr>
        <p:spPr>
          <a:xfrm>
            <a:off x="3474720" y="2907792"/>
            <a:ext cx="1188720" cy="640080"/>
          </a:xfrm>
          <a:prstGeom prst="rect">
            <a:avLst/>
          </a:prstGeom>
          <a:noFill/>
          <a:ln/>
        </p:spPr>
        <p:txBody>
          <a:bodyPr wrap="square" lIns="0" tIns="0" rIns="0" bIns="0" rtlCol="0" anchor="t"/>
          <a:lstStyle/>
          <a:p>
            <a:pPr indent="0" marL="0">
              <a:buNone/>
            </a:pPr>
            <a:r>
              <a:rPr lang="en-US" sz="3200" b="1" dirty="0">
                <a:solidFill>
                  <a:schemeClr val="accent1"/>
                </a:solidFill>
              </a:rPr>
              <a:t>9</a:t>
            </a:r>
            <a:endParaRPr lang="en-US" sz="3200" dirty="0"/>
          </a:p>
        </p:txBody>
      </p:sp>
      <p:sp>
        <p:nvSpPr>
          <p:cNvPr id="20" name="Issue label 3"/>
          <p:cNvSpPr txBox="1"/>
          <p:nvPr/>
        </p:nvSpPr>
        <p:spPr>
          <a:xfrm>
            <a:off x="4663440" y="2926080"/>
            <a:ext cx="2461108" cy="365760"/>
          </a:xfrm>
          <a:prstGeom prst="rect">
            <a:avLst/>
          </a:prstGeom>
          <a:noFill/>
          <a:ln/>
        </p:spPr>
        <p:txBody>
          <a:bodyPr wrap="square" lIns="0" tIns="0" rIns="0" bIns="0" rtlCol="0" anchor="t"/>
          <a:lstStyle/>
          <a:p>
            <a:pPr indent="0" marL="0">
              <a:buNone/>
            </a:pPr>
            <a:r>
              <a:rPr lang="en-US" sz="1700" b="1" dirty="0">
                <a:solidFill>
                  <a:schemeClr val="tx1"/>
                </a:solidFill>
              </a:rPr>
              <a:t>RAM values as text</a:t>
            </a:r>
            <a:endParaRPr lang="en-US" sz="1700" dirty="0"/>
          </a:p>
        </p:txBody>
      </p:sp>
      <p:sp>
        <p:nvSpPr>
          <p:cNvPr id="21" name="Issue desc 3"/>
          <p:cNvSpPr txBox="1"/>
          <p:nvPr/>
        </p:nvSpPr>
        <p:spPr>
          <a:xfrm>
            <a:off x="4663440" y="3291840"/>
            <a:ext cx="2461108" cy="548640"/>
          </a:xfrm>
          <a:prstGeom prst="rect">
            <a:avLst/>
          </a:prstGeom>
          <a:noFill/>
          <a:ln/>
        </p:spPr>
        <p:txBody>
          <a:bodyPr wrap="square" lIns="0" tIns="0" rIns="0" bIns="0" rtlCol="0" anchor="t"/>
          <a:lstStyle/>
          <a:p>
            <a:pPr indent="0" marL="0">
              <a:buNone/>
            </a:pPr>
            <a:r>
              <a:rPr lang="en-US" sz="1300" dirty="0">
                <a:solidFill>
                  <a:schemeClr val="tx2"/>
                </a:solidFill>
              </a:rPr>
              <a:t>Entries like ' 32GB' instead of a number</a:t>
            </a:r>
            <a:endParaRPr lang="en-US" sz="1300" dirty="0"/>
          </a:p>
        </p:txBody>
      </p:sp>
      <p:sp>
        <p:nvSpPr>
          <p:cNvPr id="22" name="Issue card 4"/>
          <p:cNvSpPr/>
          <p:nvPr/>
        </p:nvSpPr>
        <p:spPr>
          <a:xfrm>
            <a:off x="7581748" y="2743200"/>
            <a:ext cx="4061308" cy="1188720"/>
          </a:xfrm>
          <a:prstGeom prst="roundRect">
            <a:avLst>
              <a:gd name="adj" fmla="val 6154"/>
            </a:avLst>
          </a:prstGeom>
          <a:solidFill>
            <a:schemeClr val="bg2"/>
          </a:solidFill>
          <a:ln w="12700">
            <a:solidFill>
              <a:schemeClr val="bg2"/>
            </a:solidFill>
            <a:prstDash val="solid"/>
          </a:ln>
        </p:spPr>
      </p:sp>
      <p:sp>
        <p:nvSpPr>
          <p:cNvPr id="23" name="Issue value 4"/>
          <p:cNvSpPr txBox="1"/>
          <p:nvPr/>
        </p:nvSpPr>
        <p:spPr>
          <a:xfrm>
            <a:off x="7810348" y="2907792"/>
            <a:ext cx="1188720" cy="640080"/>
          </a:xfrm>
          <a:prstGeom prst="rect">
            <a:avLst/>
          </a:prstGeom>
          <a:noFill/>
          <a:ln/>
        </p:spPr>
        <p:txBody>
          <a:bodyPr wrap="square" lIns="0" tIns="0" rIns="0" bIns="0" rtlCol="0" anchor="t"/>
          <a:lstStyle/>
          <a:p>
            <a:pPr indent="0" marL="0">
              <a:buNone/>
            </a:pPr>
            <a:r>
              <a:rPr lang="en-US" sz="3200" b="1" dirty="0">
                <a:solidFill>
                  <a:schemeClr val="accent1"/>
                </a:solidFill>
              </a:rPr>
              <a:t>9</a:t>
            </a:r>
            <a:endParaRPr lang="en-US" sz="3200" dirty="0"/>
          </a:p>
        </p:txBody>
      </p:sp>
      <p:sp>
        <p:nvSpPr>
          <p:cNvPr id="24" name="Issue label 4"/>
          <p:cNvSpPr txBox="1"/>
          <p:nvPr/>
        </p:nvSpPr>
        <p:spPr>
          <a:xfrm>
            <a:off x="8999068" y="2926080"/>
            <a:ext cx="2461108" cy="365760"/>
          </a:xfrm>
          <a:prstGeom prst="rect">
            <a:avLst/>
          </a:prstGeom>
          <a:noFill/>
          <a:ln/>
        </p:spPr>
        <p:txBody>
          <a:bodyPr wrap="square" lIns="0" tIns="0" rIns="0" bIns="0" rtlCol="0" anchor="t"/>
          <a:lstStyle/>
          <a:p>
            <a:pPr indent="0" marL="0">
              <a:buNone/>
            </a:pPr>
            <a:r>
              <a:rPr lang="en-US" sz="1700" b="1" dirty="0">
                <a:solidFill>
                  <a:schemeClr val="tx1"/>
                </a:solidFill>
              </a:rPr>
              <a:t>duplicate rows</a:t>
            </a:r>
            <a:endParaRPr lang="en-US" sz="1700" dirty="0"/>
          </a:p>
        </p:txBody>
      </p:sp>
      <p:sp>
        <p:nvSpPr>
          <p:cNvPr id="25" name="Issue desc 4"/>
          <p:cNvSpPr txBox="1"/>
          <p:nvPr/>
        </p:nvSpPr>
        <p:spPr>
          <a:xfrm>
            <a:off x="8999068" y="3291840"/>
            <a:ext cx="2461108" cy="548640"/>
          </a:xfrm>
          <a:prstGeom prst="rect">
            <a:avLst/>
          </a:prstGeom>
          <a:noFill/>
          <a:ln/>
        </p:spPr>
        <p:txBody>
          <a:bodyPr wrap="square" lIns="0" tIns="0" rIns="0" bIns="0" rtlCol="0" anchor="t"/>
          <a:lstStyle/>
          <a:p>
            <a:pPr indent="0" marL="0">
              <a:buNone/>
            </a:pPr>
            <a:r>
              <a:rPr lang="en-US" sz="1300" dirty="0">
                <a:solidFill>
                  <a:schemeClr val="tx2"/>
                </a:solidFill>
              </a:rPr>
              <a:t>6 exact copies, 3 more after cleaning</a:t>
            </a:r>
            <a:endParaRPr lang="en-US" sz="1300" dirty="0"/>
          </a:p>
        </p:txBody>
      </p:sp>
      <p:sp>
        <p:nvSpPr>
          <p:cNvPr id="26" name="Impossible values card"/>
          <p:cNvSpPr/>
          <p:nvPr/>
        </p:nvSpPr>
        <p:spPr>
          <a:xfrm>
            <a:off x="3246120" y="4160520"/>
            <a:ext cx="8396935" cy="2011680"/>
          </a:xfrm>
          <a:prstGeom prst="roundRect">
            <a:avLst>
              <a:gd name="adj" fmla="val 3636"/>
            </a:avLst>
          </a:prstGeom>
          <a:solidFill>
            <a:schemeClr val="bg2"/>
          </a:solidFill>
          <a:ln w="12700">
            <a:solidFill>
              <a:schemeClr val="bg2"/>
            </a:solidFill>
            <a:prstDash val="solid"/>
          </a:ln>
        </p:spPr>
      </p:sp>
      <p:sp>
        <p:nvSpPr>
          <p:cNvPr id="27" name="Impossible title"/>
          <p:cNvSpPr txBox="1"/>
          <p:nvPr/>
        </p:nvSpPr>
        <p:spPr>
          <a:xfrm>
            <a:off x="3520440" y="4315968"/>
            <a:ext cx="7848295" cy="365760"/>
          </a:xfrm>
          <a:prstGeom prst="rect">
            <a:avLst/>
          </a:prstGeom>
          <a:noFill/>
          <a:ln/>
        </p:spPr>
        <p:txBody>
          <a:bodyPr wrap="square" lIns="0" tIns="0" rIns="0" bIns="0" rtlCol="0" anchor="t"/>
          <a:lstStyle/>
          <a:p>
            <a:pPr indent="0" marL="0">
              <a:buNone/>
            </a:pPr>
            <a:r>
              <a:rPr lang="en-US" sz="1700" b="1" dirty="0">
                <a:solidFill>
                  <a:schemeClr val="tx1"/>
                </a:solidFill>
              </a:rPr>
              <a:t>8 physically impossible values, removed with valid domain limits</a:t>
            </a:r>
            <a:endParaRPr lang="en-US" sz="1700" dirty="0"/>
          </a:p>
        </p:txBody>
      </p:sp>
      <p:sp>
        <p:nvSpPr>
          <p:cNvPr id="28" name="Bad chip 1"/>
          <p:cNvSpPr/>
          <p:nvPr/>
        </p:nvSpPr>
        <p:spPr>
          <a:xfrm>
            <a:off x="3520440" y="4846320"/>
            <a:ext cx="1824914" cy="438912"/>
          </a:xfrm>
          <a:prstGeom prst="roundRect">
            <a:avLst>
              <a:gd name="adj" fmla="val 12500"/>
            </a:avLst>
          </a:prstGeom>
          <a:solidFill>
            <a:schemeClr val="bg1"/>
          </a:solidFill>
          <a:ln w="12700">
            <a:solidFill>
              <a:schemeClr val="bg1"/>
            </a:solidFill>
            <a:prstDash val="solid"/>
          </a:ln>
        </p:spPr>
      </p:sp>
      <p:sp>
        <p:nvSpPr>
          <p:cNvPr id="29" name="Bad value 1"/>
          <p:cNvSpPr txBox="1"/>
          <p:nvPr/>
        </p:nvSpPr>
        <p:spPr>
          <a:xfrm>
            <a:off x="3520440" y="4846320"/>
            <a:ext cx="1824914" cy="438912"/>
          </a:xfrm>
          <a:prstGeom prst="rect">
            <a:avLst/>
          </a:prstGeom>
          <a:noFill/>
          <a:ln/>
        </p:spPr>
        <p:txBody>
          <a:bodyPr wrap="square" lIns="0" tIns="0" rIns="0" bIns="0" rtlCol="0" anchor="ctr"/>
          <a:lstStyle/>
          <a:p>
            <a:pPr algn="ctr" indent="0" marL="0">
              <a:buNone/>
            </a:pPr>
            <a:r>
              <a:rPr lang="en-US" sz="1400" b="1" dirty="0">
                <a:solidFill>
                  <a:schemeClr val="accent6"/>
                </a:solidFill>
              </a:rPr>
              <a:t>GPU level 25</a:t>
            </a:r>
            <a:endParaRPr lang="en-US" sz="1400" dirty="0"/>
          </a:p>
        </p:txBody>
      </p:sp>
      <p:sp>
        <p:nvSpPr>
          <p:cNvPr id="30" name="Bad chip 2"/>
          <p:cNvSpPr/>
          <p:nvPr/>
        </p:nvSpPr>
        <p:spPr>
          <a:xfrm>
            <a:off x="5528234" y="4846320"/>
            <a:ext cx="1824914" cy="438912"/>
          </a:xfrm>
          <a:prstGeom prst="roundRect">
            <a:avLst>
              <a:gd name="adj" fmla="val 12500"/>
            </a:avLst>
          </a:prstGeom>
          <a:solidFill>
            <a:schemeClr val="bg1"/>
          </a:solidFill>
          <a:ln w="12700">
            <a:solidFill>
              <a:schemeClr val="bg1"/>
            </a:solidFill>
            <a:prstDash val="solid"/>
          </a:ln>
        </p:spPr>
      </p:sp>
      <p:sp>
        <p:nvSpPr>
          <p:cNvPr id="31" name="Bad value 2"/>
          <p:cNvSpPr txBox="1"/>
          <p:nvPr/>
        </p:nvSpPr>
        <p:spPr>
          <a:xfrm>
            <a:off x="5528234" y="4846320"/>
            <a:ext cx="1824914" cy="438912"/>
          </a:xfrm>
          <a:prstGeom prst="rect">
            <a:avLst/>
          </a:prstGeom>
          <a:noFill/>
          <a:ln/>
        </p:spPr>
        <p:txBody>
          <a:bodyPr wrap="square" lIns="0" tIns="0" rIns="0" bIns="0" rtlCol="0" anchor="ctr"/>
          <a:lstStyle/>
          <a:p>
            <a:pPr algn="ctr" indent="0" marL="0">
              <a:buNone/>
            </a:pPr>
            <a:r>
              <a:rPr lang="en-US" sz="1400" b="1" dirty="0">
                <a:solidFill>
                  <a:schemeClr val="accent6"/>
                </a:solidFill>
              </a:rPr>
              <a:t>0 CPU cores</a:t>
            </a:r>
            <a:endParaRPr lang="en-US" sz="1400" dirty="0"/>
          </a:p>
        </p:txBody>
      </p:sp>
      <p:sp>
        <p:nvSpPr>
          <p:cNvPr id="32" name="Bad chip 3"/>
          <p:cNvSpPr/>
          <p:nvPr/>
        </p:nvSpPr>
        <p:spPr>
          <a:xfrm>
            <a:off x="7536028" y="4846320"/>
            <a:ext cx="1824914" cy="438912"/>
          </a:xfrm>
          <a:prstGeom prst="roundRect">
            <a:avLst>
              <a:gd name="adj" fmla="val 12500"/>
            </a:avLst>
          </a:prstGeom>
          <a:solidFill>
            <a:schemeClr val="bg1"/>
          </a:solidFill>
          <a:ln w="12700">
            <a:solidFill>
              <a:schemeClr val="bg1"/>
            </a:solidFill>
            <a:prstDash val="solid"/>
          </a:ln>
        </p:spPr>
      </p:sp>
      <p:sp>
        <p:nvSpPr>
          <p:cNvPr id="33" name="Bad value 3"/>
          <p:cNvSpPr txBox="1"/>
          <p:nvPr/>
        </p:nvSpPr>
        <p:spPr>
          <a:xfrm>
            <a:off x="7536028" y="4846320"/>
            <a:ext cx="1824914" cy="438912"/>
          </a:xfrm>
          <a:prstGeom prst="rect">
            <a:avLst/>
          </a:prstGeom>
          <a:noFill/>
          <a:ln/>
        </p:spPr>
        <p:txBody>
          <a:bodyPr wrap="square" lIns="0" tIns="0" rIns="0" bIns="0" rtlCol="0" anchor="ctr"/>
          <a:lstStyle/>
          <a:p>
            <a:pPr algn="ctr" indent="0" marL="0">
              <a:buNone/>
            </a:pPr>
            <a:r>
              <a:rPr lang="en-US" sz="1400" b="1" dirty="0">
                <a:solidFill>
                  <a:schemeClr val="accent6"/>
                </a:solidFill>
              </a:rPr>
              <a:t>145 °C</a:t>
            </a:r>
            <a:endParaRPr lang="en-US" sz="1400" dirty="0"/>
          </a:p>
        </p:txBody>
      </p:sp>
      <p:sp>
        <p:nvSpPr>
          <p:cNvPr id="34" name="Bad chip 4"/>
          <p:cNvSpPr/>
          <p:nvPr/>
        </p:nvSpPr>
        <p:spPr>
          <a:xfrm>
            <a:off x="9543821" y="4846320"/>
            <a:ext cx="1824914" cy="438912"/>
          </a:xfrm>
          <a:prstGeom prst="roundRect">
            <a:avLst>
              <a:gd name="adj" fmla="val 12500"/>
            </a:avLst>
          </a:prstGeom>
          <a:solidFill>
            <a:schemeClr val="bg1"/>
          </a:solidFill>
          <a:ln w="12700">
            <a:solidFill>
              <a:schemeClr val="bg1"/>
            </a:solidFill>
            <a:prstDash val="solid"/>
          </a:ln>
        </p:spPr>
      </p:sp>
      <p:sp>
        <p:nvSpPr>
          <p:cNvPr id="35" name="Bad value 4"/>
          <p:cNvSpPr txBox="1"/>
          <p:nvPr/>
        </p:nvSpPr>
        <p:spPr>
          <a:xfrm>
            <a:off x="9543821" y="4846320"/>
            <a:ext cx="1824914" cy="438912"/>
          </a:xfrm>
          <a:prstGeom prst="rect">
            <a:avLst/>
          </a:prstGeom>
          <a:noFill/>
          <a:ln/>
        </p:spPr>
        <p:txBody>
          <a:bodyPr wrap="square" lIns="0" tIns="0" rIns="0" bIns="0" rtlCol="0" anchor="ctr"/>
          <a:lstStyle/>
          <a:p>
            <a:pPr algn="ctr" indent="0" marL="0">
              <a:buNone/>
            </a:pPr>
            <a:r>
              <a:rPr lang="en-US" sz="1400" b="1" dirty="0">
                <a:solidFill>
                  <a:schemeClr val="accent6"/>
                </a:solidFill>
              </a:rPr>
              <a:t>Age -1.5 years</a:t>
            </a:r>
            <a:endParaRPr lang="en-US" sz="1400" dirty="0"/>
          </a:p>
        </p:txBody>
      </p:sp>
      <p:sp>
        <p:nvSpPr>
          <p:cNvPr id="36" name="Bad chip 5"/>
          <p:cNvSpPr/>
          <p:nvPr/>
        </p:nvSpPr>
        <p:spPr>
          <a:xfrm>
            <a:off x="3520440" y="5413248"/>
            <a:ext cx="1824914" cy="438912"/>
          </a:xfrm>
          <a:prstGeom prst="roundRect">
            <a:avLst>
              <a:gd name="adj" fmla="val 12500"/>
            </a:avLst>
          </a:prstGeom>
          <a:solidFill>
            <a:schemeClr val="bg1"/>
          </a:solidFill>
          <a:ln w="12700">
            <a:solidFill>
              <a:schemeClr val="bg1"/>
            </a:solidFill>
            <a:prstDash val="solid"/>
          </a:ln>
        </p:spPr>
      </p:sp>
      <p:sp>
        <p:nvSpPr>
          <p:cNvPr id="37" name="Bad value 5"/>
          <p:cNvSpPr txBox="1"/>
          <p:nvPr/>
        </p:nvSpPr>
        <p:spPr>
          <a:xfrm>
            <a:off x="3520440" y="5413248"/>
            <a:ext cx="1824914" cy="438912"/>
          </a:xfrm>
          <a:prstGeom prst="rect">
            <a:avLst/>
          </a:prstGeom>
          <a:noFill/>
          <a:ln/>
        </p:spPr>
        <p:txBody>
          <a:bodyPr wrap="square" lIns="0" tIns="0" rIns="0" bIns="0" rtlCol="0" anchor="ctr"/>
          <a:lstStyle/>
          <a:p>
            <a:pPr algn="ctr" indent="0" marL="0">
              <a:buNone/>
            </a:pPr>
            <a:r>
              <a:rPr lang="en-US" sz="1400" b="1" dirty="0">
                <a:solidFill>
                  <a:schemeClr val="accent6"/>
                </a:solidFill>
              </a:rPr>
              <a:t>RAM 999 GB</a:t>
            </a:r>
            <a:endParaRPr lang="en-US" sz="1400" dirty="0"/>
          </a:p>
        </p:txBody>
      </p:sp>
      <p:sp>
        <p:nvSpPr>
          <p:cNvPr id="38" name="Bad chip 6"/>
          <p:cNvSpPr/>
          <p:nvPr/>
        </p:nvSpPr>
        <p:spPr>
          <a:xfrm>
            <a:off x="5528234" y="5413248"/>
            <a:ext cx="1824914" cy="438912"/>
          </a:xfrm>
          <a:prstGeom prst="roundRect">
            <a:avLst>
              <a:gd name="adj" fmla="val 12500"/>
            </a:avLst>
          </a:prstGeom>
          <a:solidFill>
            <a:schemeClr val="bg1"/>
          </a:solidFill>
          <a:ln w="12700">
            <a:solidFill>
              <a:schemeClr val="bg1"/>
            </a:solidFill>
            <a:prstDash val="solid"/>
          </a:ln>
        </p:spPr>
      </p:sp>
      <p:sp>
        <p:nvSpPr>
          <p:cNvPr id="39" name="Bad value 6"/>
          <p:cNvSpPr txBox="1"/>
          <p:nvPr/>
        </p:nvSpPr>
        <p:spPr>
          <a:xfrm>
            <a:off x="5528234" y="5413248"/>
            <a:ext cx="1824914" cy="438912"/>
          </a:xfrm>
          <a:prstGeom prst="rect">
            <a:avLst/>
          </a:prstGeom>
          <a:noFill/>
          <a:ln/>
        </p:spPr>
        <p:txBody>
          <a:bodyPr wrap="square" lIns="0" tIns="0" rIns="0" bIns="0" rtlCol="0" anchor="ctr"/>
          <a:lstStyle/>
          <a:p>
            <a:pPr algn="ctr" indent="0" marL="0">
              <a:buNone/>
            </a:pPr>
            <a:r>
              <a:rPr lang="en-US" sz="1400" b="1" dirty="0">
                <a:solidFill>
                  <a:schemeClr val="accent6"/>
                </a:solidFill>
              </a:rPr>
              <a:t>Clock 12.4 GHz</a:t>
            </a:r>
            <a:endParaRPr lang="en-US" sz="1400" dirty="0"/>
          </a:p>
        </p:txBody>
      </p:sp>
      <p:sp>
        <p:nvSpPr>
          <p:cNvPr id="40" name="Bad chip 7"/>
          <p:cNvSpPr/>
          <p:nvPr/>
        </p:nvSpPr>
        <p:spPr>
          <a:xfrm>
            <a:off x="7536028" y="5413248"/>
            <a:ext cx="1824914" cy="438912"/>
          </a:xfrm>
          <a:prstGeom prst="roundRect">
            <a:avLst>
              <a:gd name="adj" fmla="val 12500"/>
            </a:avLst>
          </a:prstGeom>
          <a:solidFill>
            <a:schemeClr val="bg1"/>
          </a:solidFill>
          <a:ln w="12700">
            <a:solidFill>
              <a:schemeClr val="bg1"/>
            </a:solidFill>
            <a:prstDash val="solid"/>
          </a:ln>
        </p:spPr>
      </p:sp>
      <p:sp>
        <p:nvSpPr>
          <p:cNvPr id="41" name="Bad value 7"/>
          <p:cNvSpPr txBox="1"/>
          <p:nvPr/>
        </p:nvSpPr>
        <p:spPr>
          <a:xfrm>
            <a:off x="7536028" y="5413248"/>
            <a:ext cx="1824914" cy="438912"/>
          </a:xfrm>
          <a:prstGeom prst="rect">
            <a:avLst/>
          </a:prstGeom>
          <a:noFill/>
          <a:ln/>
        </p:spPr>
        <p:txBody>
          <a:bodyPr wrap="square" lIns="0" tIns="0" rIns="0" bIns="0" rtlCol="0" anchor="ctr"/>
          <a:lstStyle/>
          <a:p>
            <a:pPr algn="ctr" indent="0" marL="0">
              <a:buNone/>
            </a:pPr>
            <a:r>
              <a:rPr lang="en-US" sz="1400" b="1" dirty="0">
                <a:solidFill>
                  <a:schemeClr val="accent6"/>
                </a:solidFill>
              </a:rPr>
              <a:t>Storage -256 GB</a:t>
            </a:r>
            <a:endParaRPr lang="en-US" sz="1400" dirty="0"/>
          </a:p>
        </p:txBody>
      </p:sp>
      <p:sp>
        <p:nvSpPr>
          <p:cNvPr id="42" name="Bad chip 8"/>
          <p:cNvSpPr/>
          <p:nvPr/>
        </p:nvSpPr>
        <p:spPr>
          <a:xfrm>
            <a:off x="9543821" y="5413248"/>
            <a:ext cx="1824914" cy="438912"/>
          </a:xfrm>
          <a:prstGeom prst="roundRect">
            <a:avLst>
              <a:gd name="adj" fmla="val 12500"/>
            </a:avLst>
          </a:prstGeom>
          <a:solidFill>
            <a:schemeClr val="bg1"/>
          </a:solidFill>
          <a:ln w="12700">
            <a:solidFill>
              <a:schemeClr val="bg1"/>
            </a:solidFill>
            <a:prstDash val="solid"/>
          </a:ln>
        </p:spPr>
      </p:sp>
      <p:sp>
        <p:nvSpPr>
          <p:cNvPr id="43" name="Bad value 8"/>
          <p:cNvSpPr txBox="1"/>
          <p:nvPr/>
        </p:nvSpPr>
        <p:spPr>
          <a:xfrm>
            <a:off x="9543821" y="5413248"/>
            <a:ext cx="1824914" cy="438912"/>
          </a:xfrm>
          <a:prstGeom prst="rect">
            <a:avLst/>
          </a:prstGeom>
          <a:noFill/>
          <a:ln/>
        </p:spPr>
        <p:txBody>
          <a:bodyPr wrap="square" lIns="0" tIns="0" rIns="0" bIns="0" rtlCol="0" anchor="ctr"/>
          <a:lstStyle/>
          <a:p>
            <a:pPr algn="ctr" indent="0" marL="0">
              <a:buNone/>
            </a:pPr>
            <a:r>
              <a:rPr lang="en-US" sz="1400" b="1" dirty="0">
                <a:solidFill>
                  <a:schemeClr val="accent6"/>
                </a:solidFill>
              </a:rPr>
              <a:t>Score 1450</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Preprocessing: from 520 to 503 clean rows</a:t>
            </a:r>
            <a:endParaRPr lang="en-US" sz="3200" dirty="0"/>
          </a:p>
        </p:txBody>
      </p:sp>
      <p:sp>
        <p:nvSpPr>
          <p:cNvPr id="4" name="Pipeline line"/>
          <p:cNvSpPr/>
          <p:nvPr/>
        </p:nvSpPr>
        <p:spPr>
          <a:xfrm>
            <a:off x="1341098" y="1988820"/>
            <a:ext cx="9509499" cy="0"/>
          </a:xfrm>
          <a:prstGeom prst="line">
            <a:avLst/>
          </a:prstGeom>
          <a:noFill/>
          <a:ln w="19050">
            <a:solidFill>
              <a:schemeClr val="accent4"/>
            </a:solidFill>
            <a:prstDash val="solid"/>
          </a:ln>
        </p:spPr>
      </p:sp>
      <p:sp>
        <p:nvSpPr>
          <p:cNvPr id="5" name="Step circle 1"/>
          <p:cNvSpPr/>
          <p:nvPr/>
        </p:nvSpPr>
        <p:spPr>
          <a:xfrm>
            <a:off x="952478" y="1600200"/>
            <a:ext cx="777240" cy="777240"/>
          </a:xfrm>
          <a:prstGeom prst="ellipse">
            <a:avLst/>
          </a:prstGeom>
          <a:solidFill>
            <a:schemeClr val="accent1"/>
          </a:solidFill>
          <a:ln w="38100">
            <a:solidFill>
              <a:schemeClr val="bg1"/>
            </a:solidFill>
            <a:prstDash val="solid"/>
          </a:ln>
        </p:spPr>
      </p:sp>
      <p:sp>
        <p:nvSpPr>
          <p:cNvPr id="6" name="Step number 1"/>
          <p:cNvSpPr txBox="1"/>
          <p:nvPr/>
        </p:nvSpPr>
        <p:spPr>
          <a:xfrm>
            <a:off x="952478"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Step title 1"/>
          <p:cNvSpPr txBox="1"/>
          <p:nvPr/>
        </p:nvSpPr>
        <p:spPr>
          <a:xfrm>
            <a:off x="594360"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Fix data types</a:t>
            </a:r>
            <a:endParaRPr lang="en-US" sz="1600" dirty="0"/>
          </a:p>
        </p:txBody>
      </p:sp>
      <p:sp>
        <p:nvSpPr>
          <p:cNvPr id="8" name="Step desc 1"/>
          <p:cNvSpPr txBox="1"/>
          <p:nvPr/>
        </p:nvSpPr>
        <p:spPr>
          <a:xfrm>
            <a:off x="594360"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Strip 'GB', convert to numbers</a:t>
            </a:r>
            <a:endParaRPr lang="en-US" sz="1300" dirty="0"/>
          </a:p>
        </p:txBody>
      </p:sp>
      <p:sp>
        <p:nvSpPr>
          <p:cNvPr id="9" name="Step circle 2"/>
          <p:cNvSpPr/>
          <p:nvPr/>
        </p:nvSpPr>
        <p:spPr>
          <a:xfrm>
            <a:off x="2537395" y="1600200"/>
            <a:ext cx="777240" cy="777240"/>
          </a:xfrm>
          <a:prstGeom prst="ellipse">
            <a:avLst/>
          </a:prstGeom>
          <a:solidFill>
            <a:schemeClr val="accent1"/>
          </a:solidFill>
          <a:ln w="38100">
            <a:solidFill>
              <a:schemeClr val="bg1"/>
            </a:solidFill>
            <a:prstDash val="solid"/>
          </a:ln>
        </p:spPr>
      </p:sp>
      <p:sp>
        <p:nvSpPr>
          <p:cNvPr id="10" name="Step number 2"/>
          <p:cNvSpPr txBox="1"/>
          <p:nvPr/>
        </p:nvSpPr>
        <p:spPr>
          <a:xfrm>
            <a:off x="2537395"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Step title 2"/>
          <p:cNvSpPr txBox="1"/>
          <p:nvPr/>
        </p:nvSpPr>
        <p:spPr>
          <a:xfrm>
            <a:off x="2179276"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Standardize OS</a:t>
            </a:r>
            <a:endParaRPr lang="en-US" sz="1600" dirty="0"/>
          </a:p>
        </p:txBody>
      </p:sp>
      <p:sp>
        <p:nvSpPr>
          <p:cNvPr id="12" name="Step desc 2"/>
          <p:cNvSpPr txBox="1"/>
          <p:nvPr/>
        </p:nvSpPr>
        <p:spPr>
          <a:xfrm>
            <a:off x="2179276"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11 spellings to Windows / Linux</a:t>
            </a:r>
            <a:endParaRPr lang="en-US" sz="1300" dirty="0"/>
          </a:p>
        </p:txBody>
      </p:sp>
      <p:sp>
        <p:nvSpPr>
          <p:cNvPr id="13" name="Step circle 3"/>
          <p:cNvSpPr/>
          <p:nvPr/>
        </p:nvSpPr>
        <p:spPr>
          <a:xfrm>
            <a:off x="4122311" y="1600200"/>
            <a:ext cx="777240" cy="777240"/>
          </a:xfrm>
          <a:prstGeom prst="ellipse">
            <a:avLst/>
          </a:prstGeom>
          <a:solidFill>
            <a:schemeClr val="accent1"/>
          </a:solidFill>
          <a:ln w="38100">
            <a:solidFill>
              <a:schemeClr val="bg1"/>
            </a:solidFill>
            <a:prstDash val="solid"/>
          </a:ln>
        </p:spPr>
      </p:sp>
      <p:sp>
        <p:nvSpPr>
          <p:cNvPr id="14" name="Step number 3"/>
          <p:cNvSpPr txBox="1"/>
          <p:nvPr/>
        </p:nvSpPr>
        <p:spPr>
          <a:xfrm>
            <a:off x="4122311"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5" name="Step title 3"/>
          <p:cNvSpPr txBox="1"/>
          <p:nvPr/>
        </p:nvSpPr>
        <p:spPr>
          <a:xfrm>
            <a:off x="3764193"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Remove duplicates</a:t>
            </a:r>
            <a:endParaRPr lang="en-US" sz="1600" dirty="0"/>
          </a:p>
        </p:txBody>
      </p:sp>
      <p:sp>
        <p:nvSpPr>
          <p:cNvPr id="16" name="Step desc 3"/>
          <p:cNvSpPr txBox="1"/>
          <p:nvPr/>
        </p:nvSpPr>
        <p:spPr>
          <a:xfrm>
            <a:off x="3764193"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Ignoring Record_ID</a:t>
            </a:r>
            <a:endParaRPr lang="en-US" sz="1300" dirty="0"/>
          </a:p>
        </p:txBody>
      </p:sp>
      <p:sp>
        <p:nvSpPr>
          <p:cNvPr id="17" name="Step circle 4"/>
          <p:cNvSpPr/>
          <p:nvPr/>
        </p:nvSpPr>
        <p:spPr>
          <a:xfrm>
            <a:off x="5707228" y="1600200"/>
            <a:ext cx="777240" cy="777240"/>
          </a:xfrm>
          <a:prstGeom prst="ellipse">
            <a:avLst/>
          </a:prstGeom>
          <a:solidFill>
            <a:schemeClr val="accent1"/>
          </a:solidFill>
          <a:ln w="38100">
            <a:solidFill>
              <a:schemeClr val="bg1"/>
            </a:solidFill>
            <a:prstDash val="solid"/>
          </a:ln>
        </p:spPr>
      </p:sp>
      <p:sp>
        <p:nvSpPr>
          <p:cNvPr id="18" name="Step number 4"/>
          <p:cNvSpPr txBox="1"/>
          <p:nvPr/>
        </p:nvSpPr>
        <p:spPr>
          <a:xfrm>
            <a:off x="5707228"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9" name="Step title 4"/>
          <p:cNvSpPr txBox="1"/>
          <p:nvPr/>
        </p:nvSpPr>
        <p:spPr>
          <a:xfrm>
            <a:off x="5349109"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Filter invalid values</a:t>
            </a:r>
            <a:endParaRPr lang="en-US" sz="1600" dirty="0"/>
          </a:p>
        </p:txBody>
      </p:sp>
      <p:sp>
        <p:nvSpPr>
          <p:cNvPr id="20" name="Step desc 4"/>
          <p:cNvSpPr txBox="1"/>
          <p:nvPr/>
        </p:nvSpPr>
        <p:spPr>
          <a:xfrm>
            <a:off x="5349109"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Domain limits per column</a:t>
            </a:r>
            <a:endParaRPr lang="en-US" sz="1300" dirty="0"/>
          </a:p>
        </p:txBody>
      </p:sp>
      <p:sp>
        <p:nvSpPr>
          <p:cNvPr id="21" name="Step circle 5"/>
          <p:cNvSpPr/>
          <p:nvPr/>
        </p:nvSpPr>
        <p:spPr>
          <a:xfrm>
            <a:off x="7292144" y="1600200"/>
            <a:ext cx="777240" cy="777240"/>
          </a:xfrm>
          <a:prstGeom prst="ellipse">
            <a:avLst/>
          </a:prstGeom>
          <a:solidFill>
            <a:schemeClr val="accent1"/>
          </a:solidFill>
          <a:ln w="38100">
            <a:solidFill>
              <a:schemeClr val="bg1"/>
            </a:solidFill>
            <a:prstDash val="solid"/>
          </a:ln>
        </p:spPr>
      </p:sp>
      <p:sp>
        <p:nvSpPr>
          <p:cNvPr id="22" name="Step number 5"/>
          <p:cNvSpPr txBox="1"/>
          <p:nvPr/>
        </p:nvSpPr>
        <p:spPr>
          <a:xfrm>
            <a:off x="7292144"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3" name="Step title 5"/>
          <p:cNvSpPr txBox="1"/>
          <p:nvPr/>
        </p:nvSpPr>
        <p:spPr>
          <a:xfrm>
            <a:off x="6934026"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Impute missing</a:t>
            </a:r>
            <a:endParaRPr lang="en-US" sz="1600" dirty="0"/>
          </a:p>
        </p:txBody>
      </p:sp>
      <p:sp>
        <p:nvSpPr>
          <p:cNvPr id="24" name="Step desc 5"/>
          <p:cNvSpPr txBox="1"/>
          <p:nvPr/>
        </p:nvSpPr>
        <p:spPr>
          <a:xfrm>
            <a:off x="6934026"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Median for numbers, mode for OS</a:t>
            </a:r>
            <a:endParaRPr lang="en-US" sz="1300" dirty="0"/>
          </a:p>
        </p:txBody>
      </p:sp>
      <p:sp>
        <p:nvSpPr>
          <p:cNvPr id="25" name="Step circle 6"/>
          <p:cNvSpPr/>
          <p:nvPr/>
        </p:nvSpPr>
        <p:spPr>
          <a:xfrm>
            <a:off x="8877061" y="1600200"/>
            <a:ext cx="777240" cy="777240"/>
          </a:xfrm>
          <a:prstGeom prst="ellipse">
            <a:avLst/>
          </a:prstGeom>
          <a:solidFill>
            <a:schemeClr val="accent1"/>
          </a:solidFill>
          <a:ln w="38100">
            <a:solidFill>
              <a:schemeClr val="bg1"/>
            </a:solidFill>
            <a:prstDash val="solid"/>
          </a:ln>
        </p:spPr>
      </p:sp>
      <p:sp>
        <p:nvSpPr>
          <p:cNvPr id="26" name="Step number 6"/>
          <p:cNvSpPr txBox="1"/>
          <p:nvPr/>
        </p:nvSpPr>
        <p:spPr>
          <a:xfrm>
            <a:off x="8877061"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27" name="Step title 6"/>
          <p:cNvSpPr txBox="1"/>
          <p:nvPr/>
        </p:nvSpPr>
        <p:spPr>
          <a:xfrm>
            <a:off x="8518942"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Recompute class</a:t>
            </a:r>
            <a:endParaRPr lang="en-US" sz="1600" dirty="0"/>
          </a:p>
        </p:txBody>
      </p:sp>
      <p:sp>
        <p:nvSpPr>
          <p:cNvPr id="28" name="Step desc 6"/>
          <p:cNvSpPr txBox="1"/>
          <p:nvPr/>
        </p:nvSpPr>
        <p:spPr>
          <a:xfrm>
            <a:off x="8518942"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From the cleaned score</a:t>
            </a:r>
            <a:endParaRPr lang="en-US" sz="1300" dirty="0"/>
          </a:p>
        </p:txBody>
      </p:sp>
      <p:sp>
        <p:nvSpPr>
          <p:cNvPr id="29" name="Step circle 7"/>
          <p:cNvSpPr/>
          <p:nvPr/>
        </p:nvSpPr>
        <p:spPr>
          <a:xfrm>
            <a:off x="10461977" y="1600200"/>
            <a:ext cx="777240" cy="777240"/>
          </a:xfrm>
          <a:prstGeom prst="ellipse">
            <a:avLst/>
          </a:prstGeom>
          <a:solidFill>
            <a:schemeClr val="accent1"/>
          </a:solidFill>
          <a:ln w="38100">
            <a:solidFill>
              <a:schemeClr val="bg1"/>
            </a:solidFill>
            <a:prstDash val="solid"/>
          </a:ln>
        </p:spPr>
      </p:sp>
      <p:sp>
        <p:nvSpPr>
          <p:cNvPr id="30" name="Step number 7"/>
          <p:cNvSpPr txBox="1"/>
          <p:nvPr/>
        </p:nvSpPr>
        <p:spPr>
          <a:xfrm>
            <a:off x="10461977" y="160020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sp>
        <p:nvSpPr>
          <p:cNvPr id="31" name="Step title 7"/>
          <p:cNvSpPr txBox="1"/>
          <p:nvPr/>
        </p:nvSpPr>
        <p:spPr>
          <a:xfrm>
            <a:off x="10103859" y="2560320"/>
            <a:ext cx="1493476" cy="685800"/>
          </a:xfrm>
          <a:prstGeom prst="rect">
            <a:avLst/>
          </a:prstGeom>
          <a:noFill/>
          <a:ln/>
        </p:spPr>
        <p:txBody>
          <a:bodyPr wrap="square" lIns="0" tIns="0" rIns="0" bIns="0" rtlCol="0" anchor="t"/>
          <a:lstStyle/>
          <a:p>
            <a:pPr algn="ctr" indent="0" marL="0">
              <a:buNone/>
            </a:pPr>
            <a:r>
              <a:rPr lang="en-US" sz="1600" b="1" dirty="0">
                <a:solidFill>
                  <a:schemeClr val="tx1"/>
                </a:solidFill>
              </a:rPr>
              <a:t>Round &amp; dedupe</a:t>
            </a:r>
            <a:endParaRPr lang="en-US" sz="1600" dirty="0"/>
          </a:p>
        </p:txBody>
      </p:sp>
      <p:sp>
        <p:nvSpPr>
          <p:cNvPr id="32" name="Step desc 7"/>
          <p:cNvSpPr txBox="1"/>
          <p:nvPr/>
        </p:nvSpPr>
        <p:spPr>
          <a:xfrm>
            <a:off x="10103859" y="3246120"/>
            <a:ext cx="1493476" cy="731520"/>
          </a:xfrm>
          <a:prstGeom prst="rect">
            <a:avLst/>
          </a:prstGeom>
          <a:noFill/>
          <a:ln/>
        </p:spPr>
        <p:txBody>
          <a:bodyPr wrap="square" lIns="0" tIns="0" rIns="0" bIns="0" rtlCol="0" anchor="t"/>
          <a:lstStyle/>
          <a:p>
            <a:pPr algn="ctr" indent="0" marL="0">
              <a:buNone/>
            </a:pPr>
            <a:r>
              <a:rPr lang="en-US" sz="1300" dirty="0">
                <a:solidFill>
                  <a:schemeClr val="tx2"/>
                </a:solidFill>
              </a:rPr>
              <a:t>Integer columns, second pass</a:t>
            </a:r>
            <a:endParaRPr lang="en-US" sz="1300" dirty="0"/>
          </a:p>
        </p:txBody>
      </p:sp>
      <p:sp>
        <p:nvSpPr>
          <p:cNvPr id="33" name="Pipeline result card"/>
          <p:cNvSpPr/>
          <p:nvPr/>
        </p:nvSpPr>
        <p:spPr>
          <a:xfrm>
            <a:off x="548640" y="4389120"/>
            <a:ext cx="11094415" cy="1691640"/>
          </a:xfrm>
          <a:prstGeom prst="roundRect">
            <a:avLst>
              <a:gd name="adj" fmla="val 4324"/>
            </a:avLst>
          </a:prstGeom>
          <a:solidFill>
            <a:schemeClr val="bg2"/>
          </a:solidFill>
          <a:ln w="12700">
            <a:solidFill>
              <a:schemeClr val="bg2"/>
            </a:solidFill>
            <a:prstDash val="solid"/>
          </a:ln>
        </p:spPr>
      </p:sp>
      <p:sp>
        <p:nvSpPr>
          <p:cNvPr id="34" name="Result 1 value"/>
          <p:cNvSpPr txBox="1"/>
          <p:nvPr/>
        </p:nvSpPr>
        <p:spPr>
          <a:xfrm>
            <a:off x="914400" y="4617720"/>
            <a:ext cx="2651760" cy="548640"/>
          </a:xfrm>
          <a:prstGeom prst="rect">
            <a:avLst/>
          </a:prstGeom>
          <a:noFill/>
          <a:ln/>
        </p:spPr>
        <p:txBody>
          <a:bodyPr wrap="square" lIns="0" tIns="0" rIns="0" bIns="0" rtlCol="0" anchor="t"/>
          <a:lstStyle/>
          <a:p>
            <a:pPr indent="0" marL="0">
              <a:buNone/>
            </a:pPr>
            <a:r>
              <a:rPr lang="en-US" sz="3600" b="1" dirty="0">
                <a:solidFill>
                  <a:schemeClr val="accent1"/>
                </a:solidFill>
              </a:rPr>
              <a:t>520 → 503</a:t>
            </a:r>
            <a:endParaRPr lang="en-US" sz="3600" dirty="0"/>
          </a:p>
        </p:txBody>
      </p:sp>
      <p:sp>
        <p:nvSpPr>
          <p:cNvPr id="35" name="Result 1 label"/>
          <p:cNvSpPr txBox="1"/>
          <p:nvPr/>
        </p:nvSpPr>
        <p:spPr>
          <a:xfrm>
            <a:off x="914400" y="5212080"/>
            <a:ext cx="2651760" cy="548640"/>
          </a:xfrm>
          <a:prstGeom prst="rect">
            <a:avLst/>
          </a:prstGeom>
          <a:noFill/>
          <a:ln/>
        </p:spPr>
        <p:txBody>
          <a:bodyPr wrap="square" lIns="0" tIns="0" rIns="0" bIns="0" rtlCol="0" anchor="t"/>
          <a:lstStyle/>
          <a:p>
            <a:pPr indent="0" marL="0">
              <a:buNone/>
            </a:pPr>
            <a:r>
              <a:rPr lang="en-US" sz="1400" dirty="0">
                <a:solidFill>
                  <a:schemeClr val="tx2"/>
                </a:solidFill>
              </a:rPr>
              <a:t>rows in → rows out</a:t>
            </a:r>
            <a:endParaRPr lang="en-US" sz="1400" dirty="0"/>
          </a:p>
        </p:txBody>
      </p:sp>
      <p:sp>
        <p:nvSpPr>
          <p:cNvPr id="36" name="Result 2 value"/>
          <p:cNvSpPr txBox="1"/>
          <p:nvPr/>
        </p:nvSpPr>
        <p:spPr>
          <a:xfrm>
            <a:off x="3703320" y="4617720"/>
            <a:ext cx="2651760" cy="548640"/>
          </a:xfrm>
          <a:prstGeom prst="rect">
            <a:avLst/>
          </a:prstGeom>
          <a:noFill/>
          <a:ln/>
        </p:spPr>
        <p:txBody>
          <a:bodyPr wrap="square" lIns="0" tIns="0" rIns="0" bIns="0" rtlCol="0" anchor="t"/>
          <a:lstStyle/>
          <a:p>
            <a:pPr indent="0" marL="0">
              <a:buNone/>
            </a:pPr>
            <a:r>
              <a:rPr lang="en-US" sz="3600" b="1" dirty="0">
                <a:solidFill>
                  <a:schemeClr val="accent2"/>
                </a:solidFill>
              </a:rPr>
              <a:t>0</a:t>
            </a:r>
            <a:endParaRPr lang="en-US" sz="3600" dirty="0"/>
          </a:p>
        </p:txBody>
      </p:sp>
      <p:sp>
        <p:nvSpPr>
          <p:cNvPr id="37" name="Result 2 label"/>
          <p:cNvSpPr txBox="1"/>
          <p:nvPr/>
        </p:nvSpPr>
        <p:spPr>
          <a:xfrm>
            <a:off x="3703320" y="5212080"/>
            <a:ext cx="2651760" cy="548640"/>
          </a:xfrm>
          <a:prstGeom prst="rect">
            <a:avLst/>
          </a:prstGeom>
          <a:noFill/>
          <a:ln/>
        </p:spPr>
        <p:txBody>
          <a:bodyPr wrap="square" lIns="0" tIns="0" rIns="0" bIns="0" rtlCol="0" anchor="t"/>
          <a:lstStyle/>
          <a:p>
            <a:pPr indent="0" marL="0">
              <a:buNone/>
            </a:pPr>
            <a:r>
              <a:rPr lang="en-US" sz="1400" dirty="0">
                <a:solidFill>
                  <a:schemeClr val="tx2"/>
                </a:solidFill>
              </a:rPr>
              <a:t>missing values</a:t>
            </a:r>
            <a:endParaRPr lang="en-US" sz="1400" dirty="0"/>
          </a:p>
        </p:txBody>
      </p:sp>
      <p:sp>
        <p:nvSpPr>
          <p:cNvPr id="38" name="Result 3 value"/>
          <p:cNvSpPr txBox="1"/>
          <p:nvPr/>
        </p:nvSpPr>
        <p:spPr>
          <a:xfrm>
            <a:off x="6492240" y="4617720"/>
            <a:ext cx="2651760" cy="548640"/>
          </a:xfrm>
          <a:prstGeom prst="rect">
            <a:avLst/>
          </a:prstGeom>
          <a:noFill/>
          <a:ln/>
        </p:spPr>
        <p:txBody>
          <a:bodyPr wrap="square" lIns="0" tIns="0" rIns="0" bIns="0" rtlCol="0" anchor="t"/>
          <a:lstStyle/>
          <a:p>
            <a:pPr indent="0" marL="0">
              <a:buNone/>
            </a:pPr>
            <a:r>
              <a:rPr lang="en-US" sz="3600" b="1" dirty="0">
                <a:solidFill>
                  <a:schemeClr val="accent2"/>
                </a:solidFill>
              </a:rPr>
              <a:t>0</a:t>
            </a:r>
            <a:endParaRPr lang="en-US" sz="3600" dirty="0"/>
          </a:p>
        </p:txBody>
      </p:sp>
      <p:sp>
        <p:nvSpPr>
          <p:cNvPr id="39" name="Result 3 label"/>
          <p:cNvSpPr txBox="1"/>
          <p:nvPr/>
        </p:nvSpPr>
        <p:spPr>
          <a:xfrm>
            <a:off x="6492240" y="5212080"/>
            <a:ext cx="2651760" cy="548640"/>
          </a:xfrm>
          <a:prstGeom prst="rect">
            <a:avLst/>
          </a:prstGeom>
          <a:noFill/>
          <a:ln/>
        </p:spPr>
        <p:txBody>
          <a:bodyPr wrap="square" lIns="0" tIns="0" rIns="0" bIns="0" rtlCol="0" anchor="t"/>
          <a:lstStyle/>
          <a:p>
            <a:pPr indent="0" marL="0">
              <a:buNone/>
            </a:pPr>
            <a:r>
              <a:rPr lang="en-US" sz="1400" dirty="0">
                <a:solidFill>
                  <a:schemeClr val="tx2"/>
                </a:solidFill>
              </a:rPr>
              <a:t>duplicate rows</a:t>
            </a:r>
            <a:endParaRPr lang="en-US" sz="1400" dirty="0"/>
          </a:p>
        </p:txBody>
      </p:sp>
      <p:sp>
        <p:nvSpPr>
          <p:cNvPr id="40" name="Result 4 value"/>
          <p:cNvSpPr txBox="1"/>
          <p:nvPr/>
        </p:nvSpPr>
        <p:spPr>
          <a:xfrm>
            <a:off x="9281160" y="4617720"/>
            <a:ext cx="2651760" cy="548640"/>
          </a:xfrm>
          <a:prstGeom prst="rect">
            <a:avLst/>
          </a:prstGeom>
          <a:noFill/>
          <a:ln/>
        </p:spPr>
        <p:txBody>
          <a:bodyPr wrap="square" lIns="0" tIns="0" rIns="0" bIns="0" rtlCol="0" anchor="t"/>
          <a:lstStyle/>
          <a:p>
            <a:pPr indent="0" marL="0">
              <a:buNone/>
            </a:pPr>
            <a:r>
              <a:rPr lang="en-US" sz="3600" b="1" dirty="0">
                <a:solidFill>
                  <a:schemeClr val="accent2"/>
                </a:solidFill>
              </a:rPr>
              <a:t>2</a:t>
            </a:r>
            <a:endParaRPr lang="en-US" sz="3600" dirty="0"/>
          </a:p>
        </p:txBody>
      </p:sp>
      <p:sp>
        <p:nvSpPr>
          <p:cNvPr id="41" name="Result 4 label"/>
          <p:cNvSpPr txBox="1"/>
          <p:nvPr/>
        </p:nvSpPr>
        <p:spPr>
          <a:xfrm>
            <a:off x="9281160" y="5212080"/>
            <a:ext cx="2651760" cy="548640"/>
          </a:xfrm>
          <a:prstGeom prst="rect">
            <a:avLst/>
          </a:prstGeom>
          <a:noFill/>
          <a:ln/>
        </p:spPr>
        <p:txBody>
          <a:bodyPr wrap="square" lIns="0" tIns="0" rIns="0" bIns="0" rtlCol="0" anchor="t"/>
          <a:lstStyle/>
          <a:p>
            <a:pPr indent="0" marL="0">
              <a:buNone/>
            </a:pPr>
            <a:r>
              <a:rPr lang="en-US" sz="1400" dirty="0">
                <a:solidFill>
                  <a:schemeClr val="tx2"/>
                </a:solidFill>
              </a:rPr>
              <a:t>OS categories</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What the clean data shows</a:t>
            </a:r>
            <a:endParaRPr lang="en-US" sz="3200" dirty="0"/>
          </a:p>
        </p:txBody>
      </p:sp>
      <p:graphicFrame>
        <p:nvGraphicFramePr>
          <p:cNvPr id="4" name="Class chart" descr=""/>
          <p:cNvGraphicFramePr/>
          <p:nvPr/>
        </p:nvGraphicFramePr>
        <p:xfrm>
          <a:off x="548640" y="1371600"/>
          <a:ext cx="53035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orrelation chart" descr=""/>
          <p:cNvGraphicFramePr/>
          <p:nvPr/>
        </p:nvGraphicFramePr>
        <p:xfrm>
          <a:off x="6172200" y="1371600"/>
          <a:ext cx="5468112" cy="4343400"/>
        </p:xfrm>
        <a:graphic xmlns:a="http://schemas.openxmlformats.org/drawingml/2006/main">
          <a:graphicData uri="http://schemas.openxmlformats.org/drawingml/2006/chart">
            <c:chart xmlns:c="http://schemas.openxmlformats.org/drawingml/2006/chart" r:id="rId2"/>
          </a:graphicData>
        </a:graphic>
      </p:graphicFrame>
      <p:sp>
        <p:nvSpPr>
          <p:cNvPr id="6" name="EDA caption"/>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400" dirty="0">
                <a:solidFill>
                  <a:schemeClr val="tx2"/>
                </a:solidFill>
              </a:rPr>
              <a:t>Class thresholds: Low below 400, Medium 400 to under 650, High 650 to under 850, Very High 850+.   Mean score 509, median 510.</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Nine supervised regression models compared</a:t>
            </a:r>
            <a:endParaRPr lang="en-US" sz="3200" dirty="0"/>
          </a:p>
        </p:txBody>
      </p:sp>
      <p:sp>
        <p:nvSpPr>
          <p:cNvPr id="4" name="Setup line"/>
          <p:cNvSpPr txBox="1"/>
          <p:nvPr/>
        </p:nvSpPr>
        <p:spPr>
          <a:xfrm>
            <a:off x="548640" y="1280160"/>
            <a:ext cx="11094415" cy="365760"/>
          </a:xfrm>
          <a:prstGeom prst="rect">
            <a:avLst/>
          </a:prstGeom>
          <a:noFill/>
          <a:ln/>
        </p:spPr>
        <p:txBody>
          <a:bodyPr wrap="square" lIns="0" tIns="0" rIns="0" bIns="0" rtlCol="0" anchor="t"/>
          <a:lstStyle/>
          <a:p>
            <a:pPr indent="0" marL="0">
              <a:buNone/>
            </a:pPr>
            <a:r>
              <a:rPr lang="en-US" sz="1400" dirty="0">
                <a:solidFill>
                  <a:schemeClr val="tx2"/>
                </a:solidFill>
              </a:rPr>
              <a:t>80/20 split (402 train / 101 test)  ·  StandardScaler + one-hot OS in a pipeline  ·  5-fold GridSearchCV</a:t>
            </a:r>
            <a:endParaRPr lang="en-US" sz="1400" dirty="0"/>
          </a:p>
        </p:txBody>
      </p:sp>
      <p:graphicFrame>
        <p:nvGraphicFramePr>
          <p:cNvPr id="7" name="Model 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743200"/>
                <a:gridCol w="2496312"/>
                <a:gridCol w="1737360"/>
                <a:gridCol w="1371600"/>
                <a:gridCol w="1371600"/>
                <a:gridCol w="1371600"/>
              </a:tblGrid>
              <a:tr h="365760">
                <a:tc>
                  <a:txBody>
                    <a:bodyPr/>
                    <a:lstStyle/>
                    <a:p>
                      <a:pPr algn="l" indent="0" marL="0">
                        <a:buNone/>
                      </a:pPr>
                      <a:r>
                        <a:rPr lang="en-US" sz="1400" b="1" dirty="0">
                          <a:solidFill>
                            <a:schemeClr val="bg1"/>
                          </a:solidFill>
                        </a:rPr>
                        <a:t>Model</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1400" b="1" dirty="0">
                          <a:solidFill>
                            <a:schemeClr val="bg1"/>
                          </a:solidFill>
                        </a:rPr>
                        <a:t>Family (unit)</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400" b="1" dirty="0">
                          <a:solidFill>
                            <a:schemeClr val="bg1"/>
                          </a:solidFill>
                        </a:rPr>
                        <a:t>CV RMSE</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400" b="1" dirty="0">
                          <a:solidFill>
                            <a:schemeClr val="bg1"/>
                          </a:solidFill>
                        </a:rPr>
                        <a:t>Train R²</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400" b="1" dirty="0">
                          <a:solidFill>
                            <a:schemeClr val="bg1"/>
                          </a:solidFill>
                        </a:rPr>
                        <a:t>Test R²</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400" b="1" dirty="0">
                          <a:solidFill>
                            <a:schemeClr val="bg1"/>
                          </a:solidFill>
                        </a:rPr>
                        <a:t>Test RMSE</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tx1"/>
                    </a:solidFill>
                  </a:tcPr>
                </a:tc>
              </a:tr>
              <a:tr h="365760">
                <a:tc>
                  <a:txBody>
                    <a:bodyPr/>
                    <a:lstStyle/>
                    <a:p>
                      <a:pPr algn="l" indent="0" marL="0">
                        <a:buNone/>
                      </a:pPr>
                      <a:r>
                        <a:rPr lang="en-US" sz="1400" b="1" dirty="0">
                          <a:solidFill>
                            <a:schemeClr val="tx1"/>
                          </a:solidFill>
                        </a:rPr>
                        <a:t>SVR (linear kernel)</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SVM (III)</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47.32 ± 6.73</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0.919</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0.929</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44.12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400" b="1" dirty="0">
                          <a:solidFill>
                            <a:schemeClr val="bg1"/>
                          </a:solidFill>
                        </a:rPr>
                        <a:t>Linear Regression</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l" indent="0" marL="0">
                        <a:buNone/>
                      </a:pPr>
                      <a:r>
                        <a:rPr lang="en-US" sz="1400" b="1" dirty="0">
                          <a:solidFill>
                            <a:schemeClr val="bg1"/>
                          </a:solidFill>
                        </a:rPr>
                        <a:t>Linear model (III)</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400" b="1" dirty="0">
                          <a:solidFill>
                            <a:schemeClr val="bg1"/>
                          </a:solidFill>
                        </a:rPr>
                        <a:t>47.88 ± 6.32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400" b="1" dirty="0">
                          <a:solidFill>
                            <a:schemeClr val="bg1"/>
                          </a:solidFill>
                        </a:rPr>
                        <a:t>0.920</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400" b="1" dirty="0">
                          <a:solidFill>
                            <a:schemeClr val="bg1"/>
                          </a:solidFill>
                        </a:rPr>
                        <a:t>0.929</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400" b="1" dirty="0">
                          <a:solidFill>
                            <a:schemeClr val="bg1"/>
                          </a:solidFill>
                        </a:rPr>
                        <a:t>44.12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accent1"/>
                    </a:solidFill>
                  </a:tcPr>
                </a:tc>
              </a:tr>
              <a:tr h="365760">
                <a:tc>
                  <a:txBody>
                    <a:bodyPr/>
                    <a:lstStyle/>
                    <a:p>
                      <a:pPr algn="l" indent="0" marL="0">
                        <a:buNone/>
                      </a:pPr>
                      <a:r>
                        <a:rPr lang="en-US" sz="1400" b="1" dirty="0">
                          <a:solidFill>
                            <a:schemeClr val="tx1"/>
                          </a:solidFill>
                        </a:rPr>
                        <a:t>Ridge Regression</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Linear + L2 (III, V)</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47.88 ± 6.32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0.920</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0.929</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44.12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400" b="1" dirty="0">
                          <a:solidFill>
                            <a:schemeClr val="tx1"/>
                          </a:solidFill>
                        </a:rPr>
                        <a:t>Gradient Boosting</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Boosting (V)</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55.67 ± 4.52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0.958</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0.871</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59.27</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400" b="1" dirty="0">
                          <a:solidFill>
                            <a:schemeClr val="tx1"/>
                          </a:solidFill>
                        </a:rPr>
                        <a:t>Bagging</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Bagging (V)</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69.12 ± 4.65</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0.974</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0.822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69.69</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400" b="1" dirty="0">
                          <a:solidFill>
                            <a:schemeClr val="tx1"/>
                          </a:solidFill>
                        </a:rPr>
                        <a:t>Random Forest</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Bagging (V)</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69.22 ± 4.70</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0.975</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0.819</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70.26</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400" b="1" dirty="0">
                          <a:solidFill>
                            <a:schemeClr val="tx1"/>
                          </a:solidFill>
                        </a:rPr>
                        <a:t>AdaBoost</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Boosting (V)</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76.08 ± 5.52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0.904</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0.763</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80.42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400" b="1" dirty="0">
                          <a:solidFill>
                            <a:schemeClr val="tx1"/>
                          </a:solidFill>
                        </a:rPr>
                        <a:t>kNN (k = 7)</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Instance-based (II)</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82.71 ± 7.39</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1.000</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0.798</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74.22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400" b="1" dirty="0">
                          <a:solidFill>
                            <a:schemeClr val="tx1"/>
                          </a:solidFill>
                        </a:rPr>
                        <a:t>Decision Tree</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Tree</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98.43 ± 3.07</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0.873</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0.672</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94.68</a:t>
                      </a:r>
                      <a:endParaRPr lang="en-US" sz="1400" dirty="0"/>
                    </a:p>
                  </a:txBody>
                  <a:tcPr marL="182880" marR="18288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Table caption"/>
          <p:cNvSpPr txBox="1"/>
          <p:nvPr/>
        </p:nvSpPr>
        <p:spPr>
          <a:xfrm>
            <a:off x="548640" y="5486400"/>
            <a:ext cx="11094415" cy="685800"/>
          </a:xfrm>
          <a:prstGeom prst="rect">
            <a:avLst/>
          </a:prstGeom>
          <a:noFill/>
          <a:ln/>
        </p:spPr>
        <p:txBody>
          <a:bodyPr wrap="square" lIns="0" tIns="0" rIns="0" bIns="0" rtlCol="0" anchor="t"/>
          <a:lstStyle/>
          <a:p>
            <a:pPr indent="0" marL="0">
              <a:buNone/>
            </a:pPr>
            <a:r>
              <a:rPr lang="en-US" sz="1400" b="1" dirty="0">
                <a:solidFill>
                  <a:schemeClr val="tx1"/>
                </a:solidFill>
              </a:rPr>
              <a:t>Final model: Linear Regression. </a:t>
            </a:r>
            <a:pPr indent="0" marL="0">
              <a:buNone/>
            </a:pPr>
            <a:r>
              <a:rPr lang="en-US" sz="1400" dirty="0">
                <a:solidFill>
                  <a:schemeClr val="tx2"/>
                </a:solidFill>
              </a:rPr>
              <a:t>SVR, Linear and Ridge are within one standard error of the best CV RMSE (47.32 + 6.73 ÷ √5 = 50.33), so the simplest is chosen. kNN overfits: 1.00 on training data, 0.80 on test data.</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Final model: Linear Regression</a:t>
            </a:r>
            <a:endParaRPr lang="en-US" sz="3200" dirty="0"/>
          </a:p>
        </p:txBody>
      </p:sp>
      <p:sp>
        <p:nvSpPr>
          <p:cNvPr id="4" name="Equation card"/>
          <p:cNvSpPr/>
          <p:nvPr/>
        </p:nvSpPr>
        <p:spPr>
          <a:xfrm>
            <a:off x="548640" y="1371600"/>
            <a:ext cx="5577840" cy="1417320"/>
          </a:xfrm>
          <a:prstGeom prst="roundRect">
            <a:avLst>
              <a:gd name="adj" fmla="val 5161"/>
            </a:avLst>
          </a:prstGeom>
          <a:solidFill>
            <a:schemeClr val="tx1"/>
          </a:solidFill>
          <a:ln w="12700">
            <a:solidFill>
              <a:schemeClr val="tx1"/>
            </a:solidFill>
            <a:prstDash val="solid"/>
          </a:ln>
        </p:spPr>
      </p:sp>
      <p:sp>
        <p:nvSpPr>
          <p:cNvPr id="5" name="Equation"/>
          <p:cNvSpPr txBox="1"/>
          <p:nvPr/>
        </p:nvSpPr>
        <p:spPr>
          <a:xfrm>
            <a:off x="822960" y="1481328"/>
            <a:ext cx="5029200" cy="868680"/>
          </a:xfrm>
          <a:prstGeom prst="rect">
            <a:avLst/>
          </a:prstGeom>
          <a:noFill/>
          <a:ln/>
        </p:spPr>
        <p:txBody>
          <a:bodyPr wrap="square" lIns="0" tIns="0" rIns="0" bIns="0" rtlCol="0" anchor="ctr"/>
          <a:lstStyle/>
          <a:p>
            <a:pPr indent="0" marL="0">
              <a:buNone/>
            </a:pPr>
            <a:r>
              <a:rPr lang="en-US" sz="1800" b="1" dirty="0">
                <a:solidFill>
                  <a:schemeClr val="bg1"/>
                </a:solidFill>
              </a:rPr>
              <a:t>Score = b₀ + b₁·RAM + b₂·Cores + b₃·GPU + b₄·Storage</a:t>
            </a:r>
            <a:endParaRPr lang="en-US" sz="1800" dirty="0"/>
          </a:p>
          <a:p>
            <a:pPr indent="0" marL="0">
              <a:buNone/>
            </a:pPr>
            <a:r>
              <a:rPr lang="en-US" sz="1800" b="1" dirty="0">
                <a:solidFill>
                  <a:schemeClr val="bg1"/>
                </a:solidFill>
              </a:rPr>
              <a:t>+ b₅·Clock + b₆·Age + b₇·Temp + b₈·OS</a:t>
            </a:r>
            <a:endParaRPr lang="en-US" sz="1800" dirty="0"/>
          </a:p>
        </p:txBody>
      </p:sp>
      <p:sp>
        <p:nvSpPr>
          <p:cNvPr id="6" name="Equation note"/>
          <p:cNvSpPr txBox="1"/>
          <p:nvPr/>
        </p:nvSpPr>
        <p:spPr>
          <a:xfrm>
            <a:off x="822960" y="2377440"/>
            <a:ext cx="5029200" cy="320040"/>
          </a:xfrm>
          <a:prstGeom prst="rect">
            <a:avLst/>
          </a:prstGeom>
          <a:noFill/>
          <a:ln/>
        </p:spPr>
        <p:txBody>
          <a:bodyPr wrap="square" lIns="0" tIns="0" rIns="0" bIns="0" rtlCol="0" anchor="t"/>
          <a:lstStyle/>
          <a:p>
            <a:pPr indent="0" marL="0">
              <a:buNone/>
            </a:pPr>
            <a:r>
              <a:rPr lang="en-US" sz="1200" dirty="0">
                <a:solidFill>
                  <a:schemeClr val="bg2"/>
                </a:solidFill>
              </a:rPr>
              <a:t>OS is one-hot encoded; numeric attributes are standardized</a:t>
            </a:r>
            <a:endParaRPr lang="en-US" sz="1200" dirty="0"/>
          </a:p>
        </p:txBody>
      </p:sp>
      <p:sp>
        <p:nvSpPr>
          <p:cNvPr id="7" name="Final stat 1 value"/>
          <p:cNvSpPr txBox="1"/>
          <p:nvPr/>
        </p:nvSpPr>
        <p:spPr>
          <a:xfrm>
            <a:off x="548640" y="3017520"/>
            <a:ext cx="1783080" cy="609600"/>
          </a:xfrm>
          <a:prstGeom prst="rect">
            <a:avLst/>
          </a:prstGeom>
          <a:noFill/>
          <a:ln/>
        </p:spPr>
        <p:txBody>
          <a:bodyPr wrap="square" lIns="0" tIns="0" rIns="0" bIns="0" rtlCol="0" anchor="t"/>
          <a:lstStyle/>
          <a:p>
            <a:pPr indent="0" marL="0">
              <a:buNone/>
            </a:pPr>
            <a:r>
              <a:rPr lang="en-US" sz="4000" b="1" dirty="0">
                <a:solidFill>
                  <a:schemeClr val="accent1"/>
                </a:solidFill>
              </a:rPr>
              <a:t>0.929</a:t>
            </a:r>
            <a:endParaRPr lang="en-US" sz="4000" dirty="0"/>
          </a:p>
        </p:txBody>
      </p:sp>
      <p:sp>
        <p:nvSpPr>
          <p:cNvPr id="8" name="Final stat 1 label"/>
          <p:cNvSpPr txBox="1"/>
          <p:nvPr/>
        </p:nvSpPr>
        <p:spPr>
          <a:xfrm>
            <a:off x="548640" y="3672840"/>
            <a:ext cx="1783080" cy="548640"/>
          </a:xfrm>
          <a:prstGeom prst="rect">
            <a:avLst/>
          </a:prstGeom>
          <a:noFill/>
          <a:ln/>
        </p:spPr>
        <p:txBody>
          <a:bodyPr wrap="square" lIns="0" tIns="0" rIns="0" bIns="0" rtlCol="0" anchor="t"/>
          <a:lstStyle/>
          <a:p>
            <a:pPr indent="0" marL="0">
              <a:buNone/>
            </a:pPr>
            <a:r>
              <a:rPr lang="en-US" sz="1400" dirty="0">
                <a:solidFill>
                  <a:schemeClr val="tx2"/>
                </a:solidFill>
              </a:rPr>
              <a:t>R² on test set</a:t>
            </a:r>
            <a:endParaRPr lang="en-US" sz="1400" dirty="0"/>
          </a:p>
        </p:txBody>
      </p:sp>
      <p:sp>
        <p:nvSpPr>
          <p:cNvPr id="9" name="Final stat 2 value"/>
          <p:cNvSpPr txBox="1"/>
          <p:nvPr/>
        </p:nvSpPr>
        <p:spPr>
          <a:xfrm>
            <a:off x="2423160" y="3017520"/>
            <a:ext cx="1783080" cy="609600"/>
          </a:xfrm>
          <a:prstGeom prst="rect">
            <a:avLst/>
          </a:prstGeom>
          <a:noFill/>
          <a:ln/>
        </p:spPr>
        <p:txBody>
          <a:bodyPr wrap="square" lIns="0" tIns="0" rIns="0" bIns="0" rtlCol="0" anchor="t"/>
          <a:lstStyle/>
          <a:p>
            <a:pPr indent="0" marL="0">
              <a:buNone/>
            </a:pPr>
            <a:r>
              <a:rPr lang="en-US" sz="4000" b="1" dirty="0">
                <a:solidFill>
                  <a:schemeClr val="tx1"/>
                </a:solidFill>
              </a:rPr>
              <a:t>33.8</a:t>
            </a:r>
            <a:endParaRPr lang="en-US" sz="4000" dirty="0"/>
          </a:p>
        </p:txBody>
      </p:sp>
      <p:sp>
        <p:nvSpPr>
          <p:cNvPr id="10" name="Final stat 2 label"/>
          <p:cNvSpPr txBox="1"/>
          <p:nvPr/>
        </p:nvSpPr>
        <p:spPr>
          <a:xfrm>
            <a:off x="2423160" y="3672840"/>
            <a:ext cx="1783080" cy="548640"/>
          </a:xfrm>
          <a:prstGeom prst="rect">
            <a:avLst/>
          </a:prstGeom>
          <a:noFill/>
          <a:ln/>
        </p:spPr>
        <p:txBody>
          <a:bodyPr wrap="square" lIns="0" tIns="0" rIns="0" bIns="0" rtlCol="0" anchor="t"/>
          <a:lstStyle/>
          <a:p>
            <a:pPr indent="0" marL="0">
              <a:buNone/>
            </a:pPr>
            <a:r>
              <a:rPr lang="en-US" sz="1400" dirty="0">
                <a:solidFill>
                  <a:schemeClr val="tx2"/>
                </a:solidFill>
              </a:rPr>
              <a:t>MAE (points)</a:t>
            </a:r>
            <a:endParaRPr lang="en-US" sz="1400" dirty="0"/>
          </a:p>
        </p:txBody>
      </p:sp>
      <p:sp>
        <p:nvSpPr>
          <p:cNvPr id="11" name="Final stat 3 value"/>
          <p:cNvSpPr txBox="1"/>
          <p:nvPr/>
        </p:nvSpPr>
        <p:spPr>
          <a:xfrm>
            <a:off x="4297680" y="3017520"/>
            <a:ext cx="1783080" cy="609600"/>
          </a:xfrm>
          <a:prstGeom prst="rect">
            <a:avLst/>
          </a:prstGeom>
          <a:noFill/>
          <a:ln/>
        </p:spPr>
        <p:txBody>
          <a:bodyPr wrap="square" lIns="0" tIns="0" rIns="0" bIns="0" rtlCol="0" anchor="t"/>
          <a:lstStyle/>
          <a:p>
            <a:pPr indent="0" marL="0">
              <a:buNone/>
            </a:pPr>
            <a:r>
              <a:rPr lang="en-US" sz="4000" b="1" dirty="0">
                <a:solidFill>
                  <a:schemeClr val="tx1"/>
                </a:solidFill>
              </a:rPr>
              <a:t>44.1</a:t>
            </a:r>
            <a:endParaRPr lang="en-US" sz="4000" dirty="0"/>
          </a:p>
        </p:txBody>
      </p:sp>
      <p:sp>
        <p:nvSpPr>
          <p:cNvPr id="12" name="Final stat 3 label"/>
          <p:cNvSpPr txBox="1"/>
          <p:nvPr/>
        </p:nvSpPr>
        <p:spPr>
          <a:xfrm>
            <a:off x="4297680" y="3672840"/>
            <a:ext cx="1783080" cy="548640"/>
          </a:xfrm>
          <a:prstGeom prst="rect">
            <a:avLst/>
          </a:prstGeom>
          <a:noFill/>
          <a:ln/>
        </p:spPr>
        <p:txBody>
          <a:bodyPr wrap="square" lIns="0" tIns="0" rIns="0" bIns="0" rtlCol="0" anchor="t"/>
          <a:lstStyle/>
          <a:p>
            <a:pPr indent="0" marL="0">
              <a:buNone/>
            </a:pPr>
            <a:r>
              <a:rPr lang="en-US" sz="1400" dirty="0">
                <a:solidFill>
                  <a:schemeClr val="tx2"/>
                </a:solidFill>
              </a:rPr>
              <a:t>RMSE (points)</a:t>
            </a:r>
            <a:endParaRPr lang="en-US" sz="1400" dirty="0"/>
          </a:p>
        </p:txBody>
      </p:sp>
      <p:sp>
        <p:nvSpPr>
          <p:cNvPr id="13" name="Final point 1 circle"/>
          <p:cNvSpPr/>
          <p:nvPr/>
        </p:nvSpPr>
        <p:spPr>
          <a:xfrm>
            <a:off x="548640" y="4206240"/>
            <a:ext cx="548640" cy="548640"/>
          </a:xfrm>
          <a:prstGeom prst="ellipse">
            <a:avLst/>
          </a:prstGeom>
          <a:solidFill>
            <a:schemeClr val="accent2"/>
          </a:solidFill>
          <a:ln w="12700">
            <a:solidFill>
              <a:schemeClr val="accent2"/>
            </a:solidFill>
            <a:prstDash val="solid"/>
          </a:ln>
        </p:spPr>
      </p:sp>
      <p:pic>
        <p:nvPicPr>
          <p:cNvPr id="14" name="Final point 1 icon" descr="preencoded.png">    </p:cNvPr>
          <p:cNvPicPr>
            <a:picLocks noChangeAspect="1"/>
          </p:cNvPicPr>
          <p:nvPr/>
        </p:nvPicPr>
        <p:blipFill>
          <a:blip r:embed="rId1"/>
          <a:stretch>
            <a:fillRect/>
          </a:stretch>
        </p:blipFill>
        <p:spPr>
          <a:xfrm>
            <a:off x="691286" y="4348886"/>
            <a:ext cx="263347" cy="263347"/>
          </a:xfrm>
          <a:prstGeom prst="rect">
            <a:avLst/>
          </a:prstGeom>
        </p:spPr>
      </p:pic>
      <p:sp>
        <p:nvSpPr>
          <p:cNvPr id="15" name="Final point text 1"/>
          <p:cNvSpPr txBox="1"/>
          <p:nvPr/>
        </p:nvSpPr>
        <p:spPr>
          <a:xfrm>
            <a:off x="1280160" y="4160520"/>
            <a:ext cx="4846320" cy="822960"/>
          </a:xfrm>
          <a:prstGeom prst="rect">
            <a:avLst/>
          </a:prstGeom>
          <a:noFill/>
          <a:ln/>
        </p:spPr>
        <p:txBody>
          <a:bodyPr wrap="square" lIns="0" tIns="0" rIns="0" bIns="0" rtlCol="0" anchor="t"/>
          <a:lstStyle/>
          <a:p>
            <a:pPr indent="0" marL="0">
              <a:buNone/>
            </a:pPr>
            <a:r>
              <a:rPr lang="en-US" sz="1400" dirty="0">
                <a:solidFill>
                  <a:schemeClr val="tx2"/>
                </a:solidFill>
              </a:rPr>
              <a:t>Fitted by ordinary least squares: minimizes Σ (actual − predicted)²; equal to the MLE under Gaussian noise (Unit II)</a:t>
            </a:r>
            <a:endParaRPr lang="en-US" sz="1400" dirty="0"/>
          </a:p>
        </p:txBody>
      </p:sp>
      <p:sp>
        <p:nvSpPr>
          <p:cNvPr id="16" name="Final point 2 circle"/>
          <p:cNvSpPr/>
          <p:nvPr/>
        </p:nvSpPr>
        <p:spPr>
          <a:xfrm>
            <a:off x="548640" y="5166360"/>
            <a:ext cx="548640" cy="548640"/>
          </a:xfrm>
          <a:prstGeom prst="ellipse">
            <a:avLst/>
          </a:prstGeom>
          <a:solidFill>
            <a:schemeClr val="accent2"/>
          </a:solidFill>
          <a:ln w="12700">
            <a:solidFill>
              <a:schemeClr val="accent2"/>
            </a:solidFill>
            <a:prstDash val="solid"/>
          </a:ln>
        </p:spPr>
      </p:sp>
      <p:pic>
        <p:nvPicPr>
          <p:cNvPr id="17" name="Final point 2 icon" descr="preencoded.png">    </p:cNvPr>
          <p:cNvPicPr>
            <a:picLocks noChangeAspect="1"/>
          </p:cNvPicPr>
          <p:nvPr/>
        </p:nvPicPr>
        <p:blipFill>
          <a:blip r:embed="rId2"/>
          <a:stretch>
            <a:fillRect/>
          </a:stretch>
        </p:blipFill>
        <p:spPr>
          <a:xfrm>
            <a:off x="691286" y="5309006"/>
            <a:ext cx="263347" cy="263347"/>
          </a:xfrm>
          <a:prstGeom prst="rect">
            <a:avLst/>
          </a:prstGeom>
        </p:spPr>
      </p:pic>
      <p:sp>
        <p:nvSpPr>
          <p:cNvPr id="18" name="Final point text 2"/>
          <p:cNvSpPr txBox="1"/>
          <p:nvPr/>
        </p:nvSpPr>
        <p:spPr>
          <a:xfrm>
            <a:off x="1280160" y="5120640"/>
            <a:ext cx="4846320" cy="822960"/>
          </a:xfrm>
          <a:prstGeom prst="rect">
            <a:avLst/>
          </a:prstGeom>
          <a:noFill/>
          <a:ln/>
        </p:spPr>
        <p:txBody>
          <a:bodyPr wrap="square" lIns="0" tIns="0" rIns="0" bIns="0" rtlCol="0" anchor="t"/>
          <a:lstStyle/>
          <a:p>
            <a:pPr indent="0" marL="0">
              <a:buNone/>
            </a:pPr>
            <a:r>
              <a:rPr lang="en-US" sz="1400" dirty="0">
                <a:solidFill>
                  <a:schemeClr val="tx2"/>
                </a:solidFill>
              </a:rPr>
              <a:t>Ridge (L2) check: α up to 10 barely changes the error (CV RMSE 47.9 → 48.2); α = 10,000 underfits (160)</a:t>
            </a:r>
            <a:endParaRPr lang="en-US" sz="1400" dirty="0"/>
          </a:p>
        </p:txBody>
      </p:sp>
      <p:graphicFrame>
        <p:nvGraphicFramePr>
          <p:cNvPr id="19" name="Actual vs predicted chart" descr=""/>
          <p:cNvGraphicFramePr/>
          <p:nvPr/>
        </p:nvGraphicFramePr>
        <p:xfrm>
          <a:off x="6355080" y="1325880"/>
          <a:ext cx="5285232" cy="484632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PC builder app</a:t>
            </a:r>
            <a:endParaRPr lang="en-US" sz="3200" dirty="0"/>
          </a:p>
        </p:txBody>
      </p:sp>
      <p:pic>
        <p:nvPicPr>
          <p:cNvPr id="4" name="Builder screenshot" descr="C:\Users\Sri Sashank\AppData\Local\Temp\claude\C--Codes-Projects-ML-proj\16ca9d5f-5c35-402f-9d0a-3fccf4d36b54\scratchpad\deck\img\app_builder.jpg">    </p:cNvPr>
          <p:cNvPicPr>
            <a:picLocks noChangeAspect="1"/>
          </p:cNvPicPr>
          <p:nvPr/>
        </p:nvPicPr>
        <p:blipFill>
          <a:blip r:embed="rId1"/>
          <a:stretch>
            <a:fillRect/>
          </a:stretch>
        </p:blipFill>
        <p:spPr>
          <a:xfrm>
            <a:off x="548640" y="1325880"/>
            <a:ext cx="3977640" cy="4753394"/>
          </a:xfrm>
          <a:prstGeom prst="rect">
            <a:avLst/>
          </a:prstGeom>
        </p:spPr>
      </p:pic>
      <p:sp>
        <p:nvSpPr>
          <p:cNvPr id="5" name="Feature 1 circle"/>
          <p:cNvSpPr/>
          <p:nvPr/>
        </p:nvSpPr>
        <p:spPr>
          <a:xfrm>
            <a:off x="4892040" y="1371600"/>
            <a:ext cx="594360" cy="594360"/>
          </a:xfrm>
          <a:prstGeom prst="ellipse">
            <a:avLst/>
          </a:prstGeom>
          <a:solidFill>
            <a:schemeClr val="accent1"/>
          </a:solidFill>
          <a:ln w="12700">
            <a:solidFill>
              <a:schemeClr val="accent1"/>
            </a:solidFill>
            <a:prstDash val="solid"/>
          </a:ln>
        </p:spPr>
      </p:sp>
      <p:pic>
        <p:nvPicPr>
          <p:cNvPr id="6" name="Feature 1 icon" descr="preencoded.png">    </p:cNvPr>
          <p:cNvPicPr>
            <a:picLocks noChangeAspect="1"/>
          </p:cNvPicPr>
          <p:nvPr/>
        </p:nvPicPr>
        <p:blipFill>
          <a:blip r:embed="rId2"/>
          <a:stretch>
            <a:fillRect/>
          </a:stretch>
        </p:blipFill>
        <p:spPr>
          <a:xfrm>
            <a:off x="5046574" y="1526134"/>
            <a:ext cx="285293" cy="285293"/>
          </a:xfrm>
          <a:prstGeom prst="rect">
            <a:avLst/>
          </a:prstGeom>
        </p:spPr>
      </p:pic>
      <p:sp>
        <p:nvSpPr>
          <p:cNvPr id="7" name="Feature title 1"/>
          <p:cNvSpPr txBox="1"/>
          <p:nvPr/>
        </p:nvSpPr>
        <p:spPr>
          <a:xfrm>
            <a:off x="5669280" y="1335024"/>
            <a:ext cx="5943600" cy="347472"/>
          </a:xfrm>
          <a:prstGeom prst="rect">
            <a:avLst/>
          </a:prstGeom>
          <a:noFill/>
          <a:ln/>
        </p:spPr>
        <p:txBody>
          <a:bodyPr wrap="square" lIns="0" tIns="0" rIns="0" bIns="0" rtlCol="0" anchor="t"/>
          <a:lstStyle/>
          <a:p>
            <a:pPr indent="0" marL="0">
              <a:buNone/>
            </a:pPr>
            <a:r>
              <a:rPr lang="en-US" sz="1700" b="1" dirty="0">
                <a:solidFill>
                  <a:schemeClr val="tx1"/>
                </a:solidFill>
              </a:rPr>
              <a:t>Real-time filtering</a:t>
            </a:r>
            <a:endParaRPr lang="en-US" sz="1700" dirty="0"/>
          </a:p>
        </p:txBody>
      </p:sp>
      <p:sp>
        <p:nvSpPr>
          <p:cNvPr id="8" name="Feature desc 1"/>
          <p:cNvSpPr txBox="1"/>
          <p:nvPr/>
        </p:nvSpPr>
        <p:spPr>
          <a:xfrm>
            <a:off x="5669280" y="1682496"/>
            <a:ext cx="5943600" cy="548640"/>
          </a:xfrm>
          <a:prstGeom prst="rect">
            <a:avLst/>
          </a:prstGeom>
          <a:noFill/>
          <a:ln/>
        </p:spPr>
        <p:txBody>
          <a:bodyPr wrap="square" lIns="0" tIns="0" rIns="0" bIns="0" rtlCol="0" anchor="t"/>
          <a:lstStyle/>
          <a:p>
            <a:pPr indent="0" marL="0">
              <a:buNone/>
            </a:pPr>
            <a:r>
              <a:rPr lang="en-US" sz="1400" dirty="0">
                <a:solidFill>
                  <a:schemeClr val="tx2"/>
                </a:solidFill>
              </a:rPr>
              <a:t>AMD Ryzen 7 7800X3D → only AM5 boards → only DDR5 RAM; weak PSUs hidden</a:t>
            </a:r>
            <a:endParaRPr lang="en-US" sz="1400" dirty="0"/>
          </a:p>
        </p:txBody>
      </p:sp>
      <p:sp>
        <p:nvSpPr>
          <p:cNvPr id="9" name="Feature 2 circle"/>
          <p:cNvSpPr/>
          <p:nvPr/>
        </p:nvSpPr>
        <p:spPr>
          <a:xfrm>
            <a:off x="4892040" y="2331720"/>
            <a:ext cx="594360" cy="594360"/>
          </a:xfrm>
          <a:prstGeom prst="ellipse">
            <a:avLst/>
          </a:prstGeom>
          <a:solidFill>
            <a:schemeClr val="accent1"/>
          </a:solidFill>
          <a:ln w="12700">
            <a:solidFill>
              <a:schemeClr val="accent1"/>
            </a:solidFill>
            <a:prstDash val="solid"/>
          </a:ln>
        </p:spPr>
      </p:sp>
      <p:pic>
        <p:nvPicPr>
          <p:cNvPr id="10" name="Feature 2 icon" descr="preencoded.png">    </p:cNvPr>
          <p:cNvPicPr>
            <a:picLocks noChangeAspect="1"/>
          </p:cNvPicPr>
          <p:nvPr/>
        </p:nvPicPr>
        <p:blipFill>
          <a:blip r:embed="rId3"/>
          <a:stretch>
            <a:fillRect/>
          </a:stretch>
        </p:blipFill>
        <p:spPr>
          <a:xfrm>
            <a:off x="5046574" y="2486254"/>
            <a:ext cx="285293" cy="285293"/>
          </a:xfrm>
          <a:prstGeom prst="rect">
            <a:avLst/>
          </a:prstGeom>
        </p:spPr>
      </p:pic>
      <p:sp>
        <p:nvSpPr>
          <p:cNvPr id="11" name="Feature title 2"/>
          <p:cNvSpPr txBox="1"/>
          <p:nvPr/>
        </p:nvSpPr>
        <p:spPr>
          <a:xfrm>
            <a:off x="5669280" y="2295144"/>
            <a:ext cx="5943600" cy="347472"/>
          </a:xfrm>
          <a:prstGeom prst="rect">
            <a:avLst/>
          </a:prstGeom>
          <a:noFill/>
          <a:ln/>
        </p:spPr>
        <p:txBody>
          <a:bodyPr wrap="square" lIns="0" tIns="0" rIns="0" bIns="0" rtlCol="0" anchor="t"/>
          <a:lstStyle/>
          <a:p>
            <a:pPr indent="0" marL="0">
              <a:buNone/>
            </a:pPr>
            <a:r>
              <a:rPr lang="en-US" sz="1700" b="1" dirty="0">
                <a:solidFill>
                  <a:schemeClr val="tx1"/>
                </a:solidFill>
              </a:rPr>
              <a:t>Compatibility checks</a:t>
            </a:r>
            <a:endParaRPr lang="en-US" sz="1700" dirty="0"/>
          </a:p>
        </p:txBody>
      </p:sp>
      <p:sp>
        <p:nvSpPr>
          <p:cNvPr id="12" name="Feature desc 2"/>
          <p:cNvSpPr txBox="1"/>
          <p:nvPr/>
        </p:nvSpPr>
        <p:spPr>
          <a:xfrm>
            <a:off x="5669280" y="2642616"/>
            <a:ext cx="5943600" cy="548640"/>
          </a:xfrm>
          <a:prstGeom prst="rect">
            <a:avLst/>
          </a:prstGeom>
          <a:noFill/>
          <a:ln/>
        </p:spPr>
        <p:txBody>
          <a:bodyPr wrap="square" lIns="0" tIns="0" rIns="0" bIns="0" rtlCol="0" anchor="t"/>
          <a:lstStyle/>
          <a:p>
            <a:pPr indent="0" marL="0">
              <a:buNone/>
            </a:pPr>
            <a:r>
              <a:rPr lang="en-US" sz="1400" dirty="0">
                <a:solidFill>
                  <a:schemeClr val="tx2"/>
                </a:solidFill>
              </a:rPr>
              <a:t>Socket, memory type, RAM slots, case size, PSU wattage, cooler, display output</a:t>
            </a:r>
            <a:endParaRPr lang="en-US" sz="1400" dirty="0"/>
          </a:p>
        </p:txBody>
      </p:sp>
      <p:sp>
        <p:nvSpPr>
          <p:cNvPr id="13" name="Feature 3 circle"/>
          <p:cNvSpPr/>
          <p:nvPr/>
        </p:nvSpPr>
        <p:spPr>
          <a:xfrm>
            <a:off x="4892040" y="3291840"/>
            <a:ext cx="594360" cy="594360"/>
          </a:xfrm>
          <a:prstGeom prst="ellipse">
            <a:avLst/>
          </a:prstGeom>
          <a:solidFill>
            <a:schemeClr val="accent1"/>
          </a:solidFill>
          <a:ln w="12700">
            <a:solidFill>
              <a:schemeClr val="accent1"/>
            </a:solidFill>
            <a:prstDash val="solid"/>
          </a:ln>
        </p:spPr>
      </p:sp>
      <p:pic>
        <p:nvPicPr>
          <p:cNvPr id="14" name="Feature 3 icon" descr="preencoded.png">    </p:cNvPr>
          <p:cNvPicPr>
            <a:picLocks noChangeAspect="1"/>
          </p:cNvPicPr>
          <p:nvPr/>
        </p:nvPicPr>
        <p:blipFill>
          <a:blip r:embed="rId4"/>
          <a:stretch>
            <a:fillRect/>
          </a:stretch>
        </p:blipFill>
        <p:spPr>
          <a:xfrm>
            <a:off x="5046574" y="3446374"/>
            <a:ext cx="285293" cy="285293"/>
          </a:xfrm>
          <a:prstGeom prst="rect">
            <a:avLst/>
          </a:prstGeom>
        </p:spPr>
      </p:pic>
      <p:sp>
        <p:nvSpPr>
          <p:cNvPr id="15" name="Feature title 3"/>
          <p:cNvSpPr txBox="1"/>
          <p:nvPr/>
        </p:nvSpPr>
        <p:spPr>
          <a:xfrm>
            <a:off x="5669280" y="3255264"/>
            <a:ext cx="5943600" cy="347472"/>
          </a:xfrm>
          <a:prstGeom prst="rect">
            <a:avLst/>
          </a:prstGeom>
          <a:noFill/>
          <a:ln/>
        </p:spPr>
        <p:txBody>
          <a:bodyPr wrap="square" lIns="0" tIns="0" rIns="0" bIns="0" rtlCol="0" anchor="t"/>
          <a:lstStyle/>
          <a:p>
            <a:pPr indent="0" marL="0">
              <a:buNone/>
            </a:pPr>
            <a:r>
              <a:rPr lang="en-US" sz="1700" b="1" dirty="0">
                <a:solidFill>
                  <a:schemeClr val="tx1"/>
                </a:solidFill>
              </a:rPr>
              <a:t>Parts → 8 model inputs</a:t>
            </a:r>
            <a:endParaRPr lang="en-US" sz="1700" dirty="0"/>
          </a:p>
        </p:txBody>
      </p:sp>
      <p:sp>
        <p:nvSpPr>
          <p:cNvPr id="16" name="Feature desc 3"/>
          <p:cNvSpPr txBox="1"/>
          <p:nvPr/>
        </p:nvSpPr>
        <p:spPr>
          <a:xfrm>
            <a:off x="5669280" y="3602736"/>
            <a:ext cx="5943600" cy="548640"/>
          </a:xfrm>
          <a:prstGeom prst="rect">
            <a:avLst/>
          </a:prstGeom>
          <a:noFill/>
          <a:ln/>
        </p:spPr>
        <p:txBody>
          <a:bodyPr wrap="square" lIns="0" tIns="0" rIns="0" bIns="0" rtlCol="0" anchor="t"/>
          <a:lstStyle/>
          <a:p>
            <a:pPr indent="0" marL="0">
              <a:buNone/>
            </a:pPr>
            <a:r>
              <a:rPr lang="en-US" sz="1400" dirty="0">
                <a:solidFill>
                  <a:schemeClr val="tx2"/>
                </a:solidFill>
              </a:rPr>
              <a:t>Temperature estimated from cooler, case and power; values beyond the training range are capped</a:t>
            </a:r>
            <a:endParaRPr lang="en-US" sz="1400" dirty="0"/>
          </a:p>
        </p:txBody>
      </p:sp>
      <p:sp>
        <p:nvSpPr>
          <p:cNvPr id="17" name="Feature 4 circle"/>
          <p:cNvSpPr/>
          <p:nvPr/>
        </p:nvSpPr>
        <p:spPr>
          <a:xfrm>
            <a:off x="4892040" y="4251960"/>
            <a:ext cx="594360" cy="594360"/>
          </a:xfrm>
          <a:prstGeom prst="ellipse">
            <a:avLst/>
          </a:prstGeom>
          <a:solidFill>
            <a:schemeClr val="accent1"/>
          </a:solidFill>
          <a:ln w="12700">
            <a:solidFill>
              <a:schemeClr val="accent1"/>
            </a:solidFill>
            <a:prstDash val="solid"/>
          </a:ln>
        </p:spPr>
      </p:sp>
      <p:pic>
        <p:nvPicPr>
          <p:cNvPr id="18" name="Feature 4 icon" descr="preencoded.png">    </p:cNvPr>
          <p:cNvPicPr>
            <a:picLocks noChangeAspect="1"/>
          </p:cNvPicPr>
          <p:nvPr/>
        </p:nvPicPr>
        <p:blipFill>
          <a:blip r:embed="rId5"/>
          <a:stretch>
            <a:fillRect/>
          </a:stretch>
        </p:blipFill>
        <p:spPr>
          <a:xfrm>
            <a:off x="5046574" y="4406494"/>
            <a:ext cx="285293" cy="285293"/>
          </a:xfrm>
          <a:prstGeom prst="rect">
            <a:avLst/>
          </a:prstGeom>
        </p:spPr>
      </p:pic>
      <p:sp>
        <p:nvSpPr>
          <p:cNvPr id="19" name="Feature title 4"/>
          <p:cNvSpPr txBox="1"/>
          <p:nvPr/>
        </p:nvSpPr>
        <p:spPr>
          <a:xfrm>
            <a:off x="5669280" y="4215384"/>
            <a:ext cx="5943600" cy="347472"/>
          </a:xfrm>
          <a:prstGeom prst="rect">
            <a:avLst/>
          </a:prstGeom>
          <a:noFill/>
          <a:ln/>
        </p:spPr>
        <p:txBody>
          <a:bodyPr wrap="square" lIns="0" tIns="0" rIns="0" bIns="0" rtlCol="0" anchor="t"/>
          <a:lstStyle/>
          <a:p>
            <a:pPr indent="0" marL="0">
              <a:buNone/>
            </a:pPr>
            <a:r>
              <a:rPr lang="en-US" sz="1700" b="1" dirty="0">
                <a:solidFill>
                  <a:schemeClr val="tx1"/>
                </a:solidFill>
              </a:rPr>
              <a:t>Live score</a:t>
            </a:r>
            <a:endParaRPr lang="en-US" sz="1700" dirty="0"/>
          </a:p>
        </p:txBody>
      </p:sp>
      <p:sp>
        <p:nvSpPr>
          <p:cNvPr id="20" name="Feature desc 4"/>
          <p:cNvSpPr txBox="1"/>
          <p:nvPr/>
        </p:nvSpPr>
        <p:spPr>
          <a:xfrm>
            <a:off x="5669280" y="4562856"/>
            <a:ext cx="5943600" cy="548640"/>
          </a:xfrm>
          <a:prstGeom prst="rect">
            <a:avLst/>
          </a:prstGeom>
          <a:noFill/>
          <a:ln/>
        </p:spPr>
        <p:txBody>
          <a:bodyPr wrap="square" lIns="0" tIns="0" rIns="0" bIns="0" rtlCol="0" anchor="t"/>
          <a:lstStyle/>
          <a:p>
            <a:pPr indent="0" marL="0">
              <a:buNone/>
            </a:pPr>
            <a:r>
              <a:rPr lang="en-US" sz="1400" dirty="0">
                <a:solidFill>
                  <a:schemeClr val="tx2"/>
                </a:solidFill>
              </a:rPr>
              <a:t>Linear Regression predicts the score instantly; e.g. 820 / 1000 for the build shown</a:t>
            </a:r>
            <a:endParaRPr lang="en-US" sz="1400" dirty="0"/>
          </a:p>
        </p:txBody>
      </p:sp>
      <p:sp>
        <p:nvSpPr>
          <p:cNvPr id="21" name="Feature 5 circle"/>
          <p:cNvSpPr/>
          <p:nvPr/>
        </p:nvSpPr>
        <p:spPr>
          <a:xfrm>
            <a:off x="4892040" y="5212080"/>
            <a:ext cx="594360" cy="594360"/>
          </a:xfrm>
          <a:prstGeom prst="ellipse">
            <a:avLst/>
          </a:prstGeom>
          <a:solidFill>
            <a:schemeClr val="accent1"/>
          </a:solidFill>
          <a:ln w="12700">
            <a:solidFill>
              <a:schemeClr val="accent1"/>
            </a:solidFill>
            <a:prstDash val="solid"/>
          </a:ln>
        </p:spPr>
      </p:sp>
      <p:pic>
        <p:nvPicPr>
          <p:cNvPr id="22" name="Feature 5 icon" descr="preencoded.png">    </p:cNvPr>
          <p:cNvPicPr>
            <a:picLocks noChangeAspect="1"/>
          </p:cNvPicPr>
          <p:nvPr/>
        </p:nvPicPr>
        <p:blipFill>
          <a:blip r:embed="rId6"/>
          <a:stretch>
            <a:fillRect/>
          </a:stretch>
        </p:blipFill>
        <p:spPr>
          <a:xfrm>
            <a:off x="5046574" y="5366614"/>
            <a:ext cx="285293" cy="285293"/>
          </a:xfrm>
          <a:prstGeom prst="rect">
            <a:avLst/>
          </a:prstGeom>
        </p:spPr>
      </p:pic>
      <p:sp>
        <p:nvSpPr>
          <p:cNvPr id="23" name="Feature title 5"/>
          <p:cNvSpPr txBox="1"/>
          <p:nvPr/>
        </p:nvSpPr>
        <p:spPr>
          <a:xfrm>
            <a:off x="5669280" y="5175504"/>
            <a:ext cx="5943600" cy="347472"/>
          </a:xfrm>
          <a:prstGeom prst="rect">
            <a:avLst/>
          </a:prstGeom>
          <a:noFill/>
          <a:ln/>
        </p:spPr>
        <p:txBody>
          <a:bodyPr wrap="square" lIns="0" tIns="0" rIns="0" bIns="0" rtlCol="0" anchor="t"/>
          <a:lstStyle/>
          <a:p>
            <a:pPr indent="0" marL="0">
              <a:buNone/>
            </a:pPr>
            <a:r>
              <a:rPr lang="en-US" sz="1700" b="1" dirty="0">
                <a:solidFill>
                  <a:schemeClr val="tx1"/>
                </a:solidFill>
              </a:rPr>
              <a:t>FPS estimate and Excel report</a:t>
            </a:r>
            <a:endParaRPr lang="en-US" sz="1700" dirty="0"/>
          </a:p>
        </p:txBody>
      </p:sp>
      <p:sp>
        <p:nvSpPr>
          <p:cNvPr id="24" name="Feature desc 5"/>
          <p:cNvSpPr txBox="1"/>
          <p:nvPr/>
        </p:nvSpPr>
        <p:spPr>
          <a:xfrm>
            <a:off x="5669280" y="5522976"/>
            <a:ext cx="5943600" cy="548640"/>
          </a:xfrm>
          <a:prstGeom prst="rect">
            <a:avLst/>
          </a:prstGeom>
          <a:noFill/>
          <a:ln/>
        </p:spPr>
        <p:txBody>
          <a:bodyPr wrap="square" lIns="0" tIns="0" rIns="0" bIns="0" rtlCol="0" anchor="t"/>
          <a:lstStyle/>
          <a:p>
            <a:pPr indent="0" marL="0">
              <a:buNone/>
            </a:pPr>
            <a:r>
              <a:rPr lang="en-US" sz="1400" dirty="0">
                <a:solidFill>
                  <a:schemeClr val="tx2"/>
                </a:solidFill>
              </a:rPr>
              <a:t>12 games at 3 resolutions (rule-based); one-click .xlsx with score and parts</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Syllabus mapping: Units I-V</a:t>
            </a:r>
            <a:endParaRPr lang="en-US" sz="3200" dirty="0"/>
          </a:p>
        </p:txBody>
      </p:sp>
      <p:graphicFrame>
        <p:nvGraphicFramePr>
          <p:cNvPr id="10" name="Syllabu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822960"/>
                <a:gridCol w="3566160"/>
                <a:gridCol w="6702552"/>
              </a:tblGrid>
              <a:tr h="411480">
                <a:tc>
                  <a:txBody>
                    <a:bodyPr/>
                    <a:lstStyle/>
                    <a:p>
                      <a:pPr algn="ctr" indent="0" marL="0">
                        <a:buNone/>
                      </a:pPr>
                      <a:r>
                        <a:rPr lang="en-US" sz="1400" b="1" dirty="0">
                          <a:solidFill>
                            <a:schemeClr val="bg1"/>
                          </a:solidFill>
                        </a:rPr>
                        <a:t>Unit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1400" b="1" dirty="0">
                          <a:solidFill>
                            <a:schemeClr val="bg1"/>
                          </a:solidFill>
                        </a:rPr>
                        <a:t>Syllabus topics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1400" b="1" dirty="0">
                          <a:solidFill>
                            <a:schemeClr val="bg1"/>
                          </a:solidFill>
                        </a:rPr>
                        <a:t>Used in this project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r>
              <a:tr h="658368">
                <a:tc>
                  <a:txBody>
                    <a:bodyPr/>
                    <a:lstStyle/>
                    <a:p>
                      <a:pPr algn="ctr" indent="0" marL="0">
                        <a:buNone/>
                      </a:pPr>
                      <a:r>
                        <a:rPr lang="en-US" sz="1400" b="1" dirty="0">
                          <a:solidFill>
                            <a:schemeClr val="bg1"/>
                          </a:solidFill>
                        </a:rPr>
                        <a:t>I</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tx1"/>
                          </a:solidFill>
                        </a:rPr>
                        <a:t>Types of ML, main challenges, statistical learning</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Supervised, batch, model-based learning; messy raw data cleaned (520 → 503 rows)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algn="ctr" indent="0" marL="0">
                        <a:buNone/>
                      </a:pPr>
                      <a:r>
                        <a:rPr lang="en-US" sz="1400" b="1" dirty="0">
                          <a:solidFill>
                            <a:schemeClr val="bg1"/>
                          </a:solidFill>
                        </a:rPr>
                        <a:t>II</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tx1"/>
                          </a:solidFill>
                        </a:rPr>
                        <a:t>kNN, distance metrics, MLE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kNN tuned: k, uniform vs distance weights, Euclidean vs Manhattan; least squares = MLE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algn="ctr" indent="0" marL="0">
                        <a:buNone/>
                      </a:pPr>
                      <a:r>
                        <a:rPr lang="en-US" sz="1400" b="1" dirty="0">
                          <a:solidFill>
                            <a:schemeClr val="bg1"/>
                          </a:solidFill>
                        </a:rPr>
                        <a:t>III</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tx1"/>
                          </a:solidFill>
                        </a:rPr>
                        <a:t>Linear Regression, SVM and kernels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Final model: Linear Regression. SVR with linear vs RBF kernel (linear won)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algn="ctr" indent="0" marL="0">
                        <a:buNone/>
                      </a:pPr>
                      <a:r>
                        <a:rPr lang="en-US" sz="1400" b="1" dirty="0">
                          <a:solidFill>
                            <a:schemeClr val="bg1"/>
                          </a:solidFill>
                        </a:rPr>
                        <a:t>IV</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tx1"/>
                          </a:solidFill>
                        </a:rPr>
                        <a:t>Evaluation, cross-validation, encoding</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80/20 split, 5-fold CV, MAE / MSE / RMSE / R²; duplicates removed; OS one-hot encoded</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algn="ctr" indent="0" marL="0">
                        <a:buNone/>
                      </a:pPr>
                      <a:r>
                        <a:rPr lang="en-US" sz="1400" b="1" dirty="0">
                          <a:solidFill>
                            <a:schemeClr val="bg1"/>
                          </a:solidFill>
                        </a:rPr>
                        <a:t>V</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tx1"/>
                          </a:solidFill>
                        </a:rPr>
                        <a:t>Ensembles, overfitting, regularization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Bagging, Random Forest, Gradient Boosting, AdaBoost; train vs test R²; Ridge α sweep; one-SE rule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Not used card"/>
          <p:cNvSpPr/>
          <p:nvPr/>
        </p:nvSpPr>
        <p:spPr>
          <a:xfrm>
            <a:off x="548640" y="5257800"/>
            <a:ext cx="11094415" cy="914400"/>
          </a:xfrm>
          <a:prstGeom prst="roundRect">
            <a:avLst>
              <a:gd name="adj" fmla="val 8000"/>
            </a:avLst>
          </a:prstGeom>
          <a:solidFill>
            <a:schemeClr val="bg2"/>
          </a:solidFill>
          <a:ln w="12700">
            <a:solidFill>
              <a:schemeClr val="bg2"/>
            </a:solidFill>
            <a:prstDash val="solid"/>
          </a:ln>
        </p:spPr>
      </p:sp>
      <p:sp>
        <p:nvSpPr>
          <p:cNvPr id="6" name="Not used text"/>
          <p:cNvSpPr txBox="1"/>
          <p:nvPr/>
        </p:nvSpPr>
        <p:spPr>
          <a:xfrm>
            <a:off x="822960" y="5257800"/>
            <a:ext cx="10545775" cy="914400"/>
          </a:xfrm>
          <a:prstGeom prst="rect">
            <a:avLst/>
          </a:prstGeom>
          <a:noFill/>
          <a:ln/>
        </p:spPr>
        <p:txBody>
          <a:bodyPr wrap="square" lIns="0" tIns="0" rIns="0" bIns="0" rtlCol="0" anchor="ctr"/>
          <a:lstStyle/>
          <a:p>
            <a:pPr indent="0" marL="0">
              <a:buNone/>
            </a:pPr>
            <a:r>
              <a:rPr lang="en-US" sz="1400" b="1" dirty="0">
                <a:solidFill>
                  <a:schemeClr val="tx1"/>
                </a:solidFill>
              </a:rPr>
              <a:t>Not used: </a:t>
            </a:r>
            <a:pPr indent="0" marL="0">
              <a:buNone/>
            </a:pPr>
            <a:r>
              <a:rPr lang="en-US" sz="1400" dirty="0">
                <a:solidFill>
                  <a:schemeClr val="tx2"/>
                </a:solidFill>
              </a:rPr>
              <a:t>clustering (unsupervised; our data is labelled) · logistic regression, Naive Bayes and classification metrics (we predict a number, not a class) · Find-S / Candidate Elimination (boolean concepts only)</a:t>
            </a:r>
            <a:endParaRPr lang="en-US" sz="1400" dirty="0"/>
          </a:p>
        </p:txBody>
      </p:sp>
      <p:sp>
        <p:nvSpPr>
          <p:cNvPr id="25" name="Slide Number Placeholder 0"/>
          <p:cNvSpPr>
            <a:spLocks noGrp="1"/>
          </p:cNvSpPr>
          <p:nvPr>
            <p:ph type="sldNum" sz="quarter" idx="4294967295"/>
          </p:nvPr>
        </p:nvSpPr>
        <p:spPr>
          <a:xfrm>
            <a:off x="11064240" y="6355080"/>
            <a:ext cx="59436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bg1"/>
                </a:solidFill>
              </a:rPr>
              <a:t>Conclusion, limitations and future scope</a:t>
            </a:r>
            <a:endParaRPr lang="en-US" sz="3200" dirty="0"/>
          </a:p>
        </p:txBody>
      </p:sp>
      <p:sp>
        <p:nvSpPr>
          <p:cNvPr id="4" name="Conclusion card 1"/>
          <p:cNvSpPr/>
          <p:nvPr/>
        </p:nvSpPr>
        <p:spPr>
          <a:xfrm>
            <a:off x="548640" y="1371600"/>
            <a:ext cx="3515258" cy="3108960"/>
          </a:xfrm>
          <a:prstGeom prst="roundRect">
            <a:avLst>
              <a:gd name="adj" fmla="val 2353"/>
            </a:avLst>
          </a:prstGeom>
          <a:solidFill>
            <a:schemeClr val="tx2"/>
          </a:solidFill>
          <a:ln w="12700">
            <a:solidFill>
              <a:schemeClr val="tx2"/>
            </a:solidFill>
            <a:prstDash val="solid"/>
          </a:ln>
        </p:spPr>
      </p:sp>
      <p:sp>
        <p:nvSpPr>
          <p:cNvPr id="5" name="Conclusion title 1"/>
          <p:cNvSpPr txBox="1"/>
          <p:nvPr/>
        </p:nvSpPr>
        <p:spPr>
          <a:xfrm>
            <a:off x="822960" y="1600200"/>
            <a:ext cx="2966618" cy="411480"/>
          </a:xfrm>
          <a:prstGeom prst="rect">
            <a:avLst/>
          </a:prstGeom>
          <a:noFill/>
          <a:ln/>
        </p:spPr>
        <p:txBody>
          <a:bodyPr wrap="square" lIns="0" tIns="0" rIns="0" bIns="0" rtlCol="0" anchor="t"/>
          <a:lstStyle/>
          <a:p>
            <a:pPr indent="0" marL="0">
              <a:buNone/>
            </a:pPr>
            <a:r>
              <a:rPr lang="en-US" sz="2000" b="1" dirty="0">
                <a:solidFill>
                  <a:schemeClr val="accent1"/>
                </a:solidFill>
              </a:rPr>
              <a:t>Results</a:t>
            </a:r>
            <a:endParaRPr lang="en-US" sz="2000" dirty="0"/>
          </a:p>
        </p:txBody>
      </p:sp>
      <p:sp>
        <p:nvSpPr>
          <p:cNvPr id="6" name="Conclusion list 1"/>
          <p:cNvSpPr txBox="1"/>
          <p:nvPr/>
        </p:nvSpPr>
        <p:spPr>
          <a:xfrm>
            <a:off x="822960" y="2148840"/>
            <a:ext cx="2966618"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520 raw records cleaned to 503</a:t>
            </a:r>
            <a:endParaRPr lang="en-US" sz="1500" dirty="0"/>
          </a:p>
          <a:p>
            <a:pPr marL="342900" indent="-342900">
              <a:spcAft>
                <a:spcPts val="800"/>
              </a:spcAft>
              <a:buSzPct val="100000"/>
              <a:buChar char="•"/>
            </a:pPr>
            <a:r>
              <a:rPr lang="en-US" sz="1500" dirty="0">
                <a:solidFill>
                  <a:schemeClr val="bg1"/>
                </a:solidFill>
              </a:rPr>
              <a:t>Linear Regression: test R² 0.929, RMSE 44.1</a:t>
            </a:r>
            <a:endParaRPr lang="en-US" sz="1500" dirty="0"/>
          </a:p>
          <a:p>
            <a:pPr marL="342900" indent="-342900">
              <a:spcAft>
                <a:spcPts val="800"/>
              </a:spcAft>
              <a:buSzPct val="100000"/>
              <a:buChar char="•"/>
            </a:pPr>
            <a:r>
              <a:rPr lang="en-US" sz="1500" dirty="0">
                <a:solidFill>
                  <a:schemeClr val="bg1"/>
                </a:solidFill>
              </a:rPr>
              <a:t>Chosen from 9 supervised regression models</a:t>
            </a:r>
            <a:endParaRPr lang="en-US" sz="1500" dirty="0"/>
          </a:p>
          <a:p>
            <a:pPr marL="342900" indent="-342900">
              <a:spcAft>
                <a:spcPts val="800"/>
              </a:spcAft>
              <a:buSzPct val="100000"/>
              <a:buChar char="•"/>
            </a:pPr>
            <a:r>
              <a:rPr lang="en-US" sz="1500" dirty="0">
                <a:solidFill>
                  <a:schemeClr val="bg1"/>
                </a:solidFill>
              </a:rPr>
              <a:t>Real-time PC builder with 222 catalog parts</a:t>
            </a:r>
            <a:endParaRPr lang="en-US" sz="1500" dirty="0"/>
          </a:p>
        </p:txBody>
      </p:sp>
      <p:sp>
        <p:nvSpPr>
          <p:cNvPr id="7" name="Conclusion card 2"/>
          <p:cNvSpPr/>
          <p:nvPr/>
        </p:nvSpPr>
        <p:spPr>
          <a:xfrm>
            <a:off x="4338218" y="1371600"/>
            <a:ext cx="3515258" cy="3108960"/>
          </a:xfrm>
          <a:prstGeom prst="roundRect">
            <a:avLst>
              <a:gd name="adj" fmla="val 2353"/>
            </a:avLst>
          </a:prstGeom>
          <a:solidFill>
            <a:schemeClr val="tx2"/>
          </a:solidFill>
          <a:ln w="12700">
            <a:solidFill>
              <a:schemeClr val="tx2"/>
            </a:solidFill>
            <a:prstDash val="solid"/>
          </a:ln>
        </p:spPr>
      </p:sp>
      <p:sp>
        <p:nvSpPr>
          <p:cNvPr id="8" name="Conclusion title 2"/>
          <p:cNvSpPr txBox="1"/>
          <p:nvPr/>
        </p:nvSpPr>
        <p:spPr>
          <a:xfrm>
            <a:off x="4612538" y="1600200"/>
            <a:ext cx="2966618" cy="411480"/>
          </a:xfrm>
          <a:prstGeom prst="rect">
            <a:avLst/>
          </a:prstGeom>
          <a:noFill/>
          <a:ln/>
        </p:spPr>
        <p:txBody>
          <a:bodyPr wrap="square" lIns="0" tIns="0" rIns="0" bIns="0" rtlCol="0" anchor="t"/>
          <a:lstStyle/>
          <a:p>
            <a:pPr indent="0" marL="0">
              <a:buNone/>
            </a:pPr>
            <a:r>
              <a:rPr lang="en-US" sz="2000" b="1" dirty="0">
                <a:solidFill>
                  <a:schemeClr val="accent3"/>
                </a:solidFill>
              </a:rPr>
              <a:t>Limitations</a:t>
            </a:r>
            <a:endParaRPr lang="en-US" sz="2000" dirty="0"/>
          </a:p>
        </p:txBody>
      </p:sp>
      <p:sp>
        <p:nvSpPr>
          <p:cNvPr id="9" name="Conclusion list 2"/>
          <p:cNvSpPr txBox="1"/>
          <p:nvPr/>
        </p:nvSpPr>
        <p:spPr>
          <a:xfrm>
            <a:off x="4612538" y="2148840"/>
            <a:ext cx="2966618"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Small dataset: only 503 PCs</a:t>
            </a:r>
            <a:endParaRPr lang="en-US" sz="1500" dirty="0"/>
          </a:p>
          <a:p>
            <a:pPr marL="342900" indent="-342900">
              <a:spcAft>
                <a:spcPts val="800"/>
              </a:spcAft>
              <a:buSzPct val="100000"/>
              <a:buChar char="•"/>
            </a:pPr>
            <a:r>
              <a:rPr lang="en-US" sz="1500" dirty="0">
                <a:solidFill>
                  <a:schemeClr val="bg1"/>
                </a:solidFill>
              </a:rPr>
              <a:t>Modern parts exceed the training ranges and are capped</a:t>
            </a:r>
            <a:endParaRPr lang="en-US" sz="1500" dirty="0"/>
          </a:p>
          <a:p>
            <a:pPr marL="342900" indent="-342900">
              <a:spcAft>
                <a:spcPts val="800"/>
              </a:spcAft>
              <a:buSzPct val="100000"/>
              <a:buChar char="•"/>
            </a:pPr>
            <a:r>
              <a:rPr lang="en-US" sz="1500" dirty="0">
                <a:solidFill>
                  <a:schemeClr val="bg1"/>
                </a:solidFill>
              </a:rPr>
              <a:t>GPU tier and temperature in the app are estimates</a:t>
            </a:r>
            <a:endParaRPr lang="en-US" sz="1500" dirty="0"/>
          </a:p>
          <a:p>
            <a:pPr marL="342900" indent="-342900">
              <a:spcAft>
                <a:spcPts val="800"/>
              </a:spcAft>
              <a:buSzPct val="100000"/>
              <a:buChar char="•"/>
            </a:pPr>
            <a:r>
              <a:rPr lang="en-US" sz="1500" dirty="0">
                <a:solidFill>
                  <a:schemeClr val="bg1"/>
                </a:solidFill>
              </a:rPr>
              <a:t>FPS is rule-based, not learned</a:t>
            </a:r>
            <a:endParaRPr lang="en-US" sz="1500" dirty="0"/>
          </a:p>
        </p:txBody>
      </p:sp>
      <p:sp>
        <p:nvSpPr>
          <p:cNvPr id="10" name="Conclusion card 3"/>
          <p:cNvSpPr/>
          <p:nvPr/>
        </p:nvSpPr>
        <p:spPr>
          <a:xfrm>
            <a:off x="8127797" y="1371600"/>
            <a:ext cx="3515258" cy="3108960"/>
          </a:xfrm>
          <a:prstGeom prst="roundRect">
            <a:avLst>
              <a:gd name="adj" fmla="val 2353"/>
            </a:avLst>
          </a:prstGeom>
          <a:solidFill>
            <a:schemeClr val="tx2"/>
          </a:solidFill>
          <a:ln w="12700">
            <a:solidFill>
              <a:schemeClr val="tx2"/>
            </a:solidFill>
            <a:prstDash val="solid"/>
          </a:ln>
        </p:spPr>
      </p:sp>
      <p:sp>
        <p:nvSpPr>
          <p:cNvPr id="11" name="Conclusion title 3"/>
          <p:cNvSpPr txBox="1"/>
          <p:nvPr/>
        </p:nvSpPr>
        <p:spPr>
          <a:xfrm>
            <a:off x="8402117" y="1600200"/>
            <a:ext cx="2966618" cy="411480"/>
          </a:xfrm>
          <a:prstGeom prst="rect">
            <a:avLst/>
          </a:prstGeom>
          <a:noFill/>
          <a:ln/>
        </p:spPr>
        <p:txBody>
          <a:bodyPr wrap="square" lIns="0" tIns="0" rIns="0" bIns="0" rtlCol="0" anchor="t"/>
          <a:lstStyle/>
          <a:p>
            <a:pPr indent="0" marL="0">
              <a:buNone/>
            </a:pPr>
            <a:r>
              <a:rPr lang="en-US" sz="2000" b="1" dirty="0">
                <a:solidFill>
                  <a:schemeClr val="accent2"/>
                </a:solidFill>
              </a:rPr>
              <a:t>Future scope</a:t>
            </a:r>
            <a:endParaRPr lang="en-US" sz="2000" dirty="0"/>
          </a:p>
        </p:txBody>
      </p:sp>
      <p:sp>
        <p:nvSpPr>
          <p:cNvPr id="12" name="Conclusion list 3"/>
          <p:cNvSpPr txBox="1"/>
          <p:nvPr/>
        </p:nvSpPr>
        <p:spPr>
          <a:xfrm>
            <a:off x="8402117" y="2148840"/>
            <a:ext cx="2966618"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Train on real benchmark data</a:t>
            </a:r>
            <a:endParaRPr lang="en-US" sz="1500" dirty="0"/>
          </a:p>
          <a:p>
            <a:pPr marL="342900" indent="-342900">
              <a:spcAft>
                <a:spcPts val="800"/>
              </a:spcAft>
              <a:buSzPct val="100000"/>
              <a:buChar char="•"/>
            </a:pPr>
            <a:r>
              <a:rPr lang="en-US" sz="1500" dirty="0">
                <a:solidFill>
                  <a:schemeClr val="bg1"/>
                </a:solidFill>
              </a:rPr>
              <a:t>Learn FPS from real game benchmarks</a:t>
            </a:r>
            <a:endParaRPr lang="en-US" sz="1500" dirty="0"/>
          </a:p>
          <a:p>
            <a:pPr marL="342900" indent="-342900">
              <a:spcAft>
                <a:spcPts val="800"/>
              </a:spcAft>
              <a:buSzPct val="100000"/>
              <a:buChar char="•"/>
            </a:pPr>
            <a:r>
              <a:rPr lang="en-US" sz="1500" dirty="0">
                <a:solidFill>
                  <a:schemeClr val="bg1"/>
                </a:solidFill>
              </a:rPr>
              <a:t>Budget-based build suggestions</a:t>
            </a:r>
            <a:endParaRPr lang="en-US" sz="1500" dirty="0"/>
          </a:p>
          <a:p>
            <a:pPr marL="342900" indent="-342900">
              <a:spcAft>
                <a:spcPts val="800"/>
              </a:spcAft>
              <a:buSzPct val="100000"/>
              <a:buChar char="•"/>
            </a:pPr>
            <a:r>
              <a:rPr lang="en-US" sz="1500" dirty="0">
                <a:solidFill>
                  <a:schemeClr val="bg1"/>
                </a:solidFill>
              </a:rPr>
              <a:t>Deploy the app online</a:t>
            </a:r>
            <a:endParaRPr lang="en-US" sz="1500" dirty="0"/>
          </a:p>
        </p:txBody>
      </p:sp>
      <p:sp>
        <p:nvSpPr>
          <p:cNvPr id="13" name="Thank you"/>
          <p:cNvSpPr txBox="1"/>
          <p:nvPr/>
        </p:nvSpPr>
        <p:spPr>
          <a:xfrm>
            <a:off x="548640" y="4846320"/>
            <a:ext cx="4572000" cy="685800"/>
          </a:xfrm>
          <a:prstGeom prst="rect">
            <a:avLst/>
          </a:prstGeom>
          <a:noFill/>
          <a:ln/>
        </p:spPr>
        <p:txBody>
          <a:bodyPr wrap="square" lIns="0" tIns="0" rIns="0" bIns="0" rtlCol="0" anchor="t"/>
          <a:lstStyle/>
          <a:p>
            <a:pPr indent="0" marL="0">
              <a:buNone/>
            </a:pPr>
            <a:r>
              <a:rPr lang="en-US" sz="4000" b="1" dirty="0">
                <a:solidFill>
                  <a:schemeClr val="bg1"/>
                </a:solidFill>
              </a:rPr>
              <a:t>Thank you</a:t>
            </a:r>
            <a:endParaRPr lang="en-US" sz="4000" dirty="0"/>
          </a:p>
        </p:txBody>
      </p:sp>
      <p:sp>
        <p:nvSpPr>
          <p:cNvPr id="14" name="Questions"/>
          <p:cNvSpPr txBox="1"/>
          <p:nvPr/>
        </p:nvSpPr>
        <p:spPr>
          <a:xfrm>
            <a:off x="548640" y="5532120"/>
            <a:ext cx="4572000" cy="457200"/>
          </a:xfrm>
          <a:prstGeom prst="rect">
            <a:avLst/>
          </a:prstGeom>
          <a:noFill/>
          <a:ln/>
        </p:spPr>
        <p:txBody>
          <a:bodyPr wrap="square" lIns="0" tIns="0" rIns="0" bIns="0" rtlCol="0" anchor="t"/>
          <a:lstStyle/>
          <a:p>
            <a:pPr indent="0" marL="0">
              <a:buNone/>
            </a:pPr>
            <a:r>
              <a:rPr lang="en-US" sz="2400" dirty="0">
                <a:solidFill>
                  <a:schemeClr val="accent1"/>
                </a:solidFill>
              </a:rPr>
              <a:t>Questions?</a:t>
            </a:r>
            <a:endParaRPr lang="en-US" sz="2400" dirty="0"/>
          </a:p>
        </p:txBody>
      </p:sp>
    </p:spTree>
  </p:cSld>
  <p:clrMapOvr>
    <a:masterClrMapping/>
  </p:clrMapOvr>
</p:sld>
</file>

<file path=ppt/theme/theme1.xml><?xml version="1.0" encoding="utf-8"?>
<a:theme xmlns:a="http://schemas.openxmlformats.org/drawingml/2006/main" name="PC Performance Predictor">
  <a:themeElements>
    <a:clrScheme name="PC Performance Predictor">
      <a:dk1>
        <a:srgbClr val="161A23"/>
      </a:dk1>
      <a:lt1>
        <a:srgbClr val="FFFFFF"/>
      </a:lt1>
      <a:dk2>
        <a:srgbClr val="3A4250"/>
      </a:dk2>
      <a:lt2>
        <a:srgbClr val="F1F3F6"/>
      </a:lt2>
      <a:accent1>
        <a:srgbClr val="FF5A36"/>
      </a:accent1>
      <a:accent2>
        <a:srgbClr val="14B8A6"/>
      </a:accent2>
      <a:accent3>
        <a:srgbClr val="FFB020"/>
      </a:accent3>
      <a:accent4>
        <a:srgbClr val="7C8796"/>
      </a:accent4>
      <a:accent5>
        <a:srgbClr val="6366F1"/>
      </a:accent5>
      <a:accent6>
        <a:srgbClr val="E11D48"/>
      </a:accent6>
      <a:hlink>
        <a:srgbClr val="14B8A6"/>
      </a:hlink>
      <a:folHlink>
        <a:srgbClr val="6366F1"/>
      </a:folHlink>
    </a:clrScheme>
    <a:fontScheme name="PC Performance Predict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 Performance Predictor</dc:title>
  <dc:subject>PptxGenJS Presentation</dc:subject>
  <dc:creator>Team 7</dc:creator>
  <cp:lastModifiedBy>Team 7</cp:lastModifiedBy>
  <cp:revision>1</cp:revision>
  <dcterms:created xsi:type="dcterms:W3CDTF">2026-10-05T06:19:20Z</dcterms:created>
  <dcterms:modified xsi:type="dcterms:W3CDTF">2026-10-05T06:19:20Z</dcterms:modified>
</cp:coreProperties>
</file>